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4706" autoAdjust="0"/>
  </p:normalViewPr>
  <p:slideViewPr>
    <p:cSldViewPr snapToGrid="0">
      <p:cViewPr varScale="1">
        <p:scale>
          <a:sx n="37" d="100"/>
          <a:sy n="37" d="100"/>
        </p:scale>
        <p:origin x="2419"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My project is about formalizing a classical learning-theory result in Lean. The math side is finite hypothesis class learning. The workflow side is an MA-</a:t>
            </a:r>
            <a:r>
              <a:rPr lang="en-US" sz="1200" b="0" i="0" kern="1200" dirty="0" err="1">
                <a:effectLst/>
              </a:rPr>
              <a:t>LoT</a:t>
            </a:r>
            <a:r>
              <a:rPr lang="en-US" sz="1200" b="0" i="0" kern="1200" dirty="0">
                <a:effectLst/>
              </a:rPr>
              <a:t>-inspired proof repair process using Lean feedback and AI-generated proof attempts.</a:t>
            </a:r>
          </a:p>
          <a:p>
            <a:endParaRPr lang="en-US" sz="1200" b="0" i="0" kern="1200" dirty="0">
              <a:effectLst/>
            </a:endParaRPr>
          </a:p>
          <a:p>
            <a:r>
              <a:rPr lang="en-US" sz="1200" b="0" i="0" kern="1200" dirty="0">
                <a:effectLst/>
              </a:rPr>
              <a:t>The main theme is that verification is not the same as understanding. Lean can check that a proof is correct, but a human still needs to understand what the proof means and where the assumptions are.</a:t>
            </a:r>
          </a:p>
          <a:p>
            <a:endParaRPr lang="en-US" sz="1200" b="0" i="0" kern="1200" dirty="0">
              <a:effectLst/>
            </a:endParaRPr>
          </a:p>
          <a:p>
            <a:r>
              <a:rPr lang="en-US" sz="1200" b="0" i="0" kern="1200" dirty="0">
                <a:effectLst/>
              </a:rPr>
              <a:t>Transition: I will start by giving the structure of the talk.</a:t>
            </a:r>
          </a:p>
          <a:p>
            <a:endParaRPr lang="en-US" sz="1200" b="0" i="0" kern="1200" dirty="0">
              <a:effectLst/>
            </a:endParaRPr>
          </a:p>
          <a:p>
            <a:r>
              <a:rPr lang="en-US" sz="1200" b="0" i="1" kern="1200" dirty="0">
                <a:effectLst/>
              </a:rPr>
              <a:t>I formalized the deterministic core of finite-class learning guarantees in Lean 4, stated the realizable and agnostic high-probability guarantees using explicit assumed concentration results, and documented an MA-</a:t>
            </a:r>
            <a:r>
              <a:rPr lang="en-US" sz="1200" b="0" i="1" kern="1200" dirty="0" err="1">
                <a:effectLst/>
              </a:rPr>
              <a:t>LoT</a:t>
            </a:r>
            <a:r>
              <a:rPr lang="en-US" sz="1200" b="0" i="1" kern="1200" dirty="0">
                <a:effectLst/>
              </a:rPr>
              <a:t>-inspired multi-model proof repair workflow.</a:t>
            </a:r>
            <a:endParaRPr lang="en-US" sz="1200" b="0" i="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The talk has five parts. First, I give the background. Second, I explain the math problem and the proof. Third, I explain MA-</a:t>
            </a:r>
            <a:r>
              <a:rPr lang="en-US" sz="1200" b="0" i="0" kern="1200" dirty="0" err="1">
                <a:effectLst/>
              </a:rPr>
              <a:t>LoT</a:t>
            </a:r>
            <a:r>
              <a:rPr lang="en-US" sz="1200" b="0" i="0" kern="1200" dirty="0">
                <a:effectLst/>
              </a:rPr>
              <a:t> and how I adapted it. Fourth, I explain my repository workflow and assumptions. Fifth, I show the project live in VS Code.</a:t>
            </a:r>
          </a:p>
          <a:p>
            <a:endParaRPr lang="en-US" sz="1200" b="0" i="0" kern="1200" dirty="0">
              <a:effectLst/>
            </a:endParaRPr>
          </a:p>
          <a:p>
            <a:r>
              <a:rPr lang="en-US" sz="1200" b="0" i="0" kern="1200" dirty="0">
                <a:effectLst/>
              </a:rPr>
              <a:t>Before getting into Lean, I want to explain why this learning-theory question matters.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In machine learning, we usually train on a finite sample, but we care about future examples. So the central question is: when does good performance on the training data tell us anything about good performance on unseen data?</a:t>
            </a:r>
          </a:p>
          <a:p>
            <a:endParaRPr lang="en-US" sz="1200" b="0" i="0" kern="1200" dirty="0">
              <a:effectLst/>
            </a:endParaRPr>
          </a:p>
          <a:p>
            <a:r>
              <a:rPr lang="en-US" sz="1200" b="0" i="0" kern="1200" dirty="0">
                <a:effectLst/>
              </a:rPr>
              <a:t>This project formalizes one clean answer for the case where the hypothesis class is finite.</a:t>
            </a:r>
          </a:p>
          <a:p>
            <a:endParaRPr lang="en-US" sz="1200" b="0" i="0" kern="1200" dirty="0">
              <a:effectLst/>
            </a:endParaRPr>
          </a:p>
          <a:p>
            <a:r>
              <a:rPr lang="en-US" sz="1200" b="0" i="0" kern="1200" dirty="0">
                <a:effectLst/>
              </a:rPr>
              <a:t>To make that question precise, we need to separate training error from true error.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error is the error we can measure because we have the sample. True error is the error over the unknown distribution, which is what we actually care about.</a:t>
            </a:r>
          </a:p>
          <a:p>
            <a:endParaRPr lang="en-US" dirty="0"/>
          </a:p>
          <a:p>
            <a:r>
              <a:rPr lang="en-US" dirty="0"/>
              <a:t>The danger is overfitting: a hypothesis might do well on the sample but badly on the distribution. Learning guarantees tell us when that danger is controlled.</a:t>
            </a:r>
          </a:p>
          <a:p>
            <a:endParaRPr lang="en-US" dirty="0"/>
          </a:p>
          <a:p>
            <a:r>
              <a:rPr lang="en-US" dirty="0"/>
              <a:t>The reason this project is manageable is that the hypothesis class is finite.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hypothesis class is finite, we can reason about one hypothesis at a time and then combine the bounds across the whole class. This is where the union bound becomes the main proof tool.</a:t>
            </a:r>
          </a:p>
          <a:p>
            <a:endParaRPr lang="en-US" dirty="0"/>
          </a:p>
          <a:p>
            <a:r>
              <a:rPr lang="en-US" dirty="0"/>
              <a:t>Intuitively, the more hypotheses we allow, the more chances there are for one of them to look good by accident.</a:t>
            </a:r>
          </a:p>
          <a:p>
            <a:endParaRPr lang="en-US" dirty="0"/>
          </a:p>
          <a:p>
            <a:r>
              <a:rPr lang="en-US" dirty="0"/>
              <a:t>That leads to the exact goal of the project.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The project has two deliverables. The first is a Lean formalization of the finite-class learning guarantee. The second is a proof-repair and explanation workflow inspired by MA-</a:t>
            </a:r>
            <a:r>
              <a:rPr lang="en-US" sz="1200" b="0" i="0" kern="1200" dirty="0" err="1">
                <a:effectLst/>
              </a:rPr>
              <a:t>LoT</a:t>
            </a:r>
            <a:r>
              <a:rPr lang="en-US" sz="1200" b="0" i="0" kern="1200" dirty="0">
                <a:effectLst/>
              </a:rPr>
              <a:t>.</a:t>
            </a:r>
          </a:p>
          <a:p>
            <a:endParaRPr lang="en-US" sz="1200" b="0" i="0" kern="1200" dirty="0">
              <a:effectLst/>
            </a:endParaRPr>
          </a:p>
          <a:p>
            <a:r>
              <a:rPr lang="en-US" sz="1200" b="0" i="0" kern="1200" dirty="0">
                <a:effectLst/>
              </a:rPr>
              <a:t>The strongest Lean result is the deterministic agnostic ERM theorem. The probability concentration results are stated clearly as assumptions instead of being hidden.</a:t>
            </a:r>
          </a:p>
          <a:p>
            <a:endParaRPr lang="en-US" sz="1200" b="0" i="0" kern="1200" dirty="0">
              <a:effectLst/>
            </a:endParaRPr>
          </a:p>
          <a:p>
            <a:r>
              <a:rPr lang="en-US" sz="1200" b="0" i="0" kern="1200" dirty="0">
                <a:effectLst/>
              </a:rPr>
              <a:t>Now I will define the math objects used in the theorem.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This section is the math foundation. The slide shows the formal notation, but the idea is simple: we have classifiers, data, a distribution, a sample, and two ways to measure error.</a:t>
            </a:r>
          </a:p>
          <a:p>
            <a:endParaRPr lang="en-US" sz="1200" b="0" i="0" kern="1200" dirty="0">
              <a:effectLst/>
            </a:endParaRPr>
          </a:p>
          <a:p>
            <a:r>
              <a:rPr lang="en-US" sz="1200" b="0" i="0" kern="1200" dirty="0">
                <a:effectLst/>
              </a:rPr>
              <a:t>I will start with the setup.</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finite set of possible classifiers, called the hypothesis class. Each classifier takes an input and predicts a binary label.</a:t>
            </a:r>
          </a:p>
          <a:p>
            <a:endParaRPr lang="en-US" dirty="0"/>
          </a:p>
          <a:p>
            <a:r>
              <a:rPr lang="en-US" dirty="0"/>
              <a:t>H is the finite list of classifiers we are allowed to choose from. Each h is one classifier. Each data point has an input and a label. The sample S is m independent training examples.</a:t>
            </a:r>
          </a:p>
          <a:p>
            <a:endParaRPr lang="en-US" dirty="0"/>
          </a:p>
          <a:p>
            <a:r>
              <a:rPr lang="en-US" dirty="0"/>
              <a:t>A data point contains an input and a true label. The sample is a list of independent data points drawn from the unknown distribution.</a:t>
            </a:r>
          </a:p>
          <a:p>
            <a:endParaRPr lang="en-US" dirty="0"/>
          </a:p>
          <a:p>
            <a:r>
              <a:rPr lang="en-US" dirty="0"/>
              <a:t>the true risk of h is the probability that h gives the wrong label on a fresh example from the distribution.</a:t>
            </a:r>
          </a:p>
          <a:p>
            <a:endParaRPr lang="en-US" dirty="0"/>
          </a:p>
          <a:p>
            <a:r>
              <a:rPr lang="en-US" dirty="0"/>
              <a:t>True risk means the probability that a classifier is wrong on a fresh random example. Empirical risk means the fraction of mistakes it makes on the training sample.</a:t>
            </a:r>
          </a:p>
          <a:p>
            <a:endParaRPr lang="en-US" dirty="0"/>
          </a:p>
          <a:p>
            <a:r>
              <a:rPr lang="en-US" dirty="0"/>
              <a:t>the empirical risk of h is the average number of mistakes h makes on the training sample.</a:t>
            </a:r>
          </a:p>
          <a:p>
            <a:endParaRPr lang="en-US" dirty="0"/>
          </a:p>
          <a:p>
            <a:r>
              <a:rPr lang="en-US" dirty="0"/>
              <a:t>ERM, or empirical risk minimization, chooses a classifier with the smallest training error.</a:t>
            </a:r>
          </a:p>
          <a:p>
            <a:endParaRPr lang="en-US" dirty="0"/>
          </a:p>
          <a:p>
            <a:r>
              <a:rPr lang="en-US" dirty="0"/>
              <a:t>h-hat is chosen to be one of the hypotheses in H with minimum empirical risk.</a:t>
            </a:r>
          </a:p>
          <a:p>
            <a:endParaRPr lang="en-US" dirty="0"/>
          </a:p>
          <a:p>
            <a:r>
              <a:rPr lang="en-US" dirty="0"/>
              <a:t>With those definitions in place, we can look at the easier realizable setting first.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realizable setting, we assume the hypothesis class contains a perfect classifier. That means there is some classifier that makes no true mistakes.</a:t>
            </a:r>
          </a:p>
          <a:p>
            <a:endParaRPr lang="en-US" dirty="0"/>
          </a:p>
          <a:p>
            <a:r>
              <a:rPr lang="en-US" dirty="0"/>
              <a:t>there exists a hypothesis h-star in H whose true risk is zero.</a:t>
            </a:r>
          </a:p>
          <a:p>
            <a:endParaRPr lang="en-US" dirty="0"/>
          </a:p>
          <a:p>
            <a:r>
              <a:rPr lang="en-US" dirty="0"/>
              <a:t>If a classifier has zero true error, then it also makes no mistakes on the training sample. Since ERM chooses a classifier with minimum training error, ERM can also achieve zero training error.</a:t>
            </a:r>
          </a:p>
          <a:p>
            <a:endParaRPr lang="en-US" dirty="0"/>
          </a:p>
          <a:p>
            <a:r>
              <a:rPr lang="en-US" dirty="0"/>
              <a:t>Read the ERM consistency line as: because h-star has zero training error and h-hat minimizes training error, h-hat must also have zero training error.</a:t>
            </a:r>
          </a:p>
          <a:p>
            <a:endParaRPr lang="en-US" dirty="0"/>
          </a:p>
          <a:p>
            <a:r>
              <a:rPr lang="en-US" dirty="0"/>
              <a:t>So in the realizable case, ERM returns a classifier that is consistent with the sample.</a:t>
            </a:r>
          </a:p>
          <a:p>
            <a:endParaRPr lang="en-US" dirty="0"/>
          </a:p>
          <a:p>
            <a:r>
              <a:rPr lang="en-US" dirty="0"/>
              <a:t>The proof now asks what could still go wrong.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We call a classifier bad if its true error is larger than our target accuracy level.</a:t>
            </a:r>
          </a:p>
          <a:p>
            <a:endParaRPr lang="en-US" sz="1200" b="0" i="0" kern="1200" dirty="0">
              <a:effectLst/>
            </a:endParaRPr>
          </a:p>
          <a:p>
            <a:r>
              <a:rPr lang="en-US" sz="1200" b="0" i="0" kern="1200" dirty="0">
                <a:effectLst/>
              </a:rPr>
              <a:t>B is the set of hypotheses in H whose true risk is greater than epsilon.</a:t>
            </a:r>
          </a:p>
          <a:p>
            <a:endParaRPr lang="en-US" sz="1200" b="0" i="0" kern="1200" dirty="0">
              <a:effectLst/>
            </a:endParaRPr>
          </a:p>
          <a:p>
            <a:r>
              <a:rPr lang="en-US" sz="1200" b="0" i="0" kern="1200" dirty="0">
                <a:effectLst/>
              </a:rPr>
              <a:t>If ERM fails, that means ERM returned a bad classifier. But ERM is consistent in the realizable case, so this bad classifier must have fit the entire training sample perfectly.</a:t>
            </a:r>
          </a:p>
          <a:p>
            <a:endParaRPr lang="en-US" sz="1200" b="0" i="0" kern="1200" dirty="0">
              <a:effectLst/>
            </a:endParaRPr>
          </a:p>
          <a:p>
            <a:r>
              <a:rPr lang="en-US" sz="1200" b="0" i="0" kern="1200" dirty="0">
                <a:effectLst/>
              </a:rPr>
              <a:t>if the true risk of h-hat is greater than epsilon, then there exists some bad hypothesis that has zero empirical risk on the sample.</a:t>
            </a:r>
          </a:p>
          <a:p>
            <a:endParaRPr lang="en-US" sz="1200" b="0" i="0" kern="1200" dirty="0">
              <a:effectLst/>
            </a:endParaRPr>
          </a:p>
          <a:p>
            <a:r>
              <a:rPr lang="en-US" sz="1200" b="0" i="0" kern="1200" dirty="0">
                <a:effectLst/>
              </a:rPr>
              <a:t>Therefore, the failure event is contained in the event that some bad classifier happens to fit all the training data.</a:t>
            </a:r>
          </a:p>
          <a:p>
            <a:endParaRPr lang="en-US" sz="1200" b="0" i="0" kern="1200" dirty="0">
              <a:effectLst/>
            </a:endParaRPr>
          </a:p>
          <a:p>
            <a:r>
              <a:rPr lang="en-US" sz="1200" b="0" i="0" kern="1200" dirty="0">
                <a:effectLst/>
              </a:rPr>
              <a:t>Next we bound the probability of that happening for one fixed bad classifier.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one bad classifier. Since it is bad, it makes mistakes with probability more than our target error level.</a:t>
            </a:r>
          </a:p>
          <a:p>
            <a:endParaRPr lang="en-US" dirty="0"/>
          </a:p>
          <a:p>
            <a:r>
              <a:rPr lang="en-US" dirty="0"/>
              <a:t>the probability that this bad hypothesis fits the whole sample is the probability that it is correct on all m examples.</a:t>
            </a:r>
          </a:p>
          <a:p>
            <a:endParaRPr lang="en-US" dirty="0"/>
          </a:p>
          <a:p>
            <a:r>
              <a:rPr lang="en-US" dirty="0"/>
              <a:t>So the chance that it is correct on one random example is less than one minus that target error. To fit the entire sample, it has to be correct on every independent example.</a:t>
            </a:r>
          </a:p>
          <a:p>
            <a:endParaRPr lang="en-US" dirty="0"/>
          </a:p>
          <a:p>
            <a:r>
              <a:rPr lang="en-US" dirty="0"/>
              <a:t>because the hypothesis is bad, the probability it fits all m examples is at most e to the negative epsilon times m.</a:t>
            </a:r>
          </a:p>
          <a:p>
            <a:endParaRPr lang="en-US" dirty="0"/>
          </a:p>
          <a:p>
            <a:r>
              <a:rPr lang="en-US" dirty="0"/>
              <a:t>That probability shrinks exponentially with the sample size.</a:t>
            </a:r>
          </a:p>
          <a:p>
            <a:endParaRPr lang="en-US" dirty="0"/>
          </a:p>
          <a:p>
            <a:r>
              <a:rPr lang="en-US" dirty="0"/>
              <a:t>Now we extend that one-classifier bound to the whole hypothesis class.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may be many bad classifiers, so we use the union bound. The chance that any bad classifier fits the sample is at most the sum of the chances for each bad classifier.</a:t>
            </a:r>
          </a:p>
          <a:p>
            <a:endParaRPr lang="en-US" dirty="0"/>
          </a:p>
          <a:p>
            <a:r>
              <a:rPr lang="en-US" dirty="0"/>
              <a:t>the probability that at least one bad hypothesis fits the sample is at most the sum of the probabilities that each individual bad hypothesis fits the sample.</a:t>
            </a:r>
          </a:p>
          <a:p>
            <a:endParaRPr lang="en-US" dirty="0"/>
          </a:p>
          <a:p>
            <a:r>
              <a:rPr lang="en-US" dirty="0"/>
              <a:t>Since the set of bad classifiers is no larger than the whole hypothesis class, the final bound depends on the size of the hypothesis class.</a:t>
            </a:r>
          </a:p>
          <a:p>
            <a:endParaRPr lang="en-US" dirty="0"/>
          </a:p>
          <a:p>
            <a:r>
              <a:rPr lang="en-US" dirty="0"/>
              <a:t>the total failure probability is at most the size of H times e to the negative epsilon times m.</a:t>
            </a:r>
          </a:p>
          <a:p>
            <a:endParaRPr lang="en-US" dirty="0"/>
          </a:p>
          <a:p>
            <a:r>
              <a:rPr lang="en-US" dirty="0"/>
              <a:t>Once we have that bound, we choose the sample size so the failure probability is small enough.</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solves the inequality that makes the failure probability at most delta.</a:t>
            </a:r>
          </a:p>
          <a:p>
            <a:endParaRPr lang="en-US" dirty="0"/>
          </a:p>
          <a:p>
            <a:r>
              <a:rPr lang="en-US" dirty="0"/>
              <a:t>we want the size of H times e to the negative epsilon m to be at most delta.</a:t>
            </a:r>
          </a:p>
          <a:p>
            <a:endParaRPr lang="en-US" dirty="0"/>
          </a:p>
          <a:p>
            <a:r>
              <a:rPr lang="en-US" dirty="0"/>
              <a:t>In words, the sample size needs to grow with the log of the number of hypotheses and the log of one over the failure probability. It also grows like one over the target accuracy level.</a:t>
            </a:r>
          </a:p>
          <a:p>
            <a:endParaRPr lang="en-US" dirty="0"/>
          </a:p>
          <a:p>
            <a:r>
              <a:rPr lang="en-US" dirty="0"/>
              <a:t>m should be at least one over epsilon times log size of H plus log one over delta.</a:t>
            </a:r>
          </a:p>
          <a:p>
            <a:endParaRPr lang="en-US" dirty="0"/>
          </a:p>
          <a:p>
            <a:r>
              <a:rPr lang="en-US" dirty="0"/>
              <a:t>That gives the final realizable learning theorem.</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The final realizable theorem says: if there is a perfect classifier in the finite class, and the sample size is large enough, then with high probability ERM returns a classifier whose true error is at most the target error.</a:t>
            </a:r>
          </a:p>
          <a:p>
            <a:endParaRPr lang="en-US" sz="1200" b="0" i="0" kern="1200" dirty="0">
              <a:effectLst/>
            </a:endParaRPr>
          </a:p>
          <a:p>
            <a:r>
              <a:rPr lang="en-US" sz="1200" b="0" i="0" kern="1200" dirty="0">
                <a:effectLst/>
              </a:rPr>
              <a:t>with probability at least one minus delta, the true risk of h-hat is at most epsilon.</a:t>
            </a:r>
          </a:p>
          <a:p>
            <a:endParaRPr lang="en-US" sz="1200" b="0" i="0" kern="1200" dirty="0">
              <a:effectLst/>
            </a:endParaRPr>
          </a:p>
          <a:p>
            <a:r>
              <a:rPr lang="en-US" sz="1200" b="0" i="0" kern="1200" dirty="0">
                <a:effectLst/>
              </a:rPr>
              <a:t>In my Lean project, the probability bound behind this theorem is stated as an explicit assumed result.</a:t>
            </a:r>
          </a:p>
          <a:p>
            <a:endParaRPr lang="en-US" sz="1200" b="0" i="0" kern="1200" dirty="0">
              <a:effectLst/>
            </a:endParaRPr>
          </a:p>
          <a:p>
            <a:r>
              <a:rPr lang="en-US" sz="1200" b="0" i="0" kern="1200" dirty="0">
                <a:effectLst/>
              </a:rPr>
              <a:t>Now we remove the perfect-classifier assumption and move to the agnostic setting.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In the agnostic setting, the hypothesis class may not contain any perfect classifier. Every classifier might make some mistakes.</a:t>
            </a:r>
          </a:p>
          <a:p>
            <a:endParaRPr lang="en-US" sz="1200" b="0" i="0" kern="1200" dirty="0">
              <a:effectLst/>
            </a:endParaRPr>
          </a:p>
          <a:p>
            <a:r>
              <a:rPr lang="en-US" sz="1200" b="0" i="0" kern="1200" dirty="0">
                <a:effectLst/>
              </a:rPr>
              <a:t>we are no longer assuming there is any hypothesis with zero true risk.</a:t>
            </a:r>
          </a:p>
          <a:p>
            <a:endParaRPr lang="en-US" sz="1200" b="0" i="0" kern="1200" dirty="0">
              <a:effectLst/>
            </a:endParaRPr>
          </a:p>
          <a:p>
            <a:r>
              <a:rPr lang="en-US" sz="1200" b="0" i="0" kern="1200" dirty="0">
                <a:effectLst/>
              </a:rPr>
              <a:t>So instead of comparing ERM to perfection, we compare ERM to the best classifier inside the hypothesis class.</a:t>
            </a:r>
          </a:p>
          <a:p>
            <a:endParaRPr lang="en-US" sz="1200" b="0" i="0" kern="1200" dirty="0">
              <a:effectLst/>
            </a:endParaRPr>
          </a:p>
          <a:p>
            <a:r>
              <a:rPr lang="en-US" sz="1200" b="0" i="0" kern="1200" dirty="0">
                <a:effectLst/>
              </a:rPr>
              <a:t>h-star is a hypothesis in H with the smallest true risk among hypotheses in H.</a:t>
            </a:r>
          </a:p>
          <a:p>
            <a:endParaRPr lang="en-US" sz="1200" b="0" i="0" kern="1200" dirty="0">
              <a:effectLst/>
            </a:endParaRPr>
          </a:p>
          <a:p>
            <a:r>
              <a:rPr lang="en-US" sz="1200" b="0" i="0" kern="1200" dirty="0">
                <a:effectLst/>
              </a:rPr>
              <a:t>The goal is to prove that ERM performs almost as well as that best classifier.</a:t>
            </a:r>
          </a:p>
          <a:p>
            <a:endParaRPr lang="en-US" sz="1200" b="0" i="0" kern="1200" dirty="0">
              <a:effectLst/>
            </a:endParaRPr>
          </a:p>
          <a:p>
            <a:r>
              <a:rPr lang="en-US" sz="1200" b="0" i="0" kern="1200" dirty="0">
                <a:effectLst/>
              </a:rPr>
              <a:t>the true risk of h-hat is at most the true risk of h-star plus two epsilon.</a:t>
            </a:r>
          </a:p>
          <a:p>
            <a:endParaRPr lang="en-US" sz="1200" b="0" i="0" kern="1200" dirty="0">
              <a:effectLst/>
            </a:endParaRPr>
          </a:p>
          <a:p>
            <a:r>
              <a:rPr lang="en-US" sz="1200" b="0" i="0" kern="1200" dirty="0">
                <a:effectLst/>
              </a:rPr>
              <a:t>The key condition that makes this work is uniform convergence.</a:t>
            </a:r>
          </a:p>
          <a:p>
            <a:endParaRPr lang="en-US" sz="1200" b="0" i="0" kern="1200" dirty="0">
              <a:effectLst/>
            </a:endParaRPr>
          </a:p>
          <a:p>
            <a:endParaRPr lang="en-US" sz="1200" b="0" i="0" kern="1200" dirty="0">
              <a:effectLst/>
            </a:endParaRPr>
          </a:p>
          <a:p>
            <a:endParaRPr lang="en-US" sz="1200" b="0" i="0" kern="1200" dirty="0">
              <a:effectLst/>
            </a:endParaRPr>
          </a:p>
          <a:p>
            <a:r>
              <a:rPr lang="en-US" sz="1200" b="0" i="0" kern="1200" dirty="0">
                <a:effectLst/>
              </a:rPr>
              <a:t>If asked “The 2 epsilon comes from using the uniform convergence bound twice in the agnostic proof.</a:t>
            </a:r>
          </a:p>
          <a:p>
            <a:r>
              <a:rPr lang="en-US" sz="1200" b="0" i="0" kern="1200" dirty="0">
                <a:effectLst/>
              </a:rPr>
              <a:t>In the agnostic setting, we assume empirical risk and true risk are close for every hypothesis. That gives:</a:t>
            </a:r>
          </a:p>
          <a:p>
            <a:r>
              <a:rPr lang="en-US" sz="1200" b="0" i="0" kern="1200" dirty="0">
                <a:effectLst/>
              </a:rPr>
              <a:t>For </a:t>
            </a:r>
            <a:r>
              <a:rPr lang="en-US" sz="1200" b="0" i="0" kern="1200" dirty="0" err="1">
                <a:effectLst/>
              </a:rPr>
              <a:t>h_hat</a:t>
            </a:r>
            <a:r>
              <a:rPr lang="en-US" sz="1200" b="0" i="0" kern="1200" dirty="0">
                <a:effectLst/>
              </a:rPr>
              <a:t>:</a:t>
            </a:r>
            <a:br>
              <a:rPr lang="en-US" sz="1200" b="0" i="0" kern="1200" dirty="0">
                <a:effectLst/>
              </a:rPr>
            </a:br>
            <a:r>
              <a:rPr lang="en-US" sz="1200" b="0" i="0" kern="1200" dirty="0">
                <a:effectLst/>
              </a:rPr>
              <a:t>“The true risk of h-hat is at most its empirical risk plus epsilon.”</a:t>
            </a:r>
          </a:p>
          <a:p>
            <a:r>
              <a:rPr lang="en-US" sz="1200" b="0" i="0" kern="1200" dirty="0">
                <a:effectLst/>
              </a:rPr>
              <a:t>ERM step:</a:t>
            </a:r>
            <a:br>
              <a:rPr lang="en-US" sz="1200" b="0" i="0" kern="1200" dirty="0">
                <a:effectLst/>
              </a:rPr>
            </a:br>
            <a:r>
              <a:rPr lang="en-US" sz="1200" b="0" i="0" kern="1200" dirty="0">
                <a:effectLst/>
              </a:rPr>
              <a:t>“The empirical risk of h-hat is at most the empirical risk of h-star.”</a:t>
            </a:r>
          </a:p>
          <a:p>
            <a:r>
              <a:rPr lang="en-US" sz="1200" b="0" i="0" kern="1200" dirty="0">
                <a:effectLst/>
              </a:rPr>
              <a:t>For </a:t>
            </a:r>
            <a:r>
              <a:rPr lang="en-US" sz="1200" b="0" i="0" kern="1200" dirty="0" err="1">
                <a:effectLst/>
              </a:rPr>
              <a:t>h_star</a:t>
            </a:r>
            <a:r>
              <a:rPr lang="en-US" sz="1200" b="0" i="0" kern="1200" dirty="0">
                <a:effectLst/>
              </a:rPr>
              <a:t>:</a:t>
            </a:r>
            <a:br>
              <a:rPr lang="en-US" sz="1200" b="0" i="0" kern="1200" dirty="0">
                <a:effectLst/>
              </a:rPr>
            </a:br>
            <a:r>
              <a:rPr lang="en-US" sz="1200" b="0" i="0" kern="1200" dirty="0">
                <a:effectLst/>
              </a:rPr>
              <a:t>“The empirical risk of h-star is at most its true risk plus epsilon.”</a:t>
            </a:r>
          </a:p>
          <a:p>
            <a:r>
              <a:rPr lang="en-US" sz="1200" b="0" i="0" kern="1200" dirty="0">
                <a:effectLst/>
              </a:rPr>
              <a:t>So we pay one epsilon when moving from true risk of </a:t>
            </a:r>
            <a:r>
              <a:rPr lang="en-US" sz="1200" b="0" i="0" kern="1200" dirty="0" err="1">
                <a:effectLst/>
              </a:rPr>
              <a:t>h_hat</a:t>
            </a:r>
            <a:r>
              <a:rPr lang="en-US" sz="1200" b="0" i="0" kern="1200" dirty="0">
                <a:effectLst/>
              </a:rPr>
              <a:t> to empirical risk of </a:t>
            </a:r>
            <a:r>
              <a:rPr lang="en-US" sz="1200" b="0" i="0" kern="1200" dirty="0" err="1">
                <a:effectLst/>
              </a:rPr>
              <a:t>h_hat</a:t>
            </a:r>
            <a:r>
              <a:rPr lang="en-US" sz="1200" b="0" i="0" kern="1200" dirty="0">
                <a:effectLst/>
              </a:rPr>
              <a:t>, and another epsilon when moving from empirical risk of </a:t>
            </a:r>
            <a:r>
              <a:rPr lang="en-US" sz="1200" b="0" i="0" kern="1200" dirty="0" err="1">
                <a:effectLst/>
              </a:rPr>
              <a:t>h_star</a:t>
            </a:r>
            <a:r>
              <a:rPr lang="en-US" sz="1200" b="0" i="0" kern="1200" dirty="0">
                <a:effectLst/>
              </a:rPr>
              <a:t> back to true risk of </a:t>
            </a:r>
            <a:r>
              <a:rPr lang="en-US" sz="1200" b="0" i="0" kern="1200" dirty="0" err="1">
                <a:effectLst/>
              </a:rPr>
              <a:t>h_star</a:t>
            </a:r>
            <a:r>
              <a:rPr lang="en-US" sz="1200" b="0" i="0" kern="1200">
                <a:effectLst/>
              </a:rPr>
              <a:t>.</a:t>
            </a:r>
          </a:p>
          <a:p>
            <a:r>
              <a:rPr lang="en-US" sz="1200" b="0" i="0" kern="1200">
                <a:effectLst/>
              </a:rPr>
              <a:t>”</a:t>
            </a:r>
            <a:endParaRPr lang="en-US" sz="1200" b="0" i="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Uniform convergence means that for every classifier in the class, its training error is close to its true error.</a:t>
            </a:r>
          </a:p>
          <a:p>
            <a:endParaRPr lang="en-US" sz="1200" b="0" i="0" kern="1200" dirty="0">
              <a:effectLst/>
            </a:endParaRPr>
          </a:p>
          <a:p>
            <a:r>
              <a:rPr lang="en-US" sz="1200" b="0" i="0" kern="1200" dirty="0">
                <a:effectLst/>
              </a:rPr>
              <a:t>for every hypothesis h, the difference between true risk and empirical risk is at most epsilon.</a:t>
            </a:r>
          </a:p>
          <a:p>
            <a:endParaRPr lang="en-US" sz="1200" b="0" i="0" kern="1200" dirty="0">
              <a:effectLst/>
            </a:endParaRPr>
          </a:p>
          <a:p>
            <a:r>
              <a:rPr lang="en-US" sz="1200" b="0" i="0" kern="1200" dirty="0">
                <a:effectLst/>
              </a:rPr>
              <a:t>This gives us two useful directions. True error can be bounded by training error plus a small amount, and training error can be bounded by true error plus a small amount.</a:t>
            </a:r>
          </a:p>
          <a:p>
            <a:endParaRPr lang="en-US" sz="1200" b="0" i="0" kern="1200" dirty="0">
              <a:effectLst/>
            </a:endParaRPr>
          </a:p>
          <a:p>
            <a:r>
              <a:rPr lang="en-US" sz="1200" b="0" i="0" kern="1200" dirty="0">
                <a:effectLst/>
              </a:rPr>
              <a:t>true risk is at most empirical risk plus epsilon, and empirical risk is at most true risk plus epsilon.</a:t>
            </a:r>
          </a:p>
          <a:p>
            <a:endParaRPr lang="en-US" sz="1200" b="0" i="0" kern="1200" dirty="0">
              <a:effectLst/>
            </a:endParaRPr>
          </a:p>
          <a:p>
            <a:r>
              <a:rPr lang="en-US" sz="1200" b="0" i="0" kern="1200" dirty="0">
                <a:effectLst/>
              </a:rPr>
              <a:t>We also use the ERM property: the classifier chosen by ERM has training error no larger than the training error of the comparison classifier.</a:t>
            </a:r>
          </a:p>
          <a:p>
            <a:endParaRPr lang="en-US" sz="1200" b="0" i="0" kern="1200" dirty="0">
              <a:effectLst/>
            </a:endParaRPr>
          </a:p>
          <a:p>
            <a:r>
              <a:rPr lang="en-US" sz="1200" b="0" i="0" kern="1200" dirty="0">
                <a:effectLst/>
              </a:rPr>
              <a:t>the empirical risk of h-hat is at most the empirical risk of h-star.</a:t>
            </a:r>
          </a:p>
          <a:p>
            <a:endParaRPr lang="en-US" sz="1200" b="0" i="0" kern="1200" dirty="0">
              <a:effectLst/>
            </a:endParaRPr>
          </a:p>
          <a:p>
            <a:r>
              <a:rPr lang="en-US" sz="1200" b="0" i="0" kern="1200" dirty="0">
                <a:effectLst/>
              </a:rPr>
              <a:t>Now we combine these facts into the deterministic agnostic proof.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proof that I fully formalized in Lean.</a:t>
            </a:r>
          </a:p>
          <a:p>
            <a:endParaRPr lang="en-US" dirty="0"/>
          </a:p>
          <a:p>
            <a:r>
              <a:rPr lang="en-US" dirty="0"/>
              <a:t>the true risk of h-hat is at most the empirical risk of h-hat plus epsilon.</a:t>
            </a:r>
          </a:p>
          <a:p>
            <a:endParaRPr lang="en-US" dirty="0"/>
          </a:p>
          <a:p>
            <a:r>
              <a:rPr lang="en-US" dirty="0"/>
              <a:t>Start with the true error of the ERM classifier. By uniform convergence, this is at most its training error plus a small amount.</a:t>
            </a:r>
          </a:p>
          <a:p>
            <a:endParaRPr lang="en-US" dirty="0"/>
          </a:p>
          <a:p>
            <a:r>
              <a:rPr lang="en-US" dirty="0"/>
              <a:t>the empirical risk of h-hat is at most the empirical risk of h-star, because h-hat is ERM.</a:t>
            </a:r>
          </a:p>
          <a:p>
            <a:endParaRPr lang="en-US" dirty="0"/>
          </a:p>
          <a:p>
            <a:r>
              <a:rPr lang="en-US" dirty="0"/>
              <a:t>Because ERM minimizes training error, its training error is at most the training error of the best comparison classifier.</a:t>
            </a:r>
          </a:p>
          <a:p>
            <a:endParaRPr lang="en-US" dirty="0"/>
          </a:p>
          <a:p>
            <a:r>
              <a:rPr lang="en-US" dirty="0"/>
              <a:t>the empirical risk of h-star is at most the true risk of h-star plus epsilon.</a:t>
            </a:r>
          </a:p>
          <a:p>
            <a:endParaRPr lang="en-US" dirty="0"/>
          </a:p>
          <a:p>
            <a:r>
              <a:rPr lang="en-US" dirty="0"/>
              <a:t>By uniform convergence again, the comparison classifier's training error is at most its true error plus a small amount.</a:t>
            </a:r>
          </a:p>
          <a:p>
            <a:endParaRPr lang="en-US" dirty="0"/>
          </a:p>
          <a:p>
            <a:r>
              <a:rPr lang="en-US" dirty="0"/>
              <a:t>putting the inequalities together, the true risk of h-hat is at most the true risk of h-star plus two epsilon.</a:t>
            </a:r>
          </a:p>
          <a:p>
            <a:endParaRPr lang="en-US" dirty="0"/>
          </a:p>
          <a:p>
            <a:r>
              <a:rPr lang="en-US" dirty="0"/>
              <a:t>Combining the two small error terms, ERM's true error is at most the best classifier's true error plus twice the tolerance.</a:t>
            </a:r>
          </a:p>
          <a:p>
            <a:endParaRPr lang="en-US" dirty="0"/>
          </a:p>
          <a:p>
            <a:r>
              <a:rPr lang="en-US" dirty="0"/>
              <a:t>That proof is deterministic. To get a high-probability theorem, we need concentration.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one fixed classifier, empirical risk is an average of independent mistake indicators. </a:t>
            </a:r>
            <a:r>
              <a:rPr lang="en-US" dirty="0" err="1"/>
              <a:t>Hoeffding's</a:t>
            </a:r>
            <a:r>
              <a:rPr lang="en-US" dirty="0"/>
              <a:t> inequality tells us that this average is close to its expectation with high probability.</a:t>
            </a:r>
          </a:p>
          <a:p>
            <a:endParaRPr lang="en-US" dirty="0"/>
          </a:p>
          <a:p>
            <a:r>
              <a:rPr lang="en-US" dirty="0"/>
              <a:t>for a fixed h, the probability that empirical risk and true risk differ by more than epsilon is at most two times e to the negative two m epsilon squared.</a:t>
            </a:r>
          </a:p>
          <a:p>
            <a:endParaRPr lang="en-US" dirty="0"/>
          </a:p>
          <a:p>
            <a:r>
              <a:rPr lang="en-US" dirty="0"/>
              <a:t>In this setting, the expectation is the true risk.</a:t>
            </a:r>
          </a:p>
          <a:p>
            <a:endParaRPr lang="en-US" dirty="0"/>
          </a:p>
          <a:p>
            <a:r>
              <a:rPr lang="en-US" dirty="0"/>
              <a:t>But we need the statement to hold for every classifier, not just one.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hypothesis class is finite, we use the union bound again. We apply the fixed-classifier concentration result to every classifier in the class.</a:t>
            </a:r>
          </a:p>
          <a:p>
            <a:endParaRPr lang="en-US" dirty="0"/>
          </a:p>
          <a:p>
            <a:r>
              <a:rPr lang="en-US" dirty="0"/>
              <a:t>there exists some h in H whose empirical risk and true risk differ by more than epsilon.</a:t>
            </a:r>
          </a:p>
          <a:p>
            <a:endParaRPr lang="en-US" dirty="0"/>
          </a:p>
          <a:p>
            <a:r>
              <a:rPr lang="en-US" dirty="0"/>
              <a:t>This gives a high-probability uniform convergence guarantee over the whole class.</a:t>
            </a:r>
          </a:p>
          <a:p>
            <a:endParaRPr lang="en-US" dirty="0"/>
          </a:p>
          <a:p>
            <a:r>
              <a:rPr lang="en-US" dirty="0"/>
              <a:t>the probability that uniform convergence fails is at most two times the size of H times e to the negative two m epsilon squared.</a:t>
            </a:r>
          </a:p>
          <a:p>
            <a:endParaRPr lang="en-US" dirty="0"/>
          </a:p>
          <a:p>
            <a:r>
              <a:rPr lang="en-US" dirty="0"/>
              <a:t>Then we solve the sample-size condition for the agnostic case.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size now depends on one over the accuracy level squared. That square comes from </a:t>
            </a:r>
            <a:r>
              <a:rPr lang="en-US" dirty="0" err="1"/>
              <a:t>Hoeffding's</a:t>
            </a:r>
            <a:r>
              <a:rPr lang="en-US" dirty="0"/>
              <a:t> inequality.</a:t>
            </a:r>
          </a:p>
          <a:p>
            <a:endParaRPr lang="en-US" dirty="0"/>
          </a:p>
          <a:p>
            <a:r>
              <a:rPr lang="en-US" dirty="0"/>
              <a:t>m should be at least one over two epsilon squared times log of two times the size of H divided by delta.</a:t>
            </a:r>
          </a:p>
          <a:p>
            <a:endParaRPr lang="en-US" dirty="0"/>
          </a:p>
          <a:p>
            <a:r>
              <a:rPr lang="en-US" dirty="0"/>
              <a:t>This is the main reason the agnostic setting has a worse rate than the realizable setting.</a:t>
            </a:r>
          </a:p>
          <a:p>
            <a:endParaRPr lang="en-US" dirty="0"/>
          </a:p>
          <a:p>
            <a:r>
              <a:rPr lang="en-US" dirty="0"/>
              <a:t>Combining uniform convergence with the deterministic lemma gives the final agnostic theorem.</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agnostic theorem says that, with high probability, ERM performs within twice the tolerance of the best classifier in the hypothesis class.</a:t>
            </a:r>
          </a:p>
          <a:p>
            <a:endParaRPr lang="en-US" dirty="0"/>
          </a:p>
          <a:p>
            <a:r>
              <a:rPr lang="en-US" dirty="0"/>
              <a:t>with probability at least one minus delta, the true risk of h-hat is at most the minimum true risk over H plus two epsilon.</a:t>
            </a:r>
          </a:p>
          <a:p>
            <a:endParaRPr lang="en-US" dirty="0"/>
          </a:p>
          <a:p>
            <a:r>
              <a:rPr lang="en-US" dirty="0"/>
              <a:t>In the Lean formalization, the deterministic part of this implication is fully proved. The concentration result that gives uniform convergence is stated as an explicit assumption.</a:t>
            </a:r>
          </a:p>
          <a:p>
            <a:endParaRPr lang="en-US" dirty="0"/>
          </a:p>
          <a:p>
            <a:r>
              <a:rPr lang="en-US" dirty="0"/>
              <a:t>Now we can directly compare the two rates.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realizable case, we only need to rule out bad classifiers that fit the sample perfectly. That probability decays faster in the target error level, so the rate uses one over epsilon.</a:t>
            </a:r>
          </a:p>
          <a:p>
            <a:endParaRPr lang="en-US" dirty="0"/>
          </a:p>
          <a:p>
            <a:r>
              <a:rPr lang="en-US" dirty="0"/>
              <a:t>the sample complexity grows like log size of H plus log one over delta, divided by epsilon.</a:t>
            </a:r>
          </a:p>
          <a:p>
            <a:endParaRPr lang="en-US" dirty="0"/>
          </a:p>
          <a:p>
            <a:r>
              <a:rPr lang="en-US" dirty="0"/>
              <a:t>In the agnostic case, we need empirical and true risks to be close for all classifiers. That relies on concentration of averages, so the rate uses one over epsilon squared.</a:t>
            </a:r>
          </a:p>
          <a:p>
            <a:endParaRPr lang="en-US" dirty="0"/>
          </a:p>
          <a:p>
            <a:r>
              <a:rPr lang="en-US" dirty="0"/>
              <a:t>the sample complexity grows like log size of H plus log one over delta, divided by epsilon squared.</a:t>
            </a:r>
          </a:p>
          <a:p>
            <a:endParaRPr lang="en-US" dirty="0"/>
          </a:p>
          <a:p>
            <a:r>
              <a:rPr lang="en-US" dirty="0"/>
              <a:t>This comparison tells us exactly what the Lean project should prove and what it should assume.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Lean target is intentionally scoped. I prove the deterministic agnostic ERM theorem, because that is the core learning-theory reasoning.</a:t>
            </a:r>
          </a:p>
          <a:p>
            <a:endParaRPr lang="en-US" dirty="0"/>
          </a:p>
          <a:p>
            <a:r>
              <a:rPr lang="en-US" dirty="0"/>
              <a:t>I state the probability-heavy concentration results separately in the assumed-results file. This keeps the project honest and complete within the course timeline.</a:t>
            </a:r>
          </a:p>
          <a:p>
            <a:endParaRPr lang="en-US" dirty="0"/>
          </a:p>
          <a:p>
            <a:r>
              <a:rPr lang="en-US" dirty="0"/>
              <a:t>Now I will explain the proof-repair workflow layer.</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a:t>
            </a:r>
            <a:r>
              <a:rPr lang="en-US" dirty="0" err="1"/>
              <a:t>LoT</a:t>
            </a:r>
            <a:r>
              <a:rPr lang="en-US" dirty="0"/>
              <a:t> is relevant because it studies Lean theorem proving with natural-language reasoning, verification, and repair.</a:t>
            </a:r>
          </a:p>
          <a:p>
            <a:endParaRPr lang="en-US" dirty="0"/>
          </a:p>
          <a:p>
            <a:r>
              <a:rPr lang="en-US" dirty="0"/>
              <a:t>My project borrows that workflow idea and applies it to this learning-theory formalization.</a:t>
            </a:r>
          </a:p>
          <a:p>
            <a:endParaRPr lang="en-US" dirty="0"/>
          </a:p>
          <a:p>
            <a:r>
              <a:rPr lang="en-US" dirty="0"/>
              <a:t>Here is the loop I adapted.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The workflow starts from a paper proof or theorem prompt. Then an AI model generates a Lean proof attempt. Lean checks it. If it fails, the compiler feedback becomes the repair signal. After repair, the final proof is verified and then explained in human language.</a:t>
            </a:r>
          </a:p>
          <a:p>
            <a:endParaRPr lang="en-US" sz="1200" b="0" i="0" kern="1200" dirty="0">
              <a:effectLst/>
            </a:endParaRPr>
          </a:p>
          <a:p>
            <a:r>
              <a:rPr lang="en-US" sz="1200" b="0" i="1" kern="1200" dirty="0">
                <a:effectLst/>
              </a:rPr>
              <a:t>MA-</a:t>
            </a:r>
            <a:r>
              <a:rPr lang="en-US" sz="1200" b="0" i="1" kern="1200" dirty="0" err="1">
                <a:effectLst/>
              </a:rPr>
              <a:t>LoT’s</a:t>
            </a:r>
            <a:r>
              <a:rPr lang="en-US" sz="1200" b="0" i="1" kern="1200" dirty="0">
                <a:effectLst/>
              </a:rPr>
              <a:t> key idea is that the LLM is not trusted by itself; its proof attempt is checked by Lean, and verifier feedback is used to guide repair.</a:t>
            </a:r>
            <a:endParaRPr lang="en-US" sz="1200" b="0" i="0" kern="1200" dirty="0">
              <a:effectLst/>
            </a:endParaRPr>
          </a:p>
          <a:p>
            <a:endParaRPr lang="en-US" sz="1200" b="0" i="0" kern="1200" dirty="0">
              <a:effectLst/>
            </a:endParaRPr>
          </a:p>
          <a:p>
            <a:r>
              <a:rPr lang="en-US" sz="1200" b="0" i="0" kern="1200" dirty="0">
                <a:effectLst/>
              </a:rPr>
              <a:t>I want to be careful about what I did and did not implement.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I did not implement the full MA-</a:t>
            </a:r>
            <a:r>
              <a:rPr lang="en-US" sz="1200" b="0" i="0" kern="1200" dirty="0" err="1">
                <a:effectLst/>
              </a:rPr>
              <a:t>LoT</a:t>
            </a:r>
            <a:r>
              <a:rPr lang="en-US" sz="1200" b="0" i="0" kern="1200" dirty="0">
                <a:effectLst/>
              </a:rPr>
              <a:t> system. My project is MA-</a:t>
            </a:r>
            <a:r>
              <a:rPr lang="en-US" sz="1200" b="0" i="0" kern="1200" dirty="0" err="1">
                <a:effectLst/>
              </a:rPr>
              <a:t>LoT</a:t>
            </a:r>
            <a:r>
              <a:rPr lang="en-US" sz="1200" b="0" i="0" kern="1200" dirty="0">
                <a:effectLst/>
              </a:rPr>
              <a:t>-inspired.</a:t>
            </a:r>
          </a:p>
          <a:p>
            <a:endParaRPr lang="en-US" sz="1200" b="0" i="0" kern="1200" dirty="0">
              <a:effectLst/>
            </a:endParaRPr>
          </a:p>
          <a:p>
            <a:r>
              <a:rPr lang="en-US" sz="1200" b="0" i="0" kern="1200" dirty="0">
                <a:effectLst/>
              </a:rPr>
              <a:t>The adapted version focuses on blind proof generation, Lean verification, repair logs, comparison between models, and human-readable explanation.</a:t>
            </a:r>
          </a:p>
          <a:p>
            <a:endParaRPr lang="en-US" sz="1200" b="0" i="0" kern="1200" dirty="0">
              <a:effectLst/>
            </a:endParaRPr>
          </a:p>
          <a:p>
            <a:r>
              <a:rPr lang="en-US" sz="1200" b="0" i="0" kern="1200" dirty="0">
                <a:effectLst/>
              </a:rPr>
              <a:t>The blind generation step is important because it avoids simply copying my final proof.</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and Claude receive the same theorem prompt. Their outputs are saved separately. Then the Lean verifier checks whether each generated proof compiles.</a:t>
            </a:r>
          </a:p>
          <a:p>
            <a:endParaRPr lang="en-US" dirty="0"/>
          </a:p>
          <a:p>
            <a:r>
              <a:rPr lang="en-US" dirty="0"/>
              <a:t>This makes the workflow closer to an experiment: same prompt, different model attempts, same verifier.</a:t>
            </a:r>
          </a:p>
          <a:p>
            <a:endParaRPr lang="en-US" dirty="0"/>
          </a:p>
          <a:p>
            <a:r>
              <a:rPr lang="en-US" dirty="0"/>
              <a:t>The useful part is not only whether the models succeed, but how they fail.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Failed proof attempts reveal hidden assumptions and weak spots in the theorem statement. For example, a model may forget an optimality assumption, use a nonexistent lemma, or skip an arithmetic step.</a:t>
            </a:r>
          </a:p>
          <a:p>
            <a:endParaRPr lang="en-US" dirty="0"/>
          </a:p>
          <a:p>
            <a:r>
              <a:rPr lang="en-US" dirty="0"/>
              <a:t>Lean turns those vague issues into exact errors, and those errors guide the repair.</a:t>
            </a:r>
          </a:p>
          <a:p>
            <a:endParaRPr lang="en-US" dirty="0"/>
          </a:p>
          <a:p>
            <a:r>
              <a:rPr lang="en-US" dirty="0"/>
              <a:t>Next I will show how the repository is organized around that workflow.</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explains what is in the project, what each file means, and how the assumptions are separated from the fully proved result.</a:t>
            </a:r>
          </a:p>
          <a:p>
            <a:endParaRPr lang="en-US" dirty="0"/>
          </a:p>
          <a:p>
            <a:r>
              <a:rPr lang="en-US" dirty="0"/>
              <a:t>I will start with the Lean file map.</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Lean files are separated by role. Basic definitions are in one file. Assumed probability results are in another. The realizable theorem wrapper is separate from the agnostic theorem. The main theorem file imports the complete formalization.</a:t>
            </a:r>
          </a:p>
          <a:p>
            <a:endParaRPr lang="en-US" dirty="0"/>
          </a:p>
          <a:p>
            <a:r>
              <a:rPr lang="en-US" dirty="0"/>
              <a:t>This separation makes it clear which setting is being discussed and which results are proved versus assumed.</a:t>
            </a:r>
          </a:p>
          <a:p>
            <a:endParaRPr lang="en-US" dirty="0"/>
          </a:p>
          <a:p>
            <a:r>
              <a:rPr lang="en-US" dirty="0"/>
              <a:t>Now I will describe the core definitions.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Lean definitions are abstract on purpose. True risk and empirical risk are functions. Uniform convergence is a condition saying those functions are close. ERM is represented as a minimization assumption over empirical risk.</a:t>
            </a:r>
          </a:p>
          <a:p>
            <a:endParaRPr lang="en-US" dirty="0"/>
          </a:p>
          <a:p>
            <a:r>
              <a:rPr lang="en-US" dirty="0"/>
              <a:t>This lets the project focus on the proof structure instead of rebuilding probability theory.</a:t>
            </a:r>
          </a:p>
          <a:p>
            <a:endParaRPr lang="en-US" dirty="0"/>
          </a:p>
          <a:p>
            <a:r>
              <a:rPr lang="en-US" dirty="0"/>
              <a:t>That brings us to the proof boundary.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fully proved part is the deterministic agnostic theorem. The scoped-out parts are </a:t>
            </a:r>
            <a:r>
              <a:rPr lang="en-US" dirty="0" err="1"/>
              <a:t>Hoeffding</a:t>
            </a:r>
            <a:r>
              <a:rPr lang="en-US" dirty="0"/>
              <a:t>, finite-class concentration, and the probability wrappers.</a:t>
            </a:r>
          </a:p>
          <a:p>
            <a:endParaRPr lang="en-US" dirty="0"/>
          </a:p>
          <a:p>
            <a:r>
              <a:rPr lang="en-US" dirty="0"/>
              <a:t>These assumptions are not hidden; they are named in the Lean code and explained in the README and notes.</a:t>
            </a:r>
          </a:p>
          <a:p>
            <a:endParaRPr lang="en-US" dirty="0"/>
          </a:p>
          <a:p>
            <a:r>
              <a:rPr lang="en-US" dirty="0"/>
              <a:t>The project also includes explanation artifacts so the proof is understandable.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annotated proof walkthrough explains Lean code line by line in human terms. The paper-versus-Lean table shows what informal proofs hide. The dependency graph shows which theorem uses which definitions and assumptions.</a:t>
            </a:r>
          </a:p>
          <a:p>
            <a:endParaRPr lang="en-US" dirty="0"/>
          </a:p>
          <a:p>
            <a:r>
              <a:rPr lang="en-US" dirty="0"/>
              <a:t>This is where the theme comes back: verification checks correctness, but explanation supports understanding.</a:t>
            </a:r>
          </a:p>
          <a:p>
            <a:endParaRPr lang="en-US" dirty="0"/>
          </a:p>
          <a:p>
            <a:r>
              <a:rPr lang="en-US" dirty="0"/>
              <a:t>Now I will switch to the live VS Code demo.</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In the demo, I will show the verified theorem, run the Lean build, run the comparison script, and open the generated comparison and repair files.</a:t>
            </a:r>
          </a:p>
          <a:p>
            <a:endParaRPr lang="en-US" sz="1200" b="0" i="0" kern="1200" dirty="0">
              <a:effectLst/>
            </a:endParaRPr>
          </a:p>
          <a:p>
            <a:r>
              <a:rPr lang="en-US" sz="1200" b="0" i="0" kern="1200" dirty="0">
                <a:effectLst/>
              </a:rPr>
              <a:t>First, I will open the strongest Lean theorem.</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Do: Open </a:t>
            </a:r>
            <a:r>
              <a:rPr lang="en-US" sz="1200" b="0" i="0" kern="1200" dirty="0" err="1">
                <a:effectLst/>
              </a:rPr>
              <a:t>LearningTheoryProject</a:t>
            </a:r>
            <a:r>
              <a:rPr lang="en-US" sz="1200" b="0" i="0" kern="1200" dirty="0">
                <a:effectLst/>
              </a:rPr>
              <a:t>/</a:t>
            </a:r>
            <a:r>
              <a:rPr lang="en-US" sz="1200" b="0" i="0" kern="1200" dirty="0" err="1">
                <a:effectLst/>
              </a:rPr>
              <a:t>Agnostic.lean</a:t>
            </a:r>
            <a:r>
              <a:rPr lang="en-US" sz="1200" b="0" i="0" kern="1200" dirty="0">
                <a:effectLst/>
              </a:rPr>
              <a:t>.</a:t>
            </a:r>
          </a:p>
          <a:p>
            <a:endParaRPr lang="en-US" sz="1200" b="0" i="0" kern="1200" dirty="0">
              <a:effectLst/>
            </a:endParaRPr>
          </a:p>
          <a:p>
            <a:r>
              <a:rPr lang="en-US" sz="1200" b="0" i="0" kern="1200" dirty="0">
                <a:effectLst/>
              </a:rPr>
              <a:t>This is the main fully verified theorem. It proves that under uniform convergence and the ERM assumption, the ERM classifier performs almost as well as the best classifier in the class.</a:t>
            </a:r>
          </a:p>
          <a:p>
            <a:endParaRPr lang="en-US" sz="1200" b="0" i="0" kern="1200" dirty="0">
              <a:effectLst/>
            </a:endParaRPr>
          </a:p>
          <a:p>
            <a:r>
              <a:rPr lang="en-US" sz="1200" b="0" i="0" kern="1200" dirty="0">
                <a:effectLst/>
              </a:rPr>
              <a:t>If I click inside the proof, Lean </a:t>
            </a:r>
            <a:r>
              <a:rPr lang="en-US" sz="1200" b="0" i="0" kern="1200" dirty="0" err="1">
                <a:effectLst/>
              </a:rPr>
              <a:t>InfoView</a:t>
            </a:r>
            <a:r>
              <a:rPr lang="en-US" sz="1200" b="0" i="0" kern="1200" dirty="0">
                <a:effectLst/>
              </a:rPr>
              <a:t> shows the current hypotheses and goals. That shows Lean is actively checking the proof, not just displaying text.</a:t>
            </a:r>
          </a:p>
          <a:p>
            <a:endParaRPr lang="en-US" sz="1200" b="0" i="0" kern="1200" dirty="0">
              <a:effectLst/>
            </a:endParaRPr>
          </a:p>
          <a:p>
            <a:r>
              <a:rPr lang="en-US" sz="1200" b="0" i="0" kern="1200" dirty="0">
                <a:effectLst/>
              </a:rPr>
              <a:t>Transition: Next I will verify the whole project, not just this file.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In the VS Code terminal, run:</a:t>
            </a:r>
          </a:p>
          <a:p>
            <a:endParaRPr lang="en-US" dirty="0"/>
          </a:p>
          <a:p>
            <a:r>
              <a:rPr lang="en-US" dirty="0"/>
              <a:t>lake build</a:t>
            </a:r>
          </a:p>
          <a:p>
            <a:endParaRPr lang="en-US" dirty="0"/>
          </a:p>
          <a:p>
            <a:r>
              <a:rPr lang="en-US" dirty="0"/>
              <a:t>The expected output is that the build completes successfully with sixteen jobs. This checks the definitions, assumed-result interfaces, realizable wrapper, agnostic proof, and main import file.</a:t>
            </a:r>
          </a:p>
          <a:p>
            <a:endParaRPr lang="en-US" dirty="0"/>
          </a:p>
          <a:p>
            <a:r>
              <a:rPr lang="en-US" dirty="0"/>
              <a:t>Now I will run the workflow script that compares generated proof attempts.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Do: Run:</a:t>
            </a:r>
          </a:p>
          <a:p>
            <a:endParaRPr lang="en-US" sz="1200" b="0" i="0" kern="1200" dirty="0">
              <a:effectLst/>
            </a:endParaRPr>
          </a:p>
          <a:p>
            <a:r>
              <a:rPr lang="en-US" sz="1200" b="0" i="0" kern="1200" dirty="0">
                <a:effectLst/>
              </a:rPr>
              <a:t>python multi_model_workflow/run_comparison.py</a:t>
            </a:r>
          </a:p>
          <a:p>
            <a:endParaRPr lang="en-US" sz="1200" b="0" i="0" kern="1200" dirty="0">
              <a:effectLst/>
            </a:endParaRPr>
          </a:p>
          <a:p>
            <a:r>
              <a:rPr lang="en-US" sz="1200" b="0" i="0" kern="1200" dirty="0">
                <a:effectLst/>
              </a:rPr>
              <a:t>This script regenerates two markdown files. One is the human-facing comparison report. The other is the model-facing repair recommendation file.</a:t>
            </a:r>
          </a:p>
          <a:p>
            <a:endParaRPr lang="en-US" sz="1200" b="0" i="0" kern="1200" dirty="0">
              <a:effectLst/>
            </a:endParaRPr>
          </a:p>
          <a:p>
            <a:r>
              <a:rPr lang="en-US" sz="1200" b="0" i="0" kern="1200" dirty="0">
                <a:effectLst/>
              </a:rPr>
              <a:t>This makes the workflow reproducible instead of just described in the presentation.</a:t>
            </a:r>
          </a:p>
          <a:p>
            <a:endParaRPr lang="en-US" sz="1200" b="0" i="0" kern="1200" dirty="0">
              <a:effectLst/>
            </a:endParaRPr>
          </a:p>
          <a:p>
            <a:r>
              <a:rPr lang="en-US" sz="1200" b="0" i="0" kern="1200" dirty="0">
                <a:effectLst/>
              </a:rPr>
              <a:t>First I will open the human-facing comparison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Do: Open </a:t>
            </a:r>
            <a:r>
              <a:rPr lang="en-US" sz="1200" b="0" i="0" kern="1200" dirty="0" err="1">
                <a:effectLst/>
              </a:rPr>
              <a:t>multi_model_workflow</a:t>
            </a:r>
            <a:r>
              <a:rPr lang="en-US" sz="1200" b="0" i="0" kern="1200" dirty="0">
                <a:effectLst/>
              </a:rPr>
              <a:t>/comparison_report.md.</a:t>
            </a:r>
          </a:p>
          <a:p>
            <a:endParaRPr lang="en-US" sz="1200" b="0" i="0" kern="1200" dirty="0">
              <a:effectLst/>
            </a:endParaRPr>
          </a:p>
          <a:p>
            <a:r>
              <a:rPr lang="en-US" sz="1200" b="0" i="0" kern="1200" dirty="0">
                <a:effectLst/>
              </a:rPr>
              <a:t>This file ranks proof attempts, records the consensus recommendation, and lists cross-model repair suggestions.</a:t>
            </a:r>
          </a:p>
          <a:p>
            <a:endParaRPr lang="en-US" sz="1200" b="0" i="0" kern="1200" dirty="0">
              <a:effectLst/>
            </a:endParaRPr>
          </a:p>
          <a:p>
            <a:r>
              <a:rPr lang="en-US" sz="1200" b="0" i="0" kern="1200" dirty="0">
                <a:effectLst/>
              </a:rPr>
              <a:t>This implements the comparison idea: do not trust one generated proof attempt blindly. Compare attempts, find useful differences, and use those differences to improve the final proof.</a:t>
            </a:r>
          </a:p>
          <a:p>
            <a:endParaRPr lang="en-US" sz="1200" b="0" i="0" kern="1200" dirty="0">
              <a:effectLst/>
            </a:endParaRPr>
          </a:p>
          <a:p>
            <a:r>
              <a:rPr lang="en-US" sz="1200" b="0" i="1" kern="1200">
                <a:effectLst/>
              </a:rPr>
              <a:t>This prevents shortcut behavior because the models start from the same theorem prompt, Lean checks whether the proofs actually compile, and the comparison exposes missing assumptions, hallucinated lemmas, or proofs that only sound correct in English.</a:t>
            </a:r>
            <a:endParaRPr lang="en-US" sz="1200" b="0" i="0" kern="1200" dirty="0">
              <a:effectLst/>
            </a:endParaRPr>
          </a:p>
          <a:p>
            <a:endParaRPr lang="en-US" sz="1200" b="0" i="0" kern="1200" dirty="0">
              <a:effectLst/>
            </a:endParaRPr>
          </a:p>
          <a:p>
            <a:r>
              <a:rPr lang="en-US" sz="1200" b="0" i="0" kern="1200" dirty="0">
                <a:effectLst/>
              </a:rPr>
              <a:t>Then I will show the file that can be handed back to the 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Do: Open </a:t>
            </a:r>
            <a:r>
              <a:rPr lang="en-US" sz="1200" b="0" i="0" kern="1200" dirty="0" err="1">
                <a:effectLst/>
              </a:rPr>
              <a:t>multi_model_workflow</a:t>
            </a:r>
            <a:r>
              <a:rPr lang="en-US" sz="1200" b="0" i="0" kern="1200" dirty="0">
                <a:effectLst/>
              </a:rPr>
              <a:t>/repair_recommendations_for_models.md.</a:t>
            </a:r>
          </a:p>
          <a:p>
            <a:endParaRPr lang="en-US" sz="1200" b="0" i="0" kern="1200" dirty="0">
              <a:effectLst/>
            </a:endParaRPr>
          </a:p>
          <a:p>
            <a:r>
              <a:rPr lang="en-US" sz="1200" b="0" i="0" kern="1200" dirty="0">
                <a:effectLst/>
              </a:rPr>
              <a:t>This is the model-facing handoff. After comparing Codex and Claude, this file turns the comparison into instructions for repair and simplification.</a:t>
            </a:r>
          </a:p>
          <a:p>
            <a:endParaRPr lang="en-US" sz="1200" b="0" i="0" kern="1200" dirty="0">
              <a:effectLst/>
            </a:endParaRPr>
          </a:p>
          <a:p>
            <a:r>
              <a:rPr lang="en-US" sz="1200" b="0" i="0" kern="1200" dirty="0">
                <a:effectLst/>
              </a:rPr>
              <a:t>So the workflow does not stop at logging failures. It produces actionable guidance for the next proof attempt.</a:t>
            </a:r>
          </a:p>
          <a:p>
            <a:endParaRPr lang="en-US" sz="1200" b="0" i="0" kern="1200" dirty="0">
              <a:effectLst/>
            </a:endParaRPr>
          </a:p>
          <a:p>
            <a:r>
              <a:rPr lang="en-US" sz="1200" b="0" i="0" kern="1200" dirty="0">
                <a:effectLst/>
              </a:rPr>
              <a:t>I will close with the main lesson of the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takeaway is that Lean verifies the proof core, but explanation makes the proof understandable.</a:t>
            </a:r>
          </a:p>
          <a:p>
            <a:endParaRPr lang="en-US" dirty="0"/>
          </a:p>
          <a:p>
            <a:r>
              <a:rPr lang="en-US" dirty="0"/>
              <a:t>The project proves the deterministic learning-theory logic, states the probability assumptions honestly, and uses an MA-</a:t>
            </a:r>
            <a:r>
              <a:rPr lang="en-US" dirty="0" err="1"/>
              <a:t>LoT</a:t>
            </a:r>
            <a:r>
              <a:rPr lang="en-US" dirty="0"/>
              <a:t>-inspired workflow to study how AI proof attempts can be checked, repaired, compared, and explained.</a:t>
            </a:r>
          </a:p>
          <a:p>
            <a:endParaRPr lang="en-US" dirty="0"/>
          </a:p>
          <a:p>
            <a:r>
              <a:rPr lang="en-US" dirty="0"/>
              <a:t>So the project is both a Lean formalization and a small study in AI-assisted theorem proving and proof explainability.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7064FF8-83ED-4091-94B7-DFB4293DD396}"/>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CFE370D-8FDD-4936-84D1-0F4C94EDCDD6}"/>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A95639E7-EA1B-4E7A-8663-F3B13F904BB3}"/>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FINAL PROJECT</a:t>
            </a:r>
          </a:p>
        </p:txBody>
      </p:sp>
      <p:sp>
        <p:nvSpPr>
          <p:cNvPr id="4" name="Rectangle 3">
            <a:extLst>
              <a:ext uri="{FF2B5EF4-FFF2-40B4-BE49-F238E27FC236}">
                <a16:creationId xmlns:a16="http://schemas.microsoft.com/office/drawing/2014/main" id="{8C9F6619-251C-464C-9DBE-455F70620A0C}"/>
              </a:ext>
            </a:extLst>
          </p:cNvPr>
          <p:cNvSpPr>
            <a:spLocks noGrp="1"/>
          </p:cNvSpPr>
          <p:nvPr/>
        </p:nvSpPr>
        <p:spPr>
          <a:xfrm>
            <a:off x="590550" y="723900"/>
            <a:ext cx="10096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dirty="0">
                <a:solidFill>
                  <a:srgbClr val="18202A"/>
                </a:solidFill>
                <a:latin typeface="Aptos Display"/>
                <a:ea typeface="Aptos Display"/>
                <a:cs typeface="Aptos Display"/>
              </a:rPr>
              <a:t>Formalizing finite-class learning guarantees in Lean</a:t>
            </a:r>
          </a:p>
        </p:txBody>
      </p:sp>
      <p:sp>
        <p:nvSpPr>
          <p:cNvPr id="5" name="Rectangle 4">
            <a:extLst>
              <a:ext uri="{FF2B5EF4-FFF2-40B4-BE49-F238E27FC236}">
                <a16:creationId xmlns:a16="http://schemas.microsoft.com/office/drawing/2014/main" id="{4C2B1B5D-CD54-4F40-9AD3-ACBF0832C25B}"/>
              </a:ext>
            </a:extLst>
          </p:cNvPr>
          <p:cNvSpPr>
            <a:spLocks noGrp="1"/>
          </p:cNvSpPr>
          <p:nvPr/>
        </p:nvSpPr>
        <p:spPr>
          <a:xfrm>
            <a:off x="609600" y="1495425"/>
            <a:ext cx="9620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5F6876"/>
                </a:solidFill>
                <a:latin typeface="Aptos"/>
                <a:ea typeface="Aptos"/>
                <a:cs typeface="Aptos"/>
              </a:defRPr>
            </a:pPr>
            <a:r>
              <a:rPr sz="1350" b="0">
                <a:solidFill>
                  <a:srgbClr val="5F6876"/>
                </a:solidFill>
                <a:latin typeface="Aptos"/>
                <a:ea typeface="Aptos"/>
                <a:cs typeface="Aptos"/>
              </a:rPr>
              <a:t>with an MA-LoT-inspired multi-LLM proof repair workflow</a:t>
            </a:r>
          </a:p>
        </p:txBody>
      </p:sp>
      <p:sp>
        <p:nvSpPr>
          <p:cNvPr id="6" name="Rectangle 5">
            <a:extLst>
              <a:ext uri="{FF2B5EF4-FFF2-40B4-BE49-F238E27FC236}">
                <a16:creationId xmlns:a16="http://schemas.microsoft.com/office/drawing/2014/main" id="{0BBAF59D-B1B7-4A8E-9328-D381116B3008}"/>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333C4985-8B56-4C92-9412-55D04E9BD580}"/>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8" name="Rectangle 7">
            <a:extLst>
              <a:ext uri="{FF2B5EF4-FFF2-40B4-BE49-F238E27FC236}">
                <a16:creationId xmlns:a16="http://schemas.microsoft.com/office/drawing/2014/main" id="{572F5B7F-6B7D-46C2-8D22-1B516D2989A7}"/>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01</a:t>
            </a:r>
          </a:p>
        </p:txBody>
      </p:sp>
      <p:sp>
        <p:nvSpPr>
          <p:cNvPr id="9" name="Rectangle 8">
            <a:extLst>
              <a:ext uri="{FF2B5EF4-FFF2-40B4-BE49-F238E27FC236}">
                <a16:creationId xmlns:a16="http://schemas.microsoft.com/office/drawing/2014/main" id="{8258ABB3-BAE0-400F-9E00-C8F96D399646}"/>
              </a:ext>
            </a:extLst>
          </p:cNvPr>
          <p:cNvSpPr>
            <a:spLocks noGrp="1"/>
          </p:cNvSpPr>
          <p:nvPr/>
        </p:nvSpPr>
        <p:spPr>
          <a:xfrm>
            <a:off x="6572250" y="2038350"/>
            <a:ext cx="3238500" cy="361950"/>
          </a:xfrm>
          <a:prstGeom prst="rect">
            <a:avLst/>
          </a:prstGeom>
          <a:solidFill>
            <a:srgbClr val="EAF4F8"/>
          </a:solidFill>
          <a:ln w="9525">
            <a:solidFill>
              <a:srgbClr val="D8D2C8"/>
            </a:solidFill>
            <a:prstDash val="solid"/>
          </a:ln>
        </p:spPr>
        <p:txBody>
          <a:bodyPr/>
          <a:lstStyle/>
          <a:p>
            <a:endParaRPr lang="en-US"/>
          </a:p>
        </p:txBody>
      </p:sp>
      <p:sp>
        <p:nvSpPr>
          <p:cNvPr id="10" name="Rectangle 9">
            <a:extLst>
              <a:ext uri="{FF2B5EF4-FFF2-40B4-BE49-F238E27FC236}">
                <a16:creationId xmlns:a16="http://schemas.microsoft.com/office/drawing/2014/main" id="{D5D0997A-618D-4A6E-BB19-FCBBA2AAA720}"/>
              </a:ext>
            </a:extLst>
          </p:cNvPr>
          <p:cNvSpPr>
            <a:spLocks noGrp="1"/>
          </p:cNvSpPr>
          <p:nvPr/>
        </p:nvSpPr>
        <p:spPr>
          <a:xfrm>
            <a:off x="6781800" y="2124075"/>
            <a:ext cx="2819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1. paper proof</a:t>
            </a:r>
          </a:p>
        </p:txBody>
      </p:sp>
      <p:sp>
        <p:nvSpPr>
          <p:cNvPr id="11" name="Rectangle 10">
            <a:extLst>
              <a:ext uri="{FF2B5EF4-FFF2-40B4-BE49-F238E27FC236}">
                <a16:creationId xmlns:a16="http://schemas.microsoft.com/office/drawing/2014/main" id="{4460F7BD-EFAE-40FD-B0EF-0EF98BC89D4E}"/>
              </a:ext>
            </a:extLst>
          </p:cNvPr>
          <p:cNvSpPr>
            <a:spLocks noGrp="1"/>
          </p:cNvSpPr>
          <p:nvPr/>
        </p:nvSpPr>
        <p:spPr>
          <a:xfrm>
            <a:off x="8191500" y="2409825"/>
            <a:ext cx="19050" cy="104775"/>
          </a:xfrm>
          <a:prstGeom prst="rect">
            <a:avLst/>
          </a:prstGeom>
          <a:solidFill>
            <a:srgbClr val="246B8F"/>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7499BB04-9EDC-400E-B27E-AEA93FAA819D}"/>
              </a:ext>
            </a:extLst>
          </p:cNvPr>
          <p:cNvSpPr>
            <a:spLocks noGrp="1"/>
          </p:cNvSpPr>
          <p:nvPr/>
        </p:nvSpPr>
        <p:spPr>
          <a:xfrm>
            <a:off x="8153400" y="2438400"/>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DF4C22B6-C64C-4EE5-A64B-F7DC075E8629}"/>
              </a:ext>
            </a:extLst>
          </p:cNvPr>
          <p:cNvSpPr>
            <a:spLocks noGrp="1"/>
          </p:cNvSpPr>
          <p:nvPr/>
        </p:nvSpPr>
        <p:spPr>
          <a:xfrm>
            <a:off x="6572250" y="2552700"/>
            <a:ext cx="3238500" cy="361950"/>
          </a:xfrm>
          <a:prstGeom prst="rect">
            <a:avLst/>
          </a:prstGeom>
          <a:solidFill>
            <a:srgbClr val="EAF4F8"/>
          </a:solidFill>
          <a:ln w="9525">
            <a:solidFill>
              <a:srgbClr val="D8D2C8"/>
            </a:solidFill>
            <a:prstDash val="solid"/>
          </a:ln>
        </p:spPr>
        <p:txBody>
          <a:bodyPr/>
          <a:lstStyle/>
          <a:p>
            <a:endParaRPr lang="en-US"/>
          </a:p>
        </p:txBody>
      </p:sp>
      <p:sp>
        <p:nvSpPr>
          <p:cNvPr id="14" name="Rectangle 13">
            <a:extLst>
              <a:ext uri="{FF2B5EF4-FFF2-40B4-BE49-F238E27FC236}">
                <a16:creationId xmlns:a16="http://schemas.microsoft.com/office/drawing/2014/main" id="{7FEEE5F3-AE04-43C7-B9A7-FA1A7C7030F9}"/>
              </a:ext>
            </a:extLst>
          </p:cNvPr>
          <p:cNvSpPr>
            <a:spLocks noGrp="1"/>
          </p:cNvSpPr>
          <p:nvPr/>
        </p:nvSpPr>
        <p:spPr>
          <a:xfrm>
            <a:off x="6781800" y="2638425"/>
            <a:ext cx="2819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2. Lean attempt</a:t>
            </a:r>
          </a:p>
        </p:txBody>
      </p:sp>
      <p:sp>
        <p:nvSpPr>
          <p:cNvPr id="15" name="Rectangle 14">
            <a:extLst>
              <a:ext uri="{FF2B5EF4-FFF2-40B4-BE49-F238E27FC236}">
                <a16:creationId xmlns:a16="http://schemas.microsoft.com/office/drawing/2014/main" id="{B6E7D20B-540D-49B8-A37A-48C477B86046}"/>
              </a:ext>
            </a:extLst>
          </p:cNvPr>
          <p:cNvSpPr>
            <a:spLocks noGrp="1"/>
          </p:cNvSpPr>
          <p:nvPr/>
        </p:nvSpPr>
        <p:spPr>
          <a:xfrm>
            <a:off x="8191500" y="2924175"/>
            <a:ext cx="19050" cy="104775"/>
          </a:xfrm>
          <a:prstGeom prst="rect">
            <a:avLst/>
          </a:prstGeom>
          <a:solidFill>
            <a:srgbClr val="246B8F"/>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DB3CD241-C0F0-48B6-A5F9-7DFE800FB5E9}"/>
              </a:ext>
            </a:extLst>
          </p:cNvPr>
          <p:cNvSpPr>
            <a:spLocks noGrp="1"/>
          </p:cNvSpPr>
          <p:nvPr/>
        </p:nvSpPr>
        <p:spPr>
          <a:xfrm>
            <a:off x="8153400" y="2952750"/>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367A8546-DFC9-4B50-BE6E-C9437CB29B1E}"/>
              </a:ext>
            </a:extLst>
          </p:cNvPr>
          <p:cNvSpPr>
            <a:spLocks noGrp="1"/>
          </p:cNvSpPr>
          <p:nvPr/>
        </p:nvSpPr>
        <p:spPr>
          <a:xfrm>
            <a:off x="6572250" y="3067050"/>
            <a:ext cx="3238500" cy="361950"/>
          </a:xfrm>
          <a:prstGeom prst="rect">
            <a:avLst/>
          </a:prstGeom>
          <a:solidFill>
            <a:srgbClr val="FFF6DF"/>
          </a:solidFill>
          <a:ln w="9525">
            <a:solidFill>
              <a:srgbClr val="D8D2C8"/>
            </a:solidFill>
            <a:prstDash val="solid"/>
          </a:ln>
        </p:spPr>
        <p:txBody>
          <a:bodyPr/>
          <a:lstStyle/>
          <a:p>
            <a:endParaRPr lang="en-US"/>
          </a:p>
        </p:txBody>
      </p:sp>
      <p:sp>
        <p:nvSpPr>
          <p:cNvPr id="18" name="Rectangle 17">
            <a:extLst>
              <a:ext uri="{FF2B5EF4-FFF2-40B4-BE49-F238E27FC236}">
                <a16:creationId xmlns:a16="http://schemas.microsoft.com/office/drawing/2014/main" id="{22E7935B-979F-4265-8916-F7311397A436}"/>
              </a:ext>
            </a:extLst>
          </p:cNvPr>
          <p:cNvSpPr>
            <a:spLocks noGrp="1"/>
          </p:cNvSpPr>
          <p:nvPr/>
        </p:nvSpPr>
        <p:spPr>
          <a:xfrm>
            <a:off x="6781800" y="3152775"/>
            <a:ext cx="2819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3. verifier feedback</a:t>
            </a:r>
          </a:p>
        </p:txBody>
      </p:sp>
      <p:sp>
        <p:nvSpPr>
          <p:cNvPr id="19" name="Rectangle 18">
            <a:extLst>
              <a:ext uri="{FF2B5EF4-FFF2-40B4-BE49-F238E27FC236}">
                <a16:creationId xmlns:a16="http://schemas.microsoft.com/office/drawing/2014/main" id="{44F46D30-246A-4F70-910D-E5FA8DC6502E}"/>
              </a:ext>
            </a:extLst>
          </p:cNvPr>
          <p:cNvSpPr>
            <a:spLocks noGrp="1"/>
          </p:cNvSpPr>
          <p:nvPr/>
        </p:nvSpPr>
        <p:spPr>
          <a:xfrm>
            <a:off x="8191500" y="3438525"/>
            <a:ext cx="19050" cy="104775"/>
          </a:xfrm>
          <a:prstGeom prst="rect">
            <a:avLst/>
          </a:prstGeom>
          <a:solidFill>
            <a:srgbClr val="246B8F"/>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C28149FC-209B-4EFF-BB81-B2B5226C0BD5}"/>
              </a:ext>
            </a:extLst>
          </p:cNvPr>
          <p:cNvSpPr>
            <a:spLocks noGrp="1"/>
          </p:cNvSpPr>
          <p:nvPr/>
        </p:nvSpPr>
        <p:spPr>
          <a:xfrm>
            <a:off x="8153400" y="3467100"/>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1F16CB8D-BDA4-466D-BC94-594E4BA35769}"/>
              </a:ext>
            </a:extLst>
          </p:cNvPr>
          <p:cNvSpPr>
            <a:spLocks noGrp="1"/>
          </p:cNvSpPr>
          <p:nvPr/>
        </p:nvSpPr>
        <p:spPr>
          <a:xfrm>
            <a:off x="6572250" y="3581400"/>
            <a:ext cx="3238500" cy="361950"/>
          </a:xfrm>
          <a:prstGeom prst="rect">
            <a:avLst/>
          </a:prstGeom>
          <a:solidFill>
            <a:srgbClr val="EAF4F8"/>
          </a:solidFill>
          <a:ln w="9525">
            <a:solidFill>
              <a:srgbClr val="D8D2C8"/>
            </a:solidFill>
            <a:prstDash val="solid"/>
          </a:ln>
        </p:spPr>
        <p:txBody>
          <a:bodyPr/>
          <a:lstStyle/>
          <a:p>
            <a:endParaRPr lang="en-US"/>
          </a:p>
        </p:txBody>
      </p:sp>
      <p:sp>
        <p:nvSpPr>
          <p:cNvPr id="22" name="Rectangle 21">
            <a:extLst>
              <a:ext uri="{FF2B5EF4-FFF2-40B4-BE49-F238E27FC236}">
                <a16:creationId xmlns:a16="http://schemas.microsoft.com/office/drawing/2014/main" id="{73D8241E-BAE4-453A-AF91-D6F53FE95FF5}"/>
              </a:ext>
            </a:extLst>
          </p:cNvPr>
          <p:cNvSpPr>
            <a:spLocks noGrp="1"/>
          </p:cNvSpPr>
          <p:nvPr/>
        </p:nvSpPr>
        <p:spPr>
          <a:xfrm>
            <a:off x="6781800" y="3667125"/>
            <a:ext cx="2819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B95745"/>
                </a:solidFill>
                <a:latin typeface="Aptos"/>
                <a:ea typeface="Aptos"/>
                <a:cs typeface="Aptos"/>
              </a:defRPr>
            </a:pPr>
            <a:r>
              <a:rPr sz="1125" b="1">
                <a:solidFill>
                  <a:srgbClr val="B95745"/>
                </a:solidFill>
                <a:latin typeface="Aptos"/>
                <a:ea typeface="Aptos"/>
                <a:cs typeface="Aptos"/>
              </a:rPr>
              <a:t>4. repair</a:t>
            </a:r>
          </a:p>
        </p:txBody>
      </p:sp>
      <p:sp>
        <p:nvSpPr>
          <p:cNvPr id="23" name="Rectangle 22">
            <a:extLst>
              <a:ext uri="{FF2B5EF4-FFF2-40B4-BE49-F238E27FC236}">
                <a16:creationId xmlns:a16="http://schemas.microsoft.com/office/drawing/2014/main" id="{33344D67-EB25-48AA-A1DE-411BB36B8DD7}"/>
              </a:ext>
            </a:extLst>
          </p:cNvPr>
          <p:cNvSpPr>
            <a:spLocks noGrp="1"/>
          </p:cNvSpPr>
          <p:nvPr/>
        </p:nvSpPr>
        <p:spPr>
          <a:xfrm>
            <a:off x="8191500" y="3952875"/>
            <a:ext cx="19050" cy="104775"/>
          </a:xfrm>
          <a:prstGeom prst="rect">
            <a:avLst/>
          </a:prstGeom>
          <a:solidFill>
            <a:srgbClr val="246B8F"/>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21F44FC0-81F8-4270-8C06-5528137692C2}"/>
              </a:ext>
            </a:extLst>
          </p:cNvPr>
          <p:cNvSpPr>
            <a:spLocks noGrp="1"/>
          </p:cNvSpPr>
          <p:nvPr/>
        </p:nvSpPr>
        <p:spPr>
          <a:xfrm>
            <a:off x="8153400" y="3981450"/>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48817542-131F-4EDA-A057-7E9664F36137}"/>
              </a:ext>
            </a:extLst>
          </p:cNvPr>
          <p:cNvSpPr>
            <a:spLocks noGrp="1"/>
          </p:cNvSpPr>
          <p:nvPr/>
        </p:nvSpPr>
        <p:spPr>
          <a:xfrm>
            <a:off x="6572250" y="4095750"/>
            <a:ext cx="3238500" cy="361950"/>
          </a:xfrm>
          <a:prstGeom prst="rect">
            <a:avLst/>
          </a:prstGeom>
          <a:solidFill>
            <a:srgbClr val="EAF4F8"/>
          </a:solidFill>
          <a:ln w="9525">
            <a:solidFill>
              <a:srgbClr val="D8D2C8"/>
            </a:solidFill>
            <a:prstDash val="solid"/>
          </a:ln>
        </p:spPr>
        <p:txBody>
          <a:bodyPr/>
          <a:lstStyle/>
          <a:p>
            <a:endParaRPr lang="en-US"/>
          </a:p>
        </p:txBody>
      </p:sp>
      <p:sp>
        <p:nvSpPr>
          <p:cNvPr id="26" name="Rectangle 25">
            <a:extLst>
              <a:ext uri="{FF2B5EF4-FFF2-40B4-BE49-F238E27FC236}">
                <a16:creationId xmlns:a16="http://schemas.microsoft.com/office/drawing/2014/main" id="{EF3FCDFF-17BC-43F7-B39A-C3981F97B600}"/>
              </a:ext>
            </a:extLst>
          </p:cNvPr>
          <p:cNvSpPr>
            <a:spLocks noGrp="1"/>
          </p:cNvSpPr>
          <p:nvPr/>
        </p:nvSpPr>
        <p:spPr>
          <a:xfrm>
            <a:off x="6781800" y="4181475"/>
            <a:ext cx="2819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5. human explanation</a:t>
            </a:r>
          </a:p>
        </p:txBody>
      </p:sp>
      <p:sp>
        <p:nvSpPr>
          <p:cNvPr id="27" name="Rectangle 26">
            <a:extLst>
              <a:ext uri="{FF2B5EF4-FFF2-40B4-BE49-F238E27FC236}">
                <a16:creationId xmlns:a16="http://schemas.microsoft.com/office/drawing/2014/main" id="{D851F863-6B75-4359-96D4-DEAFD959EC20}"/>
              </a:ext>
            </a:extLst>
          </p:cNvPr>
          <p:cNvSpPr>
            <a:spLocks noGrp="1"/>
          </p:cNvSpPr>
          <p:nvPr/>
        </p:nvSpPr>
        <p:spPr>
          <a:xfrm>
            <a:off x="704850" y="2400300"/>
            <a:ext cx="5334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A Lean formalization of realizable and agnostic finite-class learning results.</a:t>
            </a:r>
          </a:p>
        </p:txBody>
      </p:sp>
      <p:sp>
        <p:nvSpPr>
          <p:cNvPr id="28" name="Rectangle 27">
            <a:extLst>
              <a:ext uri="{FF2B5EF4-FFF2-40B4-BE49-F238E27FC236}">
                <a16:creationId xmlns:a16="http://schemas.microsoft.com/office/drawing/2014/main" id="{34D537FB-9BB5-4C21-B17A-2B2D056F87E7}"/>
              </a:ext>
            </a:extLst>
          </p:cNvPr>
          <p:cNvSpPr>
            <a:spLocks noGrp="1"/>
          </p:cNvSpPr>
          <p:nvPr/>
        </p:nvSpPr>
        <p:spPr>
          <a:xfrm>
            <a:off x="704850" y="5067300"/>
            <a:ext cx="8382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2F7D57"/>
                </a:solidFill>
                <a:latin typeface="Aptos Display"/>
                <a:ea typeface="Aptos Display"/>
                <a:cs typeface="Aptos Display"/>
              </a:defRPr>
            </a:pPr>
            <a:r>
              <a:rPr sz="2325" b="1">
                <a:solidFill>
                  <a:srgbClr val="2F7D57"/>
                </a:solidFill>
                <a:latin typeface="Aptos Display"/>
                <a:ea typeface="Aptos Display"/>
                <a:cs typeface="Aptos Display"/>
              </a:rPr>
              <a:t>Core theme: verification is not the same as understanding.</a:t>
            </a:r>
          </a:p>
        </p:txBody>
      </p:sp>
    </p:spTree>
    <p:extLst>
      <p:ext uri="{BB962C8B-B14F-4D97-AF65-F5344CB8AC3E}">
        <p14:creationId xmlns:p14="http://schemas.microsoft.com/office/powerpoint/2010/main" val="379683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75EB6B8-21E0-4502-A1E4-869EB2B7B900}"/>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7BC394E-46F6-493E-B18B-E641E19AA346}"/>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0F4D85C5-7BD7-4DFA-99CD-E98A5BAFA4C2}"/>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ROADMAP</a:t>
            </a:r>
          </a:p>
        </p:txBody>
      </p:sp>
      <p:sp>
        <p:nvSpPr>
          <p:cNvPr id="4" name="Rectangle 3">
            <a:extLst>
              <a:ext uri="{FF2B5EF4-FFF2-40B4-BE49-F238E27FC236}">
                <a16:creationId xmlns:a16="http://schemas.microsoft.com/office/drawing/2014/main" id="{DE2F94A0-EF62-45C8-9D6A-58A621068FE3}"/>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The presentation has five connected parts.</a:t>
            </a:r>
          </a:p>
        </p:txBody>
      </p:sp>
      <p:sp>
        <p:nvSpPr>
          <p:cNvPr id="5" name="Rectangle 4">
            <a:extLst>
              <a:ext uri="{FF2B5EF4-FFF2-40B4-BE49-F238E27FC236}">
                <a16:creationId xmlns:a16="http://schemas.microsoft.com/office/drawing/2014/main" id="{B0242895-9B70-47E9-B709-AC8833D14E52}"/>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FD67140C-C8B1-4108-8789-0E100112EA6D}"/>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640DD49B-D037-4242-897E-09FD8E3AC55C}"/>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02</a:t>
            </a:r>
          </a:p>
        </p:txBody>
      </p:sp>
      <p:sp>
        <p:nvSpPr>
          <p:cNvPr id="8" name="Rectangle 7">
            <a:extLst>
              <a:ext uri="{FF2B5EF4-FFF2-40B4-BE49-F238E27FC236}">
                <a16:creationId xmlns:a16="http://schemas.microsoft.com/office/drawing/2014/main" id="{A76E20E9-34A7-40E6-B06A-61CBD10D5E65}"/>
              </a:ext>
            </a:extLst>
          </p:cNvPr>
          <p:cNvSpPr>
            <a:spLocks noGrp="1"/>
          </p:cNvSpPr>
          <p:nvPr/>
        </p:nvSpPr>
        <p:spPr>
          <a:xfrm>
            <a:off x="1143000" y="2114550"/>
            <a:ext cx="8382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246B8F"/>
                </a:solidFill>
                <a:latin typeface="Aptos Display"/>
                <a:ea typeface="Aptos Display"/>
                <a:cs typeface="Aptos Display"/>
              </a:defRPr>
            </a:pPr>
            <a:r>
              <a:rPr sz="2100" b="1">
                <a:solidFill>
                  <a:srgbClr val="246B8F"/>
                </a:solidFill>
                <a:latin typeface="Aptos Display"/>
                <a:ea typeface="Aptos Display"/>
                <a:cs typeface="Aptos Display"/>
              </a:rPr>
              <a:t>1. Introduction and background</a:t>
            </a:r>
          </a:p>
        </p:txBody>
      </p:sp>
      <p:sp>
        <p:nvSpPr>
          <p:cNvPr id="9" name="Rectangle 8">
            <a:extLst>
              <a:ext uri="{FF2B5EF4-FFF2-40B4-BE49-F238E27FC236}">
                <a16:creationId xmlns:a16="http://schemas.microsoft.com/office/drawing/2014/main" id="{82259C2E-FA8C-4CA1-BCC0-4AEAD26CA62F}"/>
              </a:ext>
            </a:extLst>
          </p:cNvPr>
          <p:cNvSpPr>
            <a:spLocks noGrp="1"/>
          </p:cNvSpPr>
          <p:nvPr/>
        </p:nvSpPr>
        <p:spPr>
          <a:xfrm>
            <a:off x="1143000" y="2781300"/>
            <a:ext cx="8382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8202A"/>
                </a:solidFill>
                <a:latin typeface="Aptos Display"/>
                <a:ea typeface="Aptos Display"/>
                <a:cs typeface="Aptos Display"/>
              </a:defRPr>
            </a:pPr>
            <a:r>
              <a:rPr sz="2100" b="1">
                <a:solidFill>
                  <a:srgbClr val="18202A"/>
                </a:solidFill>
                <a:latin typeface="Aptos Display"/>
                <a:ea typeface="Aptos Display"/>
                <a:cs typeface="Aptos Display"/>
              </a:rPr>
              <a:t>2. The math problem and full proof</a:t>
            </a:r>
          </a:p>
        </p:txBody>
      </p:sp>
      <p:sp>
        <p:nvSpPr>
          <p:cNvPr id="10" name="Rectangle 9">
            <a:extLst>
              <a:ext uri="{FF2B5EF4-FFF2-40B4-BE49-F238E27FC236}">
                <a16:creationId xmlns:a16="http://schemas.microsoft.com/office/drawing/2014/main" id="{D3E5ADD1-51A7-463A-9A80-854F33E7C25B}"/>
              </a:ext>
            </a:extLst>
          </p:cNvPr>
          <p:cNvSpPr>
            <a:spLocks noGrp="1"/>
          </p:cNvSpPr>
          <p:nvPr/>
        </p:nvSpPr>
        <p:spPr>
          <a:xfrm>
            <a:off x="1143000" y="3448050"/>
            <a:ext cx="8382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8202A"/>
                </a:solidFill>
                <a:latin typeface="Aptos Display"/>
                <a:ea typeface="Aptos Display"/>
                <a:cs typeface="Aptos Display"/>
              </a:defRPr>
            </a:pPr>
            <a:r>
              <a:rPr sz="2100" b="1">
                <a:solidFill>
                  <a:srgbClr val="18202A"/>
                </a:solidFill>
                <a:latin typeface="Aptos Display"/>
                <a:ea typeface="Aptos Display"/>
                <a:cs typeface="Aptos Display"/>
              </a:rPr>
              <a:t>3. MA-LoT and how I adapted it</a:t>
            </a:r>
          </a:p>
        </p:txBody>
      </p:sp>
      <p:sp>
        <p:nvSpPr>
          <p:cNvPr id="11" name="Rectangle 10">
            <a:extLst>
              <a:ext uri="{FF2B5EF4-FFF2-40B4-BE49-F238E27FC236}">
                <a16:creationId xmlns:a16="http://schemas.microsoft.com/office/drawing/2014/main" id="{03742E02-4B57-491A-9C05-0600CAFF6973}"/>
              </a:ext>
            </a:extLst>
          </p:cNvPr>
          <p:cNvSpPr>
            <a:spLocks noGrp="1"/>
          </p:cNvSpPr>
          <p:nvPr/>
        </p:nvSpPr>
        <p:spPr>
          <a:xfrm>
            <a:off x="1143000" y="4114800"/>
            <a:ext cx="8382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8202A"/>
                </a:solidFill>
                <a:latin typeface="Aptos Display"/>
                <a:ea typeface="Aptos Display"/>
                <a:cs typeface="Aptos Display"/>
              </a:defRPr>
            </a:pPr>
            <a:r>
              <a:rPr sz="2100" b="1">
                <a:solidFill>
                  <a:srgbClr val="18202A"/>
                </a:solidFill>
                <a:latin typeface="Aptos Display"/>
                <a:ea typeface="Aptos Display"/>
                <a:cs typeface="Aptos Display"/>
              </a:rPr>
              <a:t>4. My workflow, definitions, and assumptions</a:t>
            </a:r>
          </a:p>
        </p:txBody>
      </p:sp>
      <p:sp>
        <p:nvSpPr>
          <p:cNvPr id="12" name="Rectangle 11">
            <a:extLst>
              <a:ext uri="{FF2B5EF4-FFF2-40B4-BE49-F238E27FC236}">
                <a16:creationId xmlns:a16="http://schemas.microsoft.com/office/drawing/2014/main" id="{70CDFC92-A094-48CB-9228-3201B50965C0}"/>
              </a:ext>
            </a:extLst>
          </p:cNvPr>
          <p:cNvSpPr>
            <a:spLocks noGrp="1"/>
          </p:cNvSpPr>
          <p:nvPr/>
        </p:nvSpPr>
        <p:spPr>
          <a:xfrm>
            <a:off x="1143000" y="4781550"/>
            <a:ext cx="8382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8202A"/>
                </a:solidFill>
                <a:latin typeface="Aptos Display"/>
                <a:ea typeface="Aptos Display"/>
                <a:cs typeface="Aptos Display"/>
              </a:defRPr>
            </a:pPr>
            <a:r>
              <a:rPr sz="2100" b="1">
                <a:solidFill>
                  <a:srgbClr val="18202A"/>
                </a:solidFill>
                <a:latin typeface="Aptos Display"/>
                <a:ea typeface="Aptos Display"/>
                <a:cs typeface="Aptos Display"/>
              </a:rPr>
              <a:t>5. VS Code demo of the verified project</a:t>
            </a:r>
          </a:p>
        </p:txBody>
      </p:sp>
    </p:spTree>
    <p:extLst>
      <p:ext uri="{BB962C8B-B14F-4D97-AF65-F5344CB8AC3E}">
        <p14:creationId xmlns:p14="http://schemas.microsoft.com/office/powerpoint/2010/main" val="2106569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522FF20-FAB8-4D92-BD73-6F89F974DA33}"/>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97A6F968-3ED7-494E-AC9D-EDC7F6F9BC71}"/>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812D5A4F-56CD-4823-90FD-A1A37748C719}"/>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PART 1</a:t>
            </a:r>
          </a:p>
        </p:txBody>
      </p:sp>
      <p:sp>
        <p:nvSpPr>
          <p:cNvPr id="4" name="Rectangle 3">
            <a:extLst>
              <a:ext uri="{FF2B5EF4-FFF2-40B4-BE49-F238E27FC236}">
                <a16:creationId xmlns:a16="http://schemas.microsoft.com/office/drawing/2014/main" id="{5190566E-F8D0-4CA5-98CB-DB1B56B17E33}"/>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Introduction and background</a:t>
            </a:r>
          </a:p>
        </p:txBody>
      </p:sp>
      <p:sp>
        <p:nvSpPr>
          <p:cNvPr id="5" name="Rectangle 4">
            <a:extLst>
              <a:ext uri="{FF2B5EF4-FFF2-40B4-BE49-F238E27FC236}">
                <a16:creationId xmlns:a16="http://schemas.microsoft.com/office/drawing/2014/main" id="{62EE6E60-A18B-46C0-A8AD-B0F65DEFEC02}"/>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AB75DD09-2470-48CD-BD11-0FC5C88D5DFA}"/>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1E503D44-1329-4B53-8FCE-E853E651C482}"/>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03</a:t>
            </a:r>
          </a:p>
        </p:txBody>
      </p:sp>
      <p:sp>
        <p:nvSpPr>
          <p:cNvPr id="8" name="Rectangle 7">
            <a:extLst>
              <a:ext uri="{FF2B5EF4-FFF2-40B4-BE49-F238E27FC236}">
                <a16:creationId xmlns:a16="http://schemas.microsoft.com/office/drawing/2014/main" id="{1E6DB7EF-086A-47AB-8386-1CE704CDDD4F}"/>
              </a:ext>
            </a:extLst>
          </p:cNvPr>
          <p:cNvSpPr>
            <a:spLocks noGrp="1"/>
          </p:cNvSpPr>
          <p:nvPr/>
        </p:nvSpPr>
        <p:spPr>
          <a:xfrm>
            <a:off x="0" y="0"/>
            <a:ext cx="12192000" cy="6858000"/>
          </a:xfrm>
          <a:prstGeom prst="rect">
            <a:avLst/>
          </a:prstGeom>
          <a:solidFill>
            <a:srgbClr val="111827"/>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4FA082E2-E75B-4D54-9218-240DDD650380}"/>
              </a:ext>
            </a:extLst>
          </p:cNvPr>
          <p:cNvSpPr>
            <a:spLocks noGrp="1"/>
          </p:cNvSpPr>
          <p:nvPr/>
        </p:nvSpPr>
        <p:spPr>
          <a:xfrm>
            <a:off x="0" y="0"/>
            <a:ext cx="171450" cy="6858000"/>
          </a:xfrm>
          <a:prstGeom prst="rect">
            <a:avLst/>
          </a:prstGeom>
          <a:solidFill>
            <a:srgbClr val="C0923A"/>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E7764BE3-4685-4C62-A4F2-4711874CB8A7}"/>
              </a:ext>
            </a:extLst>
          </p:cNvPr>
          <p:cNvSpPr>
            <a:spLocks noGrp="1"/>
          </p:cNvSpPr>
          <p:nvPr/>
        </p:nvSpPr>
        <p:spPr>
          <a:xfrm>
            <a:off x="838200" y="10668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C0923A"/>
                </a:solidFill>
                <a:latin typeface="Aptos"/>
                <a:ea typeface="Aptos"/>
                <a:cs typeface="Aptos"/>
              </a:defRPr>
            </a:pPr>
            <a:r>
              <a:rPr sz="1350" b="1">
                <a:solidFill>
                  <a:srgbClr val="C0923A"/>
                </a:solidFill>
                <a:latin typeface="Aptos"/>
                <a:ea typeface="Aptos"/>
                <a:cs typeface="Aptos"/>
              </a:rPr>
              <a:t>Part 1</a:t>
            </a:r>
          </a:p>
        </p:txBody>
      </p:sp>
      <p:sp>
        <p:nvSpPr>
          <p:cNvPr id="11" name="Rectangle 10">
            <a:extLst>
              <a:ext uri="{FF2B5EF4-FFF2-40B4-BE49-F238E27FC236}">
                <a16:creationId xmlns:a16="http://schemas.microsoft.com/office/drawing/2014/main" id="{132419B9-5046-4EC1-8C9E-AC0BFBCFC8FA}"/>
              </a:ext>
            </a:extLst>
          </p:cNvPr>
          <p:cNvSpPr>
            <a:spLocks noGrp="1"/>
          </p:cNvSpPr>
          <p:nvPr/>
        </p:nvSpPr>
        <p:spPr>
          <a:xfrm>
            <a:off x="838200" y="2000250"/>
            <a:ext cx="895350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525" b="1">
                <a:solidFill>
                  <a:srgbClr val="FFFFFF"/>
                </a:solidFill>
                <a:latin typeface="Aptos Display"/>
                <a:ea typeface="Aptos Display"/>
                <a:cs typeface="Aptos Display"/>
              </a:defRPr>
            </a:pPr>
            <a:r>
              <a:rPr sz="3525" b="1">
                <a:solidFill>
                  <a:srgbClr val="FFFFFF"/>
                </a:solidFill>
                <a:latin typeface="Aptos Display"/>
                <a:ea typeface="Aptos Display"/>
                <a:cs typeface="Aptos Display"/>
              </a:rPr>
              <a:t>Introduction and background</a:t>
            </a:r>
          </a:p>
        </p:txBody>
      </p:sp>
      <p:sp>
        <p:nvSpPr>
          <p:cNvPr id="12" name="Rectangle 11">
            <a:extLst>
              <a:ext uri="{FF2B5EF4-FFF2-40B4-BE49-F238E27FC236}">
                <a16:creationId xmlns:a16="http://schemas.microsoft.com/office/drawing/2014/main" id="{B44143F3-EE62-4F1A-BDA3-62CEE2704BE5}"/>
              </a:ext>
            </a:extLst>
          </p:cNvPr>
          <p:cNvSpPr>
            <a:spLocks noGrp="1"/>
          </p:cNvSpPr>
          <p:nvPr/>
        </p:nvSpPr>
        <p:spPr>
          <a:xfrm>
            <a:off x="876300" y="3638550"/>
            <a:ext cx="8096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D8DDE7"/>
                </a:solidFill>
                <a:latin typeface="Aptos"/>
                <a:ea typeface="Aptos"/>
                <a:cs typeface="Aptos"/>
              </a:defRPr>
            </a:pPr>
            <a:r>
              <a:rPr sz="1800" b="0">
                <a:solidFill>
                  <a:srgbClr val="D8DDE7"/>
                </a:solidFill>
                <a:latin typeface="Aptos"/>
                <a:ea typeface="Aptos"/>
                <a:cs typeface="Aptos"/>
              </a:rPr>
              <a:t>Why learning theory needs generalization guarantees.</a:t>
            </a:r>
          </a:p>
        </p:txBody>
      </p:sp>
      <p:sp>
        <p:nvSpPr>
          <p:cNvPr id="13" name="Rectangle 12">
            <a:extLst>
              <a:ext uri="{FF2B5EF4-FFF2-40B4-BE49-F238E27FC236}">
                <a16:creationId xmlns:a16="http://schemas.microsoft.com/office/drawing/2014/main" id="{CE2DA5DE-1680-43FD-B8BC-0AD2AA77B6CE}"/>
              </a:ext>
            </a:extLst>
          </p:cNvPr>
          <p:cNvSpPr>
            <a:spLocks noGrp="1"/>
          </p:cNvSpPr>
          <p:nvPr/>
        </p:nvSpPr>
        <p:spPr>
          <a:xfrm>
            <a:off x="10477500" y="6000750"/>
            <a:ext cx="571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D8DDE7"/>
                </a:solidFill>
                <a:latin typeface="Aptos"/>
                <a:ea typeface="Aptos"/>
                <a:cs typeface="Aptos"/>
              </a:defRPr>
            </a:pPr>
            <a:r>
              <a:rPr sz="1275" b="1">
                <a:solidFill>
                  <a:srgbClr val="D8DDE7"/>
                </a:solidFill>
                <a:latin typeface="Aptos"/>
                <a:ea typeface="Aptos"/>
                <a:cs typeface="Aptos"/>
              </a:rPr>
              <a:t>03</a:t>
            </a:r>
          </a:p>
        </p:txBody>
      </p:sp>
    </p:spTree>
    <p:extLst>
      <p:ext uri="{BB962C8B-B14F-4D97-AF65-F5344CB8AC3E}">
        <p14:creationId xmlns:p14="http://schemas.microsoft.com/office/powerpoint/2010/main" val="854240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836890C-BB6A-42A6-8021-CBF62A88C415}"/>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C195B2E-FF3D-4EE1-BFCC-3CDCE3764FE5}"/>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52DE6D37-435D-4925-B338-98E10E905124}"/>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MOTIVATION</a:t>
            </a:r>
          </a:p>
        </p:txBody>
      </p:sp>
      <p:sp>
        <p:nvSpPr>
          <p:cNvPr id="4" name="Rectangle 3">
            <a:extLst>
              <a:ext uri="{FF2B5EF4-FFF2-40B4-BE49-F238E27FC236}">
                <a16:creationId xmlns:a16="http://schemas.microsoft.com/office/drawing/2014/main" id="{CBF6DD11-BEA6-4971-985E-85A4FF0630A6}"/>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Training accuracy does not by itself prove future performance.</a:t>
            </a:r>
          </a:p>
        </p:txBody>
      </p:sp>
      <p:sp>
        <p:nvSpPr>
          <p:cNvPr id="5" name="Rectangle 4">
            <a:extLst>
              <a:ext uri="{FF2B5EF4-FFF2-40B4-BE49-F238E27FC236}">
                <a16:creationId xmlns:a16="http://schemas.microsoft.com/office/drawing/2014/main" id="{54E32FE2-63D0-49B7-976B-9DF789623C03}"/>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A098DB5C-ADDC-4D40-AFBD-4A84239B8EE3}"/>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259FF2E9-B7F8-43A6-8EC1-998C142AA66C}"/>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04</a:t>
            </a:r>
          </a:p>
        </p:txBody>
      </p:sp>
      <p:sp>
        <p:nvSpPr>
          <p:cNvPr id="8" name="Rectangle 7">
            <a:extLst>
              <a:ext uri="{FF2B5EF4-FFF2-40B4-BE49-F238E27FC236}">
                <a16:creationId xmlns:a16="http://schemas.microsoft.com/office/drawing/2014/main" id="{D5C60CAA-10C3-4F28-AC6B-B19F6DD820BB}"/>
              </a:ext>
            </a:extLst>
          </p:cNvPr>
          <p:cNvSpPr>
            <a:spLocks noGrp="1"/>
          </p:cNvSpPr>
          <p:nvPr/>
        </p:nvSpPr>
        <p:spPr>
          <a:xfrm>
            <a:off x="781050" y="2247900"/>
            <a:ext cx="2857500" cy="2095500"/>
          </a:xfrm>
          <a:prstGeom prst="rect">
            <a:avLst/>
          </a:prstGeom>
          <a:solidFill>
            <a:srgbClr val="EAF4F8"/>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754E28AB-B094-4D16-A485-5BE1E7DBF59E}"/>
              </a:ext>
            </a:extLst>
          </p:cNvPr>
          <p:cNvSpPr>
            <a:spLocks noGrp="1"/>
          </p:cNvSpPr>
          <p:nvPr/>
        </p:nvSpPr>
        <p:spPr>
          <a:xfrm>
            <a:off x="9906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Training data</a:t>
            </a:r>
          </a:p>
        </p:txBody>
      </p:sp>
      <p:sp>
        <p:nvSpPr>
          <p:cNvPr id="10" name="Rectangle 9">
            <a:extLst>
              <a:ext uri="{FF2B5EF4-FFF2-40B4-BE49-F238E27FC236}">
                <a16:creationId xmlns:a16="http://schemas.microsoft.com/office/drawing/2014/main" id="{4FFA303F-7BC8-4AAF-98AF-B6F60A62977F}"/>
              </a:ext>
            </a:extLst>
          </p:cNvPr>
          <p:cNvSpPr>
            <a:spLocks noGrp="1"/>
          </p:cNvSpPr>
          <p:nvPr/>
        </p:nvSpPr>
        <p:spPr>
          <a:xfrm>
            <a:off x="9906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A classifier can fit examples it has already seen.</a:t>
            </a:r>
          </a:p>
        </p:txBody>
      </p:sp>
      <p:sp>
        <p:nvSpPr>
          <p:cNvPr id="11" name="Rectangle 10">
            <a:extLst>
              <a:ext uri="{FF2B5EF4-FFF2-40B4-BE49-F238E27FC236}">
                <a16:creationId xmlns:a16="http://schemas.microsoft.com/office/drawing/2014/main" id="{4E23B354-B001-47C8-B27A-2E0647398384}"/>
              </a:ext>
            </a:extLst>
          </p:cNvPr>
          <p:cNvSpPr>
            <a:spLocks noGrp="1"/>
          </p:cNvSpPr>
          <p:nvPr/>
        </p:nvSpPr>
        <p:spPr>
          <a:xfrm>
            <a:off x="4114800" y="2247900"/>
            <a:ext cx="2857500" cy="2095500"/>
          </a:xfrm>
          <a:prstGeom prst="rect">
            <a:avLst/>
          </a:prstGeom>
          <a:solidFill>
            <a:srgbClr val="EDF7F0"/>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7DBA4905-2382-4FC9-8FF1-B1639D05A528}"/>
              </a:ext>
            </a:extLst>
          </p:cNvPr>
          <p:cNvSpPr>
            <a:spLocks noGrp="1"/>
          </p:cNvSpPr>
          <p:nvPr/>
        </p:nvSpPr>
        <p:spPr>
          <a:xfrm>
            <a:off x="432435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F7D57"/>
                </a:solidFill>
                <a:latin typeface="Aptos"/>
                <a:ea typeface="Aptos"/>
                <a:cs typeface="Aptos"/>
              </a:defRPr>
            </a:pPr>
            <a:r>
              <a:rPr sz="1275" b="1">
                <a:solidFill>
                  <a:srgbClr val="2F7D57"/>
                </a:solidFill>
                <a:latin typeface="Aptos"/>
                <a:ea typeface="Aptos"/>
                <a:cs typeface="Aptos"/>
              </a:rPr>
              <a:t>Future data</a:t>
            </a:r>
          </a:p>
        </p:txBody>
      </p:sp>
      <p:sp>
        <p:nvSpPr>
          <p:cNvPr id="13" name="Rectangle 12">
            <a:extLst>
              <a:ext uri="{FF2B5EF4-FFF2-40B4-BE49-F238E27FC236}">
                <a16:creationId xmlns:a16="http://schemas.microsoft.com/office/drawing/2014/main" id="{C6DA99C3-0D75-4D2F-B187-29F432B6DFA4}"/>
              </a:ext>
            </a:extLst>
          </p:cNvPr>
          <p:cNvSpPr>
            <a:spLocks noGrp="1"/>
          </p:cNvSpPr>
          <p:nvPr/>
        </p:nvSpPr>
        <p:spPr>
          <a:xfrm>
            <a:off x="432435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The real goal is performance on new samples from the same distribution.</a:t>
            </a:r>
          </a:p>
        </p:txBody>
      </p:sp>
      <p:sp>
        <p:nvSpPr>
          <p:cNvPr id="14" name="Rectangle 13">
            <a:extLst>
              <a:ext uri="{FF2B5EF4-FFF2-40B4-BE49-F238E27FC236}">
                <a16:creationId xmlns:a16="http://schemas.microsoft.com/office/drawing/2014/main" id="{D60DF2BA-6AB7-4D76-912D-AF982F80BBCE}"/>
              </a:ext>
            </a:extLst>
          </p:cNvPr>
          <p:cNvSpPr>
            <a:spLocks noGrp="1"/>
          </p:cNvSpPr>
          <p:nvPr/>
        </p:nvSpPr>
        <p:spPr>
          <a:xfrm>
            <a:off x="7448550" y="2247900"/>
            <a:ext cx="2857500" cy="2095500"/>
          </a:xfrm>
          <a:prstGeom prst="rect">
            <a:avLst/>
          </a:prstGeom>
          <a:solidFill>
            <a:srgbClr val="FFF6DF"/>
          </a:solidFill>
          <a:ln w="9525">
            <a:solidFill>
              <a:srgbClr val="D8D2C8"/>
            </a:solidFill>
            <a:prstDash val="solid"/>
          </a:ln>
        </p:spPr>
        <p:txBody>
          <a:bodyPr/>
          <a:lstStyle/>
          <a:p>
            <a:endParaRPr lang="en-US"/>
          </a:p>
        </p:txBody>
      </p:sp>
      <p:sp>
        <p:nvSpPr>
          <p:cNvPr id="15" name="Rectangle 14">
            <a:extLst>
              <a:ext uri="{FF2B5EF4-FFF2-40B4-BE49-F238E27FC236}">
                <a16:creationId xmlns:a16="http://schemas.microsoft.com/office/drawing/2014/main" id="{EE7C166A-41CF-46AE-9158-0818EF2EB7BF}"/>
              </a:ext>
            </a:extLst>
          </p:cNvPr>
          <p:cNvSpPr>
            <a:spLocks noGrp="1"/>
          </p:cNvSpPr>
          <p:nvPr/>
        </p:nvSpPr>
        <p:spPr>
          <a:xfrm>
            <a:off x="76581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C0923A"/>
                </a:solidFill>
                <a:latin typeface="Aptos"/>
                <a:ea typeface="Aptos"/>
                <a:cs typeface="Aptos"/>
              </a:defRPr>
            </a:pPr>
            <a:r>
              <a:rPr sz="1275" b="1">
                <a:solidFill>
                  <a:srgbClr val="C0923A"/>
                </a:solidFill>
                <a:latin typeface="Aptos"/>
                <a:ea typeface="Aptos"/>
                <a:cs typeface="Aptos"/>
              </a:rPr>
              <a:t>Learning theory</a:t>
            </a:r>
          </a:p>
        </p:txBody>
      </p:sp>
      <p:sp>
        <p:nvSpPr>
          <p:cNvPr id="16" name="Rectangle 15">
            <a:extLst>
              <a:ext uri="{FF2B5EF4-FFF2-40B4-BE49-F238E27FC236}">
                <a16:creationId xmlns:a16="http://schemas.microsoft.com/office/drawing/2014/main" id="{97DD8BDE-758D-482F-8023-37290D0E478D}"/>
              </a:ext>
            </a:extLst>
          </p:cNvPr>
          <p:cNvSpPr>
            <a:spLocks noGrp="1"/>
          </p:cNvSpPr>
          <p:nvPr/>
        </p:nvSpPr>
        <p:spPr>
          <a:xfrm>
            <a:off x="76581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A theorem states when empirical success transfers to true success.</a:t>
            </a:r>
          </a:p>
        </p:txBody>
      </p:sp>
    </p:spTree>
    <p:extLst>
      <p:ext uri="{BB962C8B-B14F-4D97-AF65-F5344CB8AC3E}">
        <p14:creationId xmlns:p14="http://schemas.microsoft.com/office/powerpoint/2010/main" val="161346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185BC26-0DB6-43B8-AE86-FF097A46CE7A}"/>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94DE031F-E5C0-4EAA-A16C-EE8D659ED17D}"/>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456B2085-322C-4B2B-B2E2-4E5BA400DD40}"/>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FINITE CLASSES</a:t>
            </a:r>
          </a:p>
        </p:txBody>
      </p:sp>
      <p:sp>
        <p:nvSpPr>
          <p:cNvPr id="4" name="Rectangle 3">
            <a:extLst>
              <a:ext uri="{FF2B5EF4-FFF2-40B4-BE49-F238E27FC236}">
                <a16:creationId xmlns:a16="http://schemas.microsoft.com/office/drawing/2014/main" id="{50566082-B6BF-4C79-9702-6AAE3F97A8CE}"/>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Finite hypothesis classes are the clean first place to prove learnability.</a:t>
            </a:r>
          </a:p>
        </p:txBody>
      </p:sp>
      <p:sp>
        <p:nvSpPr>
          <p:cNvPr id="5" name="Rectangle 4">
            <a:extLst>
              <a:ext uri="{FF2B5EF4-FFF2-40B4-BE49-F238E27FC236}">
                <a16:creationId xmlns:a16="http://schemas.microsoft.com/office/drawing/2014/main" id="{6AAF4275-27EF-44F9-A62A-DFD44E01E6F9}"/>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32F58C57-EC1C-4C21-ACD5-AFF383690313}"/>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2E65F0CA-F18F-45EC-9511-C9E7301CCDD7}"/>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05</a:t>
            </a:r>
          </a:p>
        </p:txBody>
      </p:sp>
      <p:sp>
        <p:nvSpPr>
          <p:cNvPr id="8" name="Rectangle 7">
            <a:extLst>
              <a:ext uri="{FF2B5EF4-FFF2-40B4-BE49-F238E27FC236}">
                <a16:creationId xmlns:a16="http://schemas.microsoft.com/office/drawing/2014/main" id="{EE6A8401-7F9E-4793-98EB-8FE27695772E}"/>
              </a:ext>
            </a:extLst>
          </p:cNvPr>
          <p:cNvSpPr>
            <a:spLocks noGrp="1"/>
          </p:cNvSpPr>
          <p:nvPr/>
        </p:nvSpPr>
        <p:spPr>
          <a:xfrm>
            <a:off x="552450" y="2381250"/>
            <a:ext cx="1676400" cy="1181100"/>
          </a:xfrm>
          <a:prstGeom prst="rect">
            <a:avLst/>
          </a:prstGeom>
          <a:solidFill>
            <a:srgbClr val="EAF4F8"/>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843C5096-CF2C-4A68-85C4-78A770C55CFB}"/>
              </a:ext>
            </a:extLst>
          </p:cNvPr>
          <p:cNvSpPr>
            <a:spLocks noGrp="1"/>
          </p:cNvSpPr>
          <p:nvPr/>
        </p:nvSpPr>
        <p:spPr>
          <a:xfrm>
            <a:off x="7620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1</a:t>
            </a:r>
          </a:p>
        </p:txBody>
      </p:sp>
      <p:sp>
        <p:nvSpPr>
          <p:cNvPr id="10" name="Rectangle 9">
            <a:extLst>
              <a:ext uri="{FF2B5EF4-FFF2-40B4-BE49-F238E27FC236}">
                <a16:creationId xmlns:a16="http://schemas.microsoft.com/office/drawing/2014/main" id="{7034017B-FFB4-4878-AFD9-3AA8748B2055}"/>
              </a:ext>
            </a:extLst>
          </p:cNvPr>
          <p:cNvSpPr>
            <a:spLocks noGrp="1"/>
          </p:cNvSpPr>
          <p:nvPr/>
        </p:nvSpPr>
        <p:spPr>
          <a:xfrm>
            <a:off x="7620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finite ℋ</a:t>
            </a:r>
          </a:p>
        </p:txBody>
      </p:sp>
      <p:sp>
        <p:nvSpPr>
          <p:cNvPr id="11" name="Rectangle 10">
            <a:extLst>
              <a:ext uri="{FF2B5EF4-FFF2-40B4-BE49-F238E27FC236}">
                <a16:creationId xmlns:a16="http://schemas.microsoft.com/office/drawing/2014/main" id="{2B479C4D-1D78-4340-94F0-7C73FBC681F0}"/>
              </a:ext>
            </a:extLst>
          </p:cNvPr>
          <p:cNvSpPr>
            <a:spLocks noGrp="1"/>
          </p:cNvSpPr>
          <p:nvPr/>
        </p:nvSpPr>
        <p:spPr>
          <a:xfrm>
            <a:off x="22860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37D188DB-AEA5-469E-A256-E40564D8C7F4}"/>
              </a:ext>
            </a:extLst>
          </p:cNvPr>
          <p:cNvSpPr>
            <a:spLocks noGrp="1"/>
          </p:cNvSpPr>
          <p:nvPr/>
        </p:nvSpPr>
        <p:spPr>
          <a:xfrm>
            <a:off x="24574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B2393DA0-8DC1-4974-B82E-30D7E74D638E}"/>
              </a:ext>
            </a:extLst>
          </p:cNvPr>
          <p:cNvSpPr>
            <a:spLocks noGrp="1"/>
          </p:cNvSpPr>
          <p:nvPr/>
        </p:nvSpPr>
        <p:spPr>
          <a:xfrm>
            <a:off x="2609850" y="2381250"/>
            <a:ext cx="1676400" cy="1181100"/>
          </a:xfrm>
          <a:prstGeom prst="rect">
            <a:avLst/>
          </a:prstGeom>
          <a:solidFill>
            <a:srgbClr val="FFF6DF"/>
          </a:solidFill>
          <a:ln w="9525">
            <a:solidFill>
              <a:srgbClr val="D8D2C8"/>
            </a:solidFill>
            <a:prstDash val="solid"/>
          </a:ln>
        </p:spPr>
        <p:txBody>
          <a:bodyPr/>
          <a:lstStyle/>
          <a:p>
            <a:endParaRPr lang="en-US"/>
          </a:p>
        </p:txBody>
      </p:sp>
      <p:sp>
        <p:nvSpPr>
          <p:cNvPr id="14" name="Rectangle 13">
            <a:extLst>
              <a:ext uri="{FF2B5EF4-FFF2-40B4-BE49-F238E27FC236}">
                <a16:creationId xmlns:a16="http://schemas.microsoft.com/office/drawing/2014/main" id="{29555707-1387-4DBA-846F-4737317BFE1A}"/>
              </a:ext>
            </a:extLst>
          </p:cNvPr>
          <p:cNvSpPr>
            <a:spLocks noGrp="1"/>
          </p:cNvSpPr>
          <p:nvPr/>
        </p:nvSpPr>
        <p:spPr>
          <a:xfrm>
            <a:off x="28194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2</a:t>
            </a:r>
          </a:p>
        </p:txBody>
      </p:sp>
      <p:sp>
        <p:nvSpPr>
          <p:cNvPr id="15" name="Rectangle 14">
            <a:extLst>
              <a:ext uri="{FF2B5EF4-FFF2-40B4-BE49-F238E27FC236}">
                <a16:creationId xmlns:a16="http://schemas.microsoft.com/office/drawing/2014/main" id="{F881ED38-B8D5-4FF1-934A-3BAD51F2F4CF}"/>
              </a:ext>
            </a:extLst>
          </p:cNvPr>
          <p:cNvSpPr>
            <a:spLocks noGrp="1"/>
          </p:cNvSpPr>
          <p:nvPr/>
        </p:nvSpPr>
        <p:spPr>
          <a:xfrm>
            <a:off x="28194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sample S</a:t>
            </a:r>
          </a:p>
        </p:txBody>
      </p:sp>
      <p:sp>
        <p:nvSpPr>
          <p:cNvPr id="16" name="Rectangle 15">
            <a:extLst>
              <a:ext uri="{FF2B5EF4-FFF2-40B4-BE49-F238E27FC236}">
                <a16:creationId xmlns:a16="http://schemas.microsoft.com/office/drawing/2014/main" id="{136B6801-2F43-413F-807B-FECB93BAA3A3}"/>
              </a:ext>
            </a:extLst>
          </p:cNvPr>
          <p:cNvSpPr>
            <a:spLocks noGrp="1"/>
          </p:cNvSpPr>
          <p:nvPr/>
        </p:nvSpPr>
        <p:spPr>
          <a:xfrm>
            <a:off x="43434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3A0A8F00-8427-43CE-9973-3AFCF56FDF4B}"/>
              </a:ext>
            </a:extLst>
          </p:cNvPr>
          <p:cNvSpPr>
            <a:spLocks noGrp="1"/>
          </p:cNvSpPr>
          <p:nvPr/>
        </p:nvSpPr>
        <p:spPr>
          <a:xfrm>
            <a:off x="45148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0BAB8BFE-595D-49D3-B304-E857BFFF04C8}"/>
              </a:ext>
            </a:extLst>
          </p:cNvPr>
          <p:cNvSpPr>
            <a:spLocks noGrp="1"/>
          </p:cNvSpPr>
          <p:nvPr/>
        </p:nvSpPr>
        <p:spPr>
          <a:xfrm>
            <a:off x="4667250" y="2381250"/>
            <a:ext cx="1676400" cy="1181100"/>
          </a:xfrm>
          <a:prstGeom prst="rect">
            <a:avLst/>
          </a:prstGeom>
          <a:solidFill>
            <a:srgbClr val="EAF4F8"/>
          </a:solidFill>
          <a:ln w="9525">
            <a:solidFill>
              <a:srgbClr val="D8D2C8"/>
            </a:solidFill>
            <a:prstDash val="solid"/>
          </a:ln>
        </p:spPr>
        <p:txBody>
          <a:bodyPr/>
          <a:lstStyle/>
          <a:p>
            <a:endParaRPr lang="en-US"/>
          </a:p>
        </p:txBody>
      </p:sp>
      <p:sp>
        <p:nvSpPr>
          <p:cNvPr id="19" name="Rectangle 18">
            <a:extLst>
              <a:ext uri="{FF2B5EF4-FFF2-40B4-BE49-F238E27FC236}">
                <a16:creationId xmlns:a16="http://schemas.microsoft.com/office/drawing/2014/main" id="{9F43B976-DAAF-434A-BB2A-609CCD67DEDC}"/>
              </a:ext>
            </a:extLst>
          </p:cNvPr>
          <p:cNvSpPr>
            <a:spLocks noGrp="1"/>
          </p:cNvSpPr>
          <p:nvPr/>
        </p:nvSpPr>
        <p:spPr>
          <a:xfrm>
            <a:off x="48768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3</a:t>
            </a:r>
          </a:p>
        </p:txBody>
      </p:sp>
      <p:sp>
        <p:nvSpPr>
          <p:cNvPr id="20" name="Rectangle 19">
            <a:extLst>
              <a:ext uri="{FF2B5EF4-FFF2-40B4-BE49-F238E27FC236}">
                <a16:creationId xmlns:a16="http://schemas.microsoft.com/office/drawing/2014/main" id="{324BFBC0-6BEF-4DC1-89C1-A78AD9CA01B2}"/>
              </a:ext>
            </a:extLst>
          </p:cNvPr>
          <p:cNvSpPr>
            <a:spLocks noGrp="1"/>
          </p:cNvSpPr>
          <p:nvPr/>
        </p:nvSpPr>
        <p:spPr>
          <a:xfrm>
            <a:off x="48768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Lₛ(h)</a:t>
            </a:r>
          </a:p>
        </p:txBody>
      </p:sp>
      <p:sp>
        <p:nvSpPr>
          <p:cNvPr id="21" name="Rectangle 20">
            <a:extLst>
              <a:ext uri="{FF2B5EF4-FFF2-40B4-BE49-F238E27FC236}">
                <a16:creationId xmlns:a16="http://schemas.microsoft.com/office/drawing/2014/main" id="{79143B25-7CB6-40B2-AA27-4BA8823A8794}"/>
              </a:ext>
            </a:extLst>
          </p:cNvPr>
          <p:cNvSpPr>
            <a:spLocks noGrp="1"/>
          </p:cNvSpPr>
          <p:nvPr/>
        </p:nvSpPr>
        <p:spPr>
          <a:xfrm>
            <a:off x="64008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DF5CA544-6036-4661-B86B-2A81BAF3AB7D}"/>
              </a:ext>
            </a:extLst>
          </p:cNvPr>
          <p:cNvSpPr>
            <a:spLocks noGrp="1"/>
          </p:cNvSpPr>
          <p:nvPr/>
        </p:nvSpPr>
        <p:spPr>
          <a:xfrm>
            <a:off x="65722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70DB0330-586D-4A21-BF01-EFDFF7061FB0}"/>
              </a:ext>
            </a:extLst>
          </p:cNvPr>
          <p:cNvSpPr>
            <a:spLocks noGrp="1"/>
          </p:cNvSpPr>
          <p:nvPr/>
        </p:nvSpPr>
        <p:spPr>
          <a:xfrm>
            <a:off x="6724650" y="2381250"/>
            <a:ext cx="1676400" cy="1181100"/>
          </a:xfrm>
          <a:prstGeom prst="rect">
            <a:avLst/>
          </a:prstGeom>
          <a:solidFill>
            <a:srgbClr val="FFF6DF"/>
          </a:solidFill>
          <a:ln w="9525">
            <a:solidFill>
              <a:srgbClr val="D8D2C8"/>
            </a:solidFill>
            <a:prstDash val="solid"/>
          </a:ln>
        </p:spPr>
        <p:txBody>
          <a:bodyPr/>
          <a:lstStyle/>
          <a:p>
            <a:endParaRPr lang="en-US"/>
          </a:p>
        </p:txBody>
      </p:sp>
      <p:sp>
        <p:nvSpPr>
          <p:cNvPr id="24" name="Rectangle 23">
            <a:extLst>
              <a:ext uri="{FF2B5EF4-FFF2-40B4-BE49-F238E27FC236}">
                <a16:creationId xmlns:a16="http://schemas.microsoft.com/office/drawing/2014/main" id="{1609902A-ADBA-4FBB-9300-98FC19094A8B}"/>
              </a:ext>
            </a:extLst>
          </p:cNvPr>
          <p:cNvSpPr>
            <a:spLocks noGrp="1"/>
          </p:cNvSpPr>
          <p:nvPr/>
        </p:nvSpPr>
        <p:spPr>
          <a:xfrm>
            <a:off x="69342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4</a:t>
            </a:r>
          </a:p>
        </p:txBody>
      </p:sp>
      <p:sp>
        <p:nvSpPr>
          <p:cNvPr id="25" name="Rectangle 24">
            <a:extLst>
              <a:ext uri="{FF2B5EF4-FFF2-40B4-BE49-F238E27FC236}">
                <a16:creationId xmlns:a16="http://schemas.microsoft.com/office/drawing/2014/main" id="{5ED7CE3F-2850-4B32-9CB9-A568CD563826}"/>
              </a:ext>
            </a:extLst>
          </p:cNvPr>
          <p:cNvSpPr>
            <a:spLocks noGrp="1"/>
          </p:cNvSpPr>
          <p:nvPr/>
        </p:nvSpPr>
        <p:spPr>
          <a:xfrm>
            <a:off x="69342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ERM</a:t>
            </a:r>
          </a:p>
        </p:txBody>
      </p:sp>
      <p:sp>
        <p:nvSpPr>
          <p:cNvPr id="26" name="Rectangle 25">
            <a:extLst>
              <a:ext uri="{FF2B5EF4-FFF2-40B4-BE49-F238E27FC236}">
                <a16:creationId xmlns:a16="http://schemas.microsoft.com/office/drawing/2014/main" id="{E8AFD324-C6E6-4C8A-9A31-82526D88267F}"/>
              </a:ext>
            </a:extLst>
          </p:cNvPr>
          <p:cNvSpPr>
            <a:spLocks noGrp="1"/>
          </p:cNvSpPr>
          <p:nvPr/>
        </p:nvSpPr>
        <p:spPr>
          <a:xfrm>
            <a:off x="84582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77D71F8F-CE5F-451B-AA1F-420714355C5F}"/>
              </a:ext>
            </a:extLst>
          </p:cNvPr>
          <p:cNvSpPr>
            <a:spLocks noGrp="1"/>
          </p:cNvSpPr>
          <p:nvPr/>
        </p:nvSpPr>
        <p:spPr>
          <a:xfrm>
            <a:off x="86296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37E604E0-981E-4A1C-95D6-5B31352A2706}"/>
              </a:ext>
            </a:extLst>
          </p:cNvPr>
          <p:cNvSpPr>
            <a:spLocks noGrp="1"/>
          </p:cNvSpPr>
          <p:nvPr/>
        </p:nvSpPr>
        <p:spPr>
          <a:xfrm>
            <a:off x="8782050" y="2381250"/>
            <a:ext cx="1676400" cy="1181100"/>
          </a:xfrm>
          <a:prstGeom prst="rect">
            <a:avLst/>
          </a:prstGeom>
          <a:solidFill>
            <a:srgbClr val="EAF4F8"/>
          </a:solidFill>
          <a:ln w="9525">
            <a:solidFill>
              <a:srgbClr val="D8D2C8"/>
            </a:solidFill>
            <a:prstDash val="solid"/>
          </a:ln>
        </p:spPr>
        <p:txBody>
          <a:bodyPr/>
          <a:lstStyle/>
          <a:p>
            <a:endParaRPr lang="en-US"/>
          </a:p>
        </p:txBody>
      </p:sp>
      <p:sp>
        <p:nvSpPr>
          <p:cNvPr id="29" name="Rectangle 28">
            <a:extLst>
              <a:ext uri="{FF2B5EF4-FFF2-40B4-BE49-F238E27FC236}">
                <a16:creationId xmlns:a16="http://schemas.microsoft.com/office/drawing/2014/main" id="{C5EAD93B-5CCD-45C4-AF73-841710B1E1F6}"/>
              </a:ext>
            </a:extLst>
          </p:cNvPr>
          <p:cNvSpPr>
            <a:spLocks noGrp="1"/>
          </p:cNvSpPr>
          <p:nvPr/>
        </p:nvSpPr>
        <p:spPr>
          <a:xfrm>
            <a:off x="89916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5</a:t>
            </a:r>
          </a:p>
        </p:txBody>
      </p:sp>
      <p:sp>
        <p:nvSpPr>
          <p:cNvPr id="30" name="Rectangle 29">
            <a:extLst>
              <a:ext uri="{FF2B5EF4-FFF2-40B4-BE49-F238E27FC236}">
                <a16:creationId xmlns:a16="http://schemas.microsoft.com/office/drawing/2014/main" id="{55F1A9D5-B447-4330-A58A-465F45F44ABF}"/>
              </a:ext>
            </a:extLst>
          </p:cNvPr>
          <p:cNvSpPr>
            <a:spLocks noGrp="1"/>
          </p:cNvSpPr>
          <p:nvPr/>
        </p:nvSpPr>
        <p:spPr>
          <a:xfrm>
            <a:off x="89916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L𝒟 guarantee</a:t>
            </a:r>
          </a:p>
        </p:txBody>
      </p:sp>
      <p:sp>
        <p:nvSpPr>
          <p:cNvPr id="31" name="Rectangle 30">
            <a:extLst>
              <a:ext uri="{FF2B5EF4-FFF2-40B4-BE49-F238E27FC236}">
                <a16:creationId xmlns:a16="http://schemas.microsoft.com/office/drawing/2014/main" id="{35574BB7-64EA-4C2F-84FB-69383896492F}"/>
              </a:ext>
            </a:extLst>
          </p:cNvPr>
          <p:cNvSpPr>
            <a:spLocks noGrp="1"/>
          </p:cNvSpPr>
          <p:nvPr/>
        </p:nvSpPr>
        <p:spPr>
          <a:xfrm>
            <a:off x="990600" y="4667250"/>
            <a:ext cx="87630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The finite-class assumption lets the proof union-bound over all hypotheses in ℋ.</a:t>
            </a:r>
          </a:p>
        </p:txBody>
      </p:sp>
    </p:spTree>
    <p:extLst>
      <p:ext uri="{BB962C8B-B14F-4D97-AF65-F5344CB8AC3E}">
        <p14:creationId xmlns:p14="http://schemas.microsoft.com/office/powerpoint/2010/main" val="972439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533D3F3-744F-42A2-B27F-A9906413516A}"/>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3DC9B997-E414-4650-9120-63EF0B5CE053}"/>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DB255C84-B580-4BDD-A706-3351DCC15E3A}"/>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PROJECT GOAL</a:t>
            </a:r>
          </a:p>
        </p:txBody>
      </p:sp>
      <p:sp>
        <p:nvSpPr>
          <p:cNvPr id="4" name="Rectangle 3">
            <a:extLst>
              <a:ext uri="{FF2B5EF4-FFF2-40B4-BE49-F238E27FC236}">
                <a16:creationId xmlns:a16="http://schemas.microsoft.com/office/drawing/2014/main" id="{23539D63-0B0D-40C2-BDD8-A88C4838B9A9}"/>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8202A"/>
                </a:solidFill>
                <a:latin typeface="Aptos Display"/>
                <a:ea typeface="Aptos Display"/>
                <a:cs typeface="Aptos Display"/>
              </a:defRPr>
            </a:pPr>
            <a:r>
              <a:rPr sz="2325" b="1">
                <a:solidFill>
                  <a:srgbClr val="18202A"/>
                </a:solidFill>
                <a:latin typeface="Aptos Display"/>
                <a:ea typeface="Aptos Display"/>
                <a:cs typeface="Aptos Display"/>
              </a:rPr>
              <a:t>The project formalizes the learning result and studies how proofs become understandable.</a:t>
            </a:r>
          </a:p>
        </p:txBody>
      </p:sp>
      <p:sp>
        <p:nvSpPr>
          <p:cNvPr id="5" name="Rectangle 4">
            <a:extLst>
              <a:ext uri="{FF2B5EF4-FFF2-40B4-BE49-F238E27FC236}">
                <a16:creationId xmlns:a16="http://schemas.microsoft.com/office/drawing/2014/main" id="{6DF2E40F-DE03-4B26-8BFF-583B44E77D78}"/>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E587DA7D-5C47-477E-8A79-F1B0696459DB}"/>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80A6AFD4-0786-431C-B313-101A7A8E87CB}"/>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06</a:t>
            </a:r>
          </a:p>
        </p:txBody>
      </p:sp>
      <p:sp>
        <p:nvSpPr>
          <p:cNvPr id="8" name="Rectangle 7">
            <a:extLst>
              <a:ext uri="{FF2B5EF4-FFF2-40B4-BE49-F238E27FC236}">
                <a16:creationId xmlns:a16="http://schemas.microsoft.com/office/drawing/2014/main" id="{F79BE007-97DC-430B-8353-CD69337BAA77}"/>
              </a:ext>
            </a:extLst>
          </p:cNvPr>
          <p:cNvSpPr>
            <a:spLocks noGrp="1"/>
          </p:cNvSpPr>
          <p:nvPr/>
        </p:nvSpPr>
        <p:spPr>
          <a:xfrm>
            <a:off x="876300" y="2190750"/>
            <a:ext cx="4191000" cy="2552700"/>
          </a:xfrm>
          <a:prstGeom prst="rect">
            <a:avLst/>
          </a:prstGeom>
          <a:solidFill>
            <a:srgbClr val="EDF7F0"/>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BD0689FC-7B08-48AF-B2B3-7894BE4FE391}"/>
              </a:ext>
            </a:extLst>
          </p:cNvPr>
          <p:cNvSpPr>
            <a:spLocks noGrp="1"/>
          </p:cNvSpPr>
          <p:nvPr/>
        </p:nvSpPr>
        <p:spPr>
          <a:xfrm>
            <a:off x="1085850" y="2362200"/>
            <a:ext cx="3771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F7D57"/>
                </a:solidFill>
                <a:latin typeface="Aptos"/>
                <a:ea typeface="Aptos"/>
                <a:cs typeface="Aptos"/>
              </a:defRPr>
            </a:pPr>
            <a:r>
              <a:rPr sz="1275" b="1">
                <a:solidFill>
                  <a:srgbClr val="2F7D57"/>
                </a:solidFill>
                <a:latin typeface="Aptos"/>
                <a:ea typeface="Aptos"/>
                <a:cs typeface="Aptos"/>
              </a:rPr>
              <a:t>Lean formalization</a:t>
            </a:r>
          </a:p>
        </p:txBody>
      </p:sp>
      <p:sp>
        <p:nvSpPr>
          <p:cNvPr id="10" name="Rectangle 9">
            <a:extLst>
              <a:ext uri="{FF2B5EF4-FFF2-40B4-BE49-F238E27FC236}">
                <a16:creationId xmlns:a16="http://schemas.microsoft.com/office/drawing/2014/main" id="{B056335B-6C04-4EC9-A039-D315548C7F92}"/>
              </a:ext>
            </a:extLst>
          </p:cNvPr>
          <p:cNvSpPr>
            <a:spLocks noGrp="1"/>
          </p:cNvSpPr>
          <p:nvPr/>
        </p:nvSpPr>
        <p:spPr>
          <a:xfrm>
            <a:off x="1085850" y="2724150"/>
            <a:ext cx="3771900" cy="1828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Aptos"/>
                <a:ea typeface="Aptos"/>
                <a:cs typeface="Aptos"/>
              </a:defRPr>
            </a:pPr>
            <a:r>
              <a:rPr sz="1425" b="0">
                <a:solidFill>
                  <a:srgbClr val="18202A"/>
                </a:solidFill>
                <a:latin typeface="Aptos"/>
                <a:ea typeface="Aptos"/>
                <a:cs typeface="Aptos"/>
              </a:rPr>
              <a:t>Definitions for ℋ, risks, ERM, realizability, and uniform convergence.</a:t>
            </a:r>
          </a:p>
          <a:p>
            <a:pPr algn="l">
              <a:defRPr sz="1425" b="0">
                <a:solidFill>
                  <a:srgbClr val="18202A"/>
                </a:solidFill>
                <a:latin typeface="Aptos"/>
                <a:ea typeface="Aptos"/>
                <a:cs typeface="Aptos"/>
              </a:defRPr>
            </a:pPr>
            <a:r>
              <a:rPr sz="1425" b="0">
                <a:solidFill>
                  <a:srgbClr val="18202A"/>
                </a:solidFill>
                <a:latin typeface="Aptos"/>
                <a:ea typeface="Aptos"/>
                <a:cs typeface="Aptos"/>
              </a:rPr>
              <a:t>A fully proved deterministic agnostic ERM theorem.</a:t>
            </a:r>
          </a:p>
        </p:txBody>
      </p:sp>
      <p:sp>
        <p:nvSpPr>
          <p:cNvPr id="11" name="Rectangle 10">
            <a:extLst>
              <a:ext uri="{FF2B5EF4-FFF2-40B4-BE49-F238E27FC236}">
                <a16:creationId xmlns:a16="http://schemas.microsoft.com/office/drawing/2014/main" id="{69D791AF-E314-4E45-BEA9-8F365BCC7A27}"/>
              </a:ext>
            </a:extLst>
          </p:cNvPr>
          <p:cNvSpPr>
            <a:spLocks noGrp="1"/>
          </p:cNvSpPr>
          <p:nvPr/>
        </p:nvSpPr>
        <p:spPr>
          <a:xfrm>
            <a:off x="5829300" y="2190750"/>
            <a:ext cx="4191000" cy="2552700"/>
          </a:xfrm>
          <a:prstGeom prst="rect">
            <a:avLst/>
          </a:prstGeom>
          <a:solidFill>
            <a:srgbClr val="EAF4F8"/>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AB1D3229-F3E2-4C63-B832-A28A32296F48}"/>
              </a:ext>
            </a:extLst>
          </p:cNvPr>
          <p:cNvSpPr>
            <a:spLocks noGrp="1"/>
          </p:cNvSpPr>
          <p:nvPr/>
        </p:nvSpPr>
        <p:spPr>
          <a:xfrm>
            <a:off x="6038850" y="2362200"/>
            <a:ext cx="3771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Explainability study</a:t>
            </a:r>
          </a:p>
        </p:txBody>
      </p:sp>
      <p:sp>
        <p:nvSpPr>
          <p:cNvPr id="13" name="Rectangle 12">
            <a:extLst>
              <a:ext uri="{FF2B5EF4-FFF2-40B4-BE49-F238E27FC236}">
                <a16:creationId xmlns:a16="http://schemas.microsoft.com/office/drawing/2014/main" id="{C01FC0AB-6DD3-44A8-B6D3-1903E051FA68}"/>
              </a:ext>
            </a:extLst>
          </p:cNvPr>
          <p:cNvSpPr>
            <a:spLocks noGrp="1"/>
          </p:cNvSpPr>
          <p:nvPr/>
        </p:nvSpPr>
        <p:spPr>
          <a:xfrm>
            <a:off x="6038850" y="2724150"/>
            <a:ext cx="3771900" cy="1828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Aptos"/>
                <a:ea typeface="Aptos"/>
                <a:cs typeface="Aptos"/>
              </a:defRPr>
            </a:pPr>
            <a:r>
              <a:rPr sz="1425" b="0">
                <a:solidFill>
                  <a:srgbClr val="18202A"/>
                </a:solidFill>
                <a:latin typeface="Aptos"/>
                <a:ea typeface="Aptos"/>
                <a:cs typeface="Aptos"/>
              </a:rPr>
              <a:t>Generated Lean proof attempts are checked by Lean.</a:t>
            </a:r>
          </a:p>
          <a:p>
            <a:pPr algn="l">
              <a:defRPr sz="1425" b="0">
                <a:solidFill>
                  <a:srgbClr val="18202A"/>
                </a:solidFill>
                <a:latin typeface="Aptos"/>
                <a:ea typeface="Aptos"/>
                <a:cs typeface="Aptos"/>
              </a:defRPr>
            </a:pPr>
            <a:r>
              <a:rPr sz="1425" b="0">
                <a:solidFill>
                  <a:srgbClr val="18202A"/>
                </a:solidFill>
                <a:latin typeface="Aptos"/>
                <a:ea typeface="Aptos"/>
                <a:cs typeface="Aptos"/>
              </a:rPr>
              <a:t>Failures are logged, repaired, compared, simplified, and explained.</a:t>
            </a:r>
          </a:p>
        </p:txBody>
      </p:sp>
    </p:spTree>
    <p:extLst>
      <p:ext uri="{BB962C8B-B14F-4D97-AF65-F5344CB8AC3E}">
        <p14:creationId xmlns:p14="http://schemas.microsoft.com/office/powerpoint/2010/main" val="49532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367F91E-A20E-496B-A9A6-2DEAE6FDCE35}"/>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E4023E05-DAD3-40DE-95BA-6BFB80A6C87F}"/>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8251B50F-A83B-478D-9139-70BCADB0938D}"/>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PART 2</a:t>
            </a:r>
          </a:p>
        </p:txBody>
      </p:sp>
      <p:sp>
        <p:nvSpPr>
          <p:cNvPr id="4" name="Rectangle 3">
            <a:extLst>
              <a:ext uri="{FF2B5EF4-FFF2-40B4-BE49-F238E27FC236}">
                <a16:creationId xmlns:a16="http://schemas.microsoft.com/office/drawing/2014/main" id="{E4A35B37-35FB-429F-92AB-89AE0C404180}"/>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The math problem and full proof</a:t>
            </a:r>
          </a:p>
        </p:txBody>
      </p:sp>
      <p:sp>
        <p:nvSpPr>
          <p:cNvPr id="5" name="Rectangle 4">
            <a:extLst>
              <a:ext uri="{FF2B5EF4-FFF2-40B4-BE49-F238E27FC236}">
                <a16:creationId xmlns:a16="http://schemas.microsoft.com/office/drawing/2014/main" id="{D8638391-D6AC-4EA9-86D9-0037A87C4476}"/>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6A8AB482-D8BE-4B41-93FD-48E4AC73856A}"/>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510E2E20-CA3F-45BD-8C54-5A8FFCF0C20A}"/>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07</a:t>
            </a:r>
          </a:p>
        </p:txBody>
      </p:sp>
      <p:sp>
        <p:nvSpPr>
          <p:cNvPr id="8" name="Rectangle 7">
            <a:extLst>
              <a:ext uri="{FF2B5EF4-FFF2-40B4-BE49-F238E27FC236}">
                <a16:creationId xmlns:a16="http://schemas.microsoft.com/office/drawing/2014/main" id="{3C3B6C30-E386-434A-B777-CEB223495869}"/>
              </a:ext>
            </a:extLst>
          </p:cNvPr>
          <p:cNvSpPr>
            <a:spLocks noGrp="1"/>
          </p:cNvSpPr>
          <p:nvPr/>
        </p:nvSpPr>
        <p:spPr>
          <a:xfrm>
            <a:off x="0" y="0"/>
            <a:ext cx="12192000" cy="6858000"/>
          </a:xfrm>
          <a:prstGeom prst="rect">
            <a:avLst/>
          </a:prstGeom>
          <a:solidFill>
            <a:srgbClr val="111827"/>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BF2BD719-01FF-40A6-8148-1F556352E12B}"/>
              </a:ext>
            </a:extLst>
          </p:cNvPr>
          <p:cNvSpPr>
            <a:spLocks noGrp="1"/>
          </p:cNvSpPr>
          <p:nvPr/>
        </p:nvSpPr>
        <p:spPr>
          <a:xfrm>
            <a:off x="0" y="0"/>
            <a:ext cx="171450" cy="6858000"/>
          </a:xfrm>
          <a:prstGeom prst="rect">
            <a:avLst/>
          </a:prstGeom>
          <a:solidFill>
            <a:srgbClr val="C0923A"/>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FF412F7D-7218-44B2-BBCE-52A83D771CBD}"/>
              </a:ext>
            </a:extLst>
          </p:cNvPr>
          <p:cNvSpPr>
            <a:spLocks noGrp="1"/>
          </p:cNvSpPr>
          <p:nvPr/>
        </p:nvSpPr>
        <p:spPr>
          <a:xfrm>
            <a:off x="838200" y="10668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C0923A"/>
                </a:solidFill>
                <a:latin typeface="Aptos"/>
                <a:ea typeface="Aptos"/>
                <a:cs typeface="Aptos"/>
              </a:defRPr>
            </a:pPr>
            <a:r>
              <a:rPr sz="1350" b="1">
                <a:solidFill>
                  <a:srgbClr val="C0923A"/>
                </a:solidFill>
                <a:latin typeface="Aptos"/>
                <a:ea typeface="Aptos"/>
                <a:cs typeface="Aptos"/>
              </a:rPr>
              <a:t>Part 2</a:t>
            </a:r>
          </a:p>
        </p:txBody>
      </p:sp>
      <p:sp>
        <p:nvSpPr>
          <p:cNvPr id="11" name="Rectangle 10">
            <a:extLst>
              <a:ext uri="{FF2B5EF4-FFF2-40B4-BE49-F238E27FC236}">
                <a16:creationId xmlns:a16="http://schemas.microsoft.com/office/drawing/2014/main" id="{2FAD3206-178A-4393-8774-0134792D1CF5}"/>
              </a:ext>
            </a:extLst>
          </p:cNvPr>
          <p:cNvSpPr>
            <a:spLocks noGrp="1"/>
          </p:cNvSpPr>
          <p:nvPr/>
        </p:nvSpPr>
        <p:spPr>
          <a:xfrm>
            <a:off x="838200" y="2000250"/>
            <a:ext cx="895350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525" b="1">
                <a:solidFill>
                  <a:srgbClr val="FFFFFF"/>
                </a:solidFill>
                <a:latin typeface="Aptos Display"/>
                <a:ea typeface="Aptos Display"/>
                <a:cs typeface="Aptos Display"/>
              </a:defRPr>
            </a:pPr>
            <a:r>
              <a:rPr sz="3525" b="1">
                <a:solidFill>
                  <a:srgbClr val="FFFFFF"/>
                </a:solidFill>
                <a:latin typeface="Aptos Display"/>
                <a:ea typeface="Aptos Display"/>
                <a:cs typeface="Aptos Display"/>
              </a:rPr>
              <a:t>The math problem and full proof</a:t>
            </a:r>
          </a:p>
        </p:txBody>
      </p:sp>
      <p:sp>
        <p:nvSpPr>
          <p:cNvPr id="12" name="Rectangle 11">
            <a:extLst>
              <a:ext uri="{FF2B5EF4-FFF2-40B4-BE49-F238E27FC236}">
                <a16:creationId xmlns:a16="http://schemas.microsoft.com/office/drawing/2014/main" id="{0E6212DB-BEC4-48CF-838C-33171DA27CE6}"/>
              </a:ext>
            </a:extLst>
          </p:cNvPr>
          <p:cNvSpPr>
            <a:spLocks noGrp="1"/>
          </p:cNvSpPr>
          <p:nvPr/>
        </p:nvSpPr>
        <p:spPr>
          <a:xfrm>
            <a:off x="876300" y="3638550"/>
            <a:ext cx="8096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D8DDE7"/>
                </a:solidFill>
                <a:latin typeface="Aptos"/>
                <a:ea typeface="Aptos"/>
                <a:cs typeface="Aptos"/>
              </a:defRPr>
            </a:pPr>
            <a:r>
              <a:rPr sz="1800" b="0">
                <a:solidFill>
                  <a:srgbClr val="D8DDE7"/>
                </a:solidFill>
                <a:latin typeface="Aptos"/>
                <a:ea typeface="Aptos"/>
                <a:cs typeface="Aptos"/>
              </a:rPr>
              <a:t>Formula-first: setup, realizable proof, agnostic proof, and rates.</a:t>
            </a:r>
          </a:p>
        </p:txBody>
      </p:sp>
      <p:sp>
        <p:nvSpPr>
          <p:cNvPr id="13" name="Rectangle 12">
            <a:extLst>
              <a:ext uri="{FF2B5EF4-FFF2-40B4-BE49-F238E27FC236}">
                <a16:creationId xmlns:a16="http://schemas.microsoft.com/office/drawing/2014/main" id="{5532A975-4351-4875-A0AF-2F6B084201B9}"/>
              </a:ext>
            </a:extLst>
          </p:cNvPr>
          <p:cNvSpPr>
            <a:spLocks noGrp="1"/>
          </p:cNvSpPr>
          <p:nvPr/>
        </p:nvSpPr>
        <p:spPr>
          <a:xfrm>
            <a:off x="10477500" y="6000750"/>
            <a:ext cx="571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D8DDE7"/>
                </a:solidFill>
                <a:latin typeface="Aptos"/>
                <a:ea typeface="Aptos"/>
                <a:cs typeface="Aptos"/>
              </a:defRPr>
            </a:pPr>
            <a:r>
              <a:rPr sz="1275" b="1">
                <a:solidFill>
                  <a:srgbClr val="D8DDE7"/>
                </a:solidFill>
                <a:latin typeface="Aptos"/>
                <a:ea typeface="Aptos"/>
                <a:cs typeface="Aptos"/>
              </a:rPr>
              <a:t>07</a:t>
            </a:r>
          </a:p>
        </p:txBody>
      </p:sp>
    </p:spTree>
    <p:extLst>
      <p:ext uri="{BB962C8B-B14F-4D97-AF65-F5344CB8AC3E}">
        <p14:creationId xmlns:p14="http://schemas.microsoft.com/office/powerpoint/2010/main" val="1225198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785F867-8265-4D84-9083-EE2F0F307AB4}"/>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6913F606-3C4B-438C-9B3E-37DE9D50D0C9}"/>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8885BF13-2271-4296-82EA-233C95CB2712}"/>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SETUP</a:t>
            </a:r>
          </a:p>
        </p:txBody>
      </p:sp>
      <p:sp>
        <p:nvSpPr>
          <p:cNvPr id="4" name="Rectangle 3">
            <a:extLst>
              <a:ext uri="{FF2B5EF4-FFF2-40B4-BE49-F238E27FC236}">
                <a16:creationId xmlns:a16="http://schemas.microsoft.com/office/drawing/2014/main" id="{D5769E7C-FCBE-478D-86EB-4581B89C5642}"/>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Finite-class binary classification.</a:t>
            </a:r>
          </a:p>
        </p:txBody>
      </p:sp>
      <p:sp>
        <p:nvSpPr>
          <p:cNvPr id="5" name="Rectangle 4">
            <a:extLst>
              <a:ext uri="{FF2B5EF4-FFF2-40B4-BE49-F238E27FC236}">
                <a16:creationId xmlns:a16="http://schemas.microsoft.com/office/drawing/2014/main" id="{346440D4-5C08-4EDA-AB60-1237F8BCABBA}"/>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8A8D5E74-2684-4296-843F-5D615706D9F8}"/>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F9152415-2D0B-402E-A57F-279A2D929C59}"/>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08</a:t>
            </a:r>
          </a:p>
        </p:txBody>
      </p:sp>
      <p:sp>
        <p:nvSpPr>
          <p:cNvPr id="8" name="Rectangle 7">
            <a:extLst>
              <a:ext uri="{FF2B5EF4-FFF2-40B4-BE49-F238E27FC236}">
                <a16:creationId xmlns:a16="http://schemas.microsoft.com/office/drawing/2014/main" id="{CB5D992C-249D-45C9-A601-19D19BBC2C4E}"/>
              </a:ext>
            </a:extLst>
          </p:cNvPr>
          <p:cNvSpPr>
            <a:spLocks noGrp="1"/>
          </p:cNvSpPr>
          <p:nvPr/>
        </p:nvSpPr>
        <p:spPr>
          <a:xfrm>
            <a:off x="781050" y="1771650"/>
            <a:ext cx="9334500" cy="263842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BF36D6D7-406B-4452-8BE2-8914CF48D65E}"/>
              </a:ext>
            </a:extLst>
          </p:cNvPr>
          <p:cNvSpPr>
            <a:spLocks noGrp="1"/>
          </p:cNvSpPr>
          <p:nvPr/>
        </p:nvSpPr>
        <p:spPr>
          <a:xfrm>
            <a:off x="781050" y="1771650"/>
            <a:ext cx="76200" cy="263842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FBC2F15E-8EA5-4DA5-8B60-E9136DB20B07}"/>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ℋ = {h₁, h₂, …, h_N}</a:t>
            </a:r>
          </a:p>
        </p:txBody>
      </p:sp>
      <p:sp>
        <p:nvSpPr>
          <p:cNvPr id="11" name="Rectangle 10">
            <a:extLst>
              <a:ext uri="{FF2B5EF4-FFF2-40B4-BE49-F238E27FC236}">
                <a16:creationId xmlns:a16="http://schemas.microsoft.com/office/drawing/2014/main" id="{35566887-0BCC-4363-A3DE-2DBA7C5ADBB4}"/>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h : 𝒳 → {0,1}</a:t>
            </a:r>
          </a:p>
        </p:txBody>
      </p:sp>
      <p:sp>
        <p:nvSpPr>
          <p:cNvPr id="12" name="Rectangle 11">
            <a:extLst>
              <a:ext uri="{FF2B5EF4-FFF2-40B4-BE49-F238E27FC236}">
                <a16:creationId xmlns:a16="http://schemas.microsoft.com/office/drawing/2014/main" id="{6A46557B-2418-4C1F-9D94-6F41BD096980}"/>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z = (x,y),   x ∈ 𝒳,   y ∈ {0,1}</a:t>
            </a:r>
          </a:p>
        </p:txBody>
      </p:sp>
      <p:sp>
        <p:nvSpPr>
          <p:cNvPr id="13" name="Rectangle 12">
            <a:extLst>
              <a:ext uri="{FF2B5EF4-FFF2-40B4-BE49-F238E27FC236}">
                <a16:creationId xmlns:a16="http://schemas.microsoft.com/office/drawing/2014/main" id="{7264D1B9-76D0-431C-B432-BCB336690C44}"/>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𝒟 = unknown distribution on 𝒳 × {0,1}</a:t>
            </a:r>
          </a:p>
        </p:txBody>
      </p:sp>
      <p:sp>
        <p:nvSpPr>
          <p:cNvPr id="14" name="Rectangle 13">
            <a:extLst>
              <a:ext uri="{FF2B5EF4-FFF2-40B4-BE49-F238E27FC236}">
                <a16:creationId xmlns:a16="http://schemas.microsoft.com/office/drawing/2014/main" id="{E96C191A-7768-4382-84E2-D4B08426C590}"/>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S = (z₁,…,z_m),   z_i ∼ 𝒟 independently</a:t>
            </a:r>
          </a:p>
        </p:txBody>
      </p:sp>
      <p:sp>
        <p:nvSpPr>
          <p:cNvPr id="15" name="Rectangle 14">
            <a:extLst>
              <a:ext uri="{FF2B5EF4-FFF2-40B4-BE49-F238E27FC236}">
                <a16:creationId xmlns:a16="http://schemas.microsoft.com/office/drawing/2014/main" id="{72529B87-119B-492B-A426-6CFBCB544A37}"/>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4D331F00-6E3B-4FD4-B81F-2E852660FAD9}"/>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L𝒟(h) = ℙ₍ₓ,ᵧ₎∼𝒟[h(x) ≠ y]</a:t>
            </a:r>
          </a:p>
        </p:txBody>
      </p:sp>
      <p:sp>
        <p:nvSpPr>
          <p:cNvPr id="17" name="Rectangle 16">
            <a:extLst>
              <a:ext uri="{FF2B5EF4-FFF2-40B4-BE49-F238E27FC236}">
                <a16:creationId xmlns:a16="http://schemas.microsoft.com/office/drawing/2014/main" id="{EB155A48-54BA-4F0B-9FA6-F67784818F5A}"/>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Lₛ(h) = (1/m) Σᵢ₌₁ᵐ 𝟙[h(xᵢ) ≠ yᵢ]</a:t>
            </a:r>
          </a:p>
        </p:txBody>
      </p:sp>
      <p:sp>
        <p:nvSpPr>
          <p:cNvPr id="18" name="Rectangle 17">
            <a:extLst>
              <a:ext uri="{FF2B5EF4-FFF2-40B4-BE49-F238E27FC236}">
                <a16:creationId xmlns:a16="http://schemas.microsoft.com/office/drawing/2014/main" id="{ACE105A9-C2EF-4F94-830A-8B1D1A835493}"/>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ĥ ∈ argmin_{h∈ℋ} Lₛ(h)</a:t>
            </a:r>
          </a:p>
        </p:txBody>
      </p:sp>
      <p:sp>
        <p:nvSpPr>
          <p:cNvPr id="19" name="Rectangle 18">
            <a:extLst>
              <a:ext uri="{FF2B5EF4-FFF2-40B4-BE49-F238E27FC236}">
                <a16:creationId xmlns:a16="http://schemas.microsoft.com/office/drawing/2014/main" id="{59A0FE6E-4C12-4A16-A369-909C874B3916}"/>
              </a:ext>
            </a:extLst>
          </p:cNvPr>
          <p:cNvSpPr>
            <a:spLocks noGrp="1"/>
          </p:cNvSpPr>
          <p:nvPr/>
        </p:nvSpPr>
        <p:spPr>
          <a:xfrm>
            <a:off x="876300" y="477202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Goal: prove ERM generalizes for finite ℋ.</a:t>
            </a:r>
          </a:p>
        </p:txBody>
      </p:sp>
    </p:spTree>
    <p:extLst>
      <p:ext uri="{BB962C8B-B14F-4D97-AF65-F5344CB8AC3E}">
        <p14:creationId xmlns:p14="http://schemas.microsoft.com/office/powerpoint/2010/main" val="161711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A4BED14-CDB5-420C-806D-339F8F3A873F}"/>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F4D81163-1AEA-4108-ACF4-C62B4F5C5565}"/>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4786A0DD-FE32-403F-9D0B-209272B5E8A0}"/>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REALIZABLE</a:t>
            </a:r>
          </a:p>
        </p:txBody>
      </p:sp>
      <p:sp>
        <p:nvSpPr>
          <p:cNvPr id="4" name="Rectangle 3">
            <a:extLst>
              <a:ext uri="{FF2B5EF4-FFF2-40B4-BE49-F238E27FC236}">
                <a16:creationId xmlns:a16="http://schemas.microsoft.com/office/drawing/2014/main" id="{F924F87D-6BE8-4501-B2C6-08FD80430A9C}"/>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Assumption and target guarantee.</a:t>
            </a:r>
          </a:p>
        </p:txBody>
      </p:sp>
      <p:sp>
        <p:nvSpPr>
          <p:cNvPr id="5" name="Rectangle 4">
            <a:extLst>
              <a:ext uri="{FF2B5EF4-FFF2-40B4-BE49-F238E27FC236}">
                <a16:creationId xmlns:a16="http://schemas.microsoft.com/office/drawing/2014/main" id="{57B3DD45-3519-4A52-8F3F-127F70E47F29}"/>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D0B630F4-0316-4BC9-BD98-35EBEC4FBD16}"/>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07E547CB-E2E8-4482-B5C7-2D48563B596C}"/>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09</a:t>
            </a:r>
          </a:p>
        </p:txBody>
      </p:sp>
      <p:sp>
        <p:nvSpPr>
          <p:cNvPr id="8" name="Rectangle 7">
            <a:extLst>
              <a:ext uri="{FF2B5EF4-FFF2-40B4-BE49-F238E27FC236}">
                <a16:creationId xmlns:a16="http://schemas.microsoft.com/office/drawing/2014/main" id="{3CB7BBA9-CDFD-4953-B9E8-D64143F304EE}"/>
              </a:ext>
            </a:extLst>
          </p:cNvPr>
          <p:cNvSpPr>
            <a:spLocks noGrp="1"/>
          </p:cNvSpPr>
          <p:nvPr/>
        </p:nvSpPr>
        <p:spPr>
          <a:xfrm>
            <a:off x="781050" y="1771650"/>
            <a:ext cx="9334500" cy="3352800"/>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48970AD4-E5F3-4F20-9F14-571F0D69720D}"/>
              </a:ext>
            </a:extLst>
          </p:cNvPr>
          <p:cNvSpPr>
            <a:spLocks noGrp="1"/>
          </p:cNvSpPr>
          <p:nvPr/>
        </p:nvSpPr>
        <p:spPr>
          <a:xfrm>
            <a:off x="781050" y="1771650"/>
            <a:ext cx="76200" cy="3352800"/>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A52BE7E9-8710-422B-ADF1-B492A82E87F5}"/>
              </a:ext>
            </a:extLst>
          </p:cNvPr>
          <p:cNvSpPr>
            <a:spLocks noGrp="1"/>
          </p:cNvSpPr>
          <p:nvPr/>
        </p:nvSpPr>
        <p:spPr>
          <a:xfrm>
            <a:off x="1047750" y="19812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Cambria Math"/>
                <a:ea typeface="Cambria Math"/>
                <a:cs typeface="Cambria Math"/>
              </a:defRPr>
            </a:pPr>
            <a:r>
              <a:rPr sz="1275" b="0">
                <a:solidFill>
                  <a:srgbClr val="18202A"/>
                </a:solidFill>
                <a:latin typeface="Cambria Math"/>
                <a:ea typeface="Cambria Math"/>
                <a:cs typeface="Cambria Math"/>
              </a:rPr>
              <a:t>∃ h* ∈ ℋ,   L𝒟(h*) = 0</a:t>
            </a:r>
          </a:p>
        </p:txBody>
      </p:sp>
      <p:sp>
        <p:nvSpPr>
          <p:cNvPr id="11" name="Rectangle 10">
            <a:extLst>
              <a:ext uri="{FF2B5EF4-FFF2-40B4-BE49-F238E27FC236}">
                <a16:creationId xmlns:a16="http://schemas.microsoft.com/office/drawing/2014/main" id="{798E0092-7090-480A-83A7-D5E9BF414DC4}"/>
              </a:ext>
            </a:extLst>
          </p:cNvPr>
          <p:cNvSpPr>
            <a:spLocks noGrp="1"/>
          </p:cNvSpPr>
          <p:nvPr/>
        </p:nvSpPr>
        <p:spPr>
          <a:xfrm>
            <a:off x="1047750" y="22098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EC3F60B2-4EDD-4739-996F-E36BD94996A7}"/>
              </a:ext>
            </a:extLst>
          </p:cNvPr>
          <p:cNvSpPr>
            <a:spLocks noGrp="1"/>
          </p:cNvSpPr>
          <p:nvPr/>
        </p:nvSpPr>
        <p:spPr>
          <a:xfrm>
            <a:off x="1047750" y="24384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Cambria Math"/>
                <a:ea typeface="Cambria Math"/>
                <a:cs typeface="Cambria Math"/>
              </a:defRPr>
            </a:pPr>
            <a:r>
              <a:rPr sz="1275" b="0">
                <a:solidFill>
                  <a:srgbClr val="18202A"/>
                </a:solidFill>
                <a:latin typeface="Cambria Math"/>
                <a:ea typeface="Cambria Math"/>
                <a:cs typeface="Cambria Math"/>
              </a:rPr>
              <a:t>L𝒟(h*) = 0  ⇒  Lₛ(h*) = 0</a:t>
            </a:r>
          </a:p>
        </p:txBody>
      </p:sp>
      <p:sp>
        <p:nvSpPr>
          <p:cNvPr id="13" name="Rectangle 12">
            <a:extLst>
              <a:ext uri="{FF2B5EF4-FFF2-40B4-BE49-F238E27FC236}">
                <a16:creationId xmlns:a16="http://schemas.microsoft.com/office/drawing/2014/main" id="{AF9F4B37-94F3-4413-87AA-D45FDFFBA748}"/>
              </a:ext>
            </a:extLst>
          </p:cNvPr>
          <p:cNvSpPr>
            <a:spLocks noGrp="1"/>
          </p:cNvSpPr>
          <p:nvPr/>
        </p:nvSpPr>
        <p:spPr>
          <a:xfrm>
            <a:off x="1047750" y="26670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Cambria Math"/>
                <a:ea typeface="Cambria Math"/>
                <a:cs typeface="Cambria Math"/>
              </a:defRPr>
            </a:pPr>
            <a:r>
              <a:rPr sz="1275" b="0">
                <a:solidFill>
                  <a:srgbClr val="18202A"/>
                </a:solidFill>
                <a:latin typeface="Cambria Math"/>
                <a:ea typeface="Cambria Math"/>
                <a:cs typeface="Cambria Math"/>
              </a:rPr>
              <a:t>ERM:  Lₛ(ĥ) ≤ Lₛ(h*) = 0</a:t>
            </a:r>
          </a:p>
        </p:txBody>
      </p:sp>
      <p:sp>
        <p:nvSpPr>
          <p:cNvPr id="14" name="Rectangle 13">
            <a:extLst>
              <a:ext uri="{FF2B5EF4-FFF2-40B4-BE49-F238E27FC236}">
                <a16:creationId xmlns:a16="http://schemas.microsoft.com/office/drawing/2014/main" id="{84DF1CD8-A13A-49F9-8C53-866D447DA840}"/>
              </a:ext>
            </a:extLst>
          </p:cNvPr>
          <p:cNvSpPr>
            <a:spLocks noGrp="1"/>
          </p:cNvSpPr>
          <p:nvPr/>
        </p:nvSpPr>
        <p:spPr>
          <a:xfrm>
            <a:off x="1047750" y="28956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246B8F"/>
                </a:solidFill>
                <a:latin typeface="Aptos"/>
                <a:ea typeface="Aptos"/>
                <a:cs typeface="Aptos"/>
              </a:defRPr>
            </a:pPr>
            <a:r>
              <a:rPr sz="1125" b="1">
                <a:solidFill>
                  <a:srgbClr val="246B8F"/>
                </a:solidFill>
                <a:latin typeface="Aptos"/>
                <a:ea typeface="Aptos"/>
                <a:cs typeface="Aptos"/>
              </a:rPr>
              <a:t>Nonnegativity:  Lₛ(ĥ) ≥ 0</a:t>
            </a:r>
          </a:p>
        </p:txBody>
      </p:sp>
      <p:sp>
        <p:nvSpPr>
          <p:cNvPr id="15" name="Rectangle 14">
            <a:extLst>
              <a:ext uri="{FF2B5EF4-FFF2-40B4-BE49-F238E27FC236}">
                <a16:creationId xmlns:a16="http://schemas.microsoft.com/office/drawing/2014/main" id="{DC75F691-A32C-4B4E-B7A7-556DB95087B2}"/>
              </a:ext>
            </a:extLst>
          </p:cNvPr>
          <p:cNvSpPr>
            <a:spLocks noGrp="1"/>
          </p:cNvSpPr>
          <p:nvPr/>
        </p:nvSpPr>
        <p:spPr>
          <a:xfrm>
            <a:off x="1047750" y="31242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AE50669E-0DCB-4E09-A32A-2D28272DCB70}"/>
              </a:ext>
            </a:extLst>
          </p:cNvPr>
          <p:cNvSpPr>
            <a:spLocks noGrp="1"/>
          </p:cNvSpPr>
          <p:nvPr/>
        </p:nvSpPr>
        <p:spPr>
          <a:xfrm>
            <a:off x="1047750" y="33528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246B8F"/>
                </a:solidFill>
                <a:latin typeface="Aptos"/>
                <a:ea typeface="Aptos"/>
                <a:cs typeface="Aptos"/>
              </a:defRPr>
            </a:pPr>
            <a:r>
              <a:rPr sz="1125" b="1">
                <a:solidFill>
                  <a:srgbClr val="246B8F"/>
                </a:solidFill>
                <a:latin typeface="Aptos"/>
                <a:ea typeface="Aptos"/>
                <a:cs typeface="Aptos"/>
              </a:rPr>
              <a:t>Therefore:</a:t>
            </a:r>
          </a:p>
        </p:txBody>
      </p:sp>
      <p:sp>
        <p:nvSpPr>
          <p:cNvPr id="17" name="Rectangle 16">
            <a:extLst>
              <a:ext uri="{FF2B5EF4-FFF2-40B4-BE49-F238E27FC236}">
                <a16:creationId xmlns:a16="http://schemas.microsoft.com/office/drawing/2014/main" id="{A9D3DC82-7C1F-4B29-880D-DE10C0ED18CE}"/>
              </a:ext>
            </a:extLst>
          </p:cNvPr>
          <p:cNvSpPr>
            <a:spLocks noGrp="1"/>
          </p:cNvSpPr>
          <p:nvPr/>
        </p:nvSpPr>
        <p:spPr>
          <a:xfrm>
            <a:off x="1047750" y="35814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Cambria Math"/>
                <a:ea typeface="Cambria Math"/>
                <a:cs typeface="Cambria Math"/>
              </a:defRPr>
            </a:pPr>
            <a:r>
              <a:rPr sz="1275" b="0">
                <a:solidFill>
                  <a:srgbClr val="18202A"/>
                </a:solidFill>
                <a:latin typeface="Cambria Math"/>
                <a:ea typeface="Cambria Math"/>
                <a:cs typeface="Cambria Math"/>
              </a:rPr>
              <a:t>  Lₛ(ĥ) = 0</a:t>
            </a:r>
          </a:p>
        </p:txBody>
      </p:sp>
      <p:sp>
        <p:nvSpPr>
          <p:cNvPr id="18" name="Rectangle 17">
            <a:extLst>
              <a:ext uri="{FF2B5EF4-FFF2-40B4-BE49-F238E27FC236}">
                <a16:creationId xmlns:a16="http://schemas.microsoft.com/office/drawing/2014/main" id="{A9A2C89E-7BB5-422A-BDA9-D54DB367CB8D}"/>
              </a:ext>
            </a:extLst>
          </p:cNvPr>
          <p:cNvSpPr>
            <a:spLocks noGrp="1"/>
          </p:cNvSpPr>
          <p:nvPr/>
        </p:nvSpPr>
        <p:spPr>
          <a:xfrm>
            <a:off x="1047750" y="38100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9" name="Rectangle 18">
            <a:extLst>
              <a:ext uri="{FF2B5EF4-FFF2-40B4-BE49-F238E27FC236}">
                <a16:creationId xmlns:a16="http://schemas.microsoft.com/office/drawing/2014/main" id="{DD2ABB6E-937B-42A1-A4D1-2E0AB5228DF0}"/>
              </a:ext>
            </a:extLst>
          </p:cNvPr>
          <p:cNvSpPr>
            <a:spLocks noGrp="1"/>
          </p:cNvSpPr>
          <p:nvPr/>
        </p:nvSpPr>
        <p:spPr>
          <a:xfrm>
            <a:off x="1047750" y="40386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246B8F"/>
                </a:solidFill>
                <a:latin typeface="Aptos"/>
                <a:ea typeface="Aptos"/>
                <a:cs typeface="Aptos"/>
              </a:defRPr>
            </a:pPr>
            <a:r>
              <a:rPr sz="1125" b="1">
                <a:solidFill>
                  <a:srgbClr val="246B8F"/>
                </a:solidFill>
                <a:latin typeface="Aptos"/>
                <a:ea typeface="Aptos"/>
                <a:cs typeface="Aptos"/>
              </a:rPr>
              <a:t>Target:</a:t>
            </a:r>
          </a:p>
        </p:txBody>
      </p:sp>
      <p:sp>
        <p:nvSpPr>
          <p:cNvPr id="20" name="Rectangle 19">
            <a:extLst>
              <a:ext uri="{FF2B5EF4-FFF2-40B4-BE49-F238E27FC236}">
                <a16:creationId xmlns:a16="http://schemas.microsoft.com/office/drawing/2014/main" id="{50FDB298-0AE8-4B92-A1C5-4AE174994B9B}"/>
              </a:ext>
            </a:extLst>
          </p:cNvPr>
          <p:cNvSpPr>
            <a:spLocks noGrp="1"/>
          </p:cNvSpPr>
          <p:nvPr/>
        </p:nvSpPr>
        <p:spPr>
          <a:xfrm>
            <a:off x="1047750" y="42672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Cambria Math"/>
                <a:ea typeface="Cambria Math"/>
                <a:cs typeface="Cambria Math"/>
              </a:defRPr>
            </a:pPr>
            <a:r>
              <a:rPr sz="1275" b="0">
                <a:solidFill>
                  <a:srgbClr val="18202A"/>
                </a:solidFill>
                <a:latin typeface="Cambria Math"/>
                <a:ea typeface="Cambria Math"/>
                <a:cs typeface="Cambria Math"/>
              </a:rPr>
              <a:t>  ℙ[L𝒟(ĥ) &gt; ε] ≤ δ</a:t>
            </a:r>
          </a:p>
        </p:txBody>
      </p:sp>
      <p:sp>
        <p:nvSpPr>
          <p:cNvPr id="21" name="Rectangle 20">
            <a:extLst>
              <a:ext uri="{FF2B5EF4-FFF2-40B4-BE49-F238E27FC236}">
                <a16:creationId xmlns:a16="http://schemas.microsoft.com/office/drawing/2014/main" id="{4431D30D-5701-4FD0-8923-6E7C28E30948}"/>
              </a:ext>
            </a:extLst>
          </p:cNvPr>
          <p:cNvSpPr>
            <a:spLocks noGrp="1"/>
          </p:cNvSpPr>
          <p:nvPr/>
        </p:nvSpPr>
        <p:spPr>
          <a:xfrm>
            <a:off x="1047750" y="4495800"/>
            <a:ext cx="866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Cambria Math"/>
                <a:ea typeface="Cambria Math"/>
                <a:cs typeface="Cambria Math"/>
              </a:defRPr>
            </a:pPr>
            <a:r>
              <a:rPr sz="1275" b="0">
                <a:solidFill>
                  <a:srgbClr val="18202A"/>
                </a:solidFill>
                <a:latin typeface="Cambria Math"/>
                <a:ea typeface="Cambria Math"/>
                <a:cs typeface="Cambria Math"/>
              </a:rPr>
              <a:t>  ℙ[L𝒟(ĥ) ≤ ε] ≥ 1 − δ</a:t>
            </a:r>
          </a:p>
        </p:txBody>
      </p:sp>
      <p:sp>
        <p:nvSpPr>
          <p:cNvPr id="22" name="Rectangle 21">
            <a:extLst>
              <a:ext uri="{FF2B5EF4-FFF2-40B4-BE49-F238E27FC236}">
                <a16:creationId xmlns:a16="http://schemas.microsoft.com/office/drawing/2014/main" id="{ED013D61-CCC7-4E17-B065-F18E17FDDF0D}"/>
              </a:ext>
            </a:extLst>
          </p:cNvPr>
          <p:cNvSpPr>
            <a:spLocks noGrp="1"/>
          </p:cNvSpPr>
          <p:nvPr/>
        </p:nvSpPr>
        <p:spPr>
          <a:xfrm>
            <a:off x="876300" y="5486400"/>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ERM is consistent when the class contains a perfect hypothesis.</a:t>
            </a:r>
          </a:p>
        </p:txBody>
      </p:sp>
    </p:spTree>
    <p:extLst>
      <p:ext uri="{BB962C8B-B14F-4D97-AF65-F5344CB8AC3E}">
        <p14:creationId xmlns:p14="http://schemas.microsoft.com/office/powerpoint/2010/main" val="1474302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0B75511-CAB1-4AE8-AA42-CF0B27BE0FD1}"/>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AD3B8F1-B929-4398-86E4-EA25DD958537}"/>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E3BFDE5-A222-4B84-AACB-31A95FB0C480}"/>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REALIZABLE PROOF</a:t>
            </a:r>
          </a:p>
        </p:txBody>
      </p:sp>
      <p:sp>
        <p:nvSpPr>
          <p:cNvPr id="4" name="Rectangle 3">
            <a:extLst>
              <a:ext uri="{FF2B5EF4-FFF2-40B4-BE49-F238E27FC236}">
                <a16:creationId xmlns:a16="http://schemas.microsoft.com/office/drawing/2014/main" id="{70F7ED83-6CA9-4793-AA5D-7109F77374CC}"/>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Bad hypotheses and event containment.</a:t>
            </a:r>
          </a:p>
        </p:txBody>
      </p:sp>
      <p:sp>
        <p:nvSpPr>
          <p:cNvPr id="5" name="Rectangle 4">
            <a:extLst>
              <a:ext uri="{FF2B5EF4-FFF2-40B4-BE49-F238E27FC236}">
                <a16:creationId xmlns:a16="http://schemas.microsoft.com/office/drawing/2014/main" id="{AE2B2747-D283-4F25-882D-2651E0A91026}"/>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3B730F35-2BBA-4419-A125-23578E924D16}"/>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058D46F9-FCF0-489D-B4C4-F5B3A66612E2}"/>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10</a:t>
            </a:r>
          </a:p>
        </p:txBody>
      </p:sp>
      <p:sp>
        <p:nvSpPr>
          <p:cNvPr id="8" name="Rectangle 7">
            <a:extLst>
              <a:ext uri="{FF2B5EF4-FFF2-40B4-BE49-F238E27FC236}">
                <a16:creationId xmlns:a16="http://schemas.microsoft.com/office/drawing/2014/main" id="{FBDA5921-53BB-4E8E-A6B1-A1459A6B37CE}"/>
              </a:ext>
            </a:extLst>
          </p:cNvPr>
          <p:cNvSpPr>
            <a:spLocks noGrp="1"/>
          </p:cNvSpPr>
          <p:nvPr/>
        </p:nvSpPr>
        <p:spPr>
          <a:xfrm>
            <a:off x="781050" y="1771650"/>
            <a:ext cx="9334500" cy="263842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D9455ADD-46B0-43FD-9A29-52CFA3F2BF6E}"/>
              </a:ext>
            </a:extLst>
          </p:cNvPr>
          <p:cNvSpPr>
            <a:spLocks noGrp="1"/>
          </p:cNvSpPr>
          <p:nvPr/>
        </p:nvSpPr>
        <p:spPr>
          <a:xfrm>
            <a:off x="781050" y="1771650"/>
            <a:ext cx="76200" cy="263842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46EDCA33-A480-4BA2-A495-65DAE9893FBB}"/>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B = {h ∈ ℋ : L𝒟(h) &gt; ε}</a:t>
            </a:r>
          </a:p>
        </p:txBody>
      </p:sp>
      <p:sp>
        <p:nvSpPr>
          <p:cNvPr id="11" name="Rectangle 10">
            <a:extLst>
              <a:ext uri="{FF2B5EF4-FFF2-40B4-BE49-F238E27FC236}">
                <a16:creationId xmlns:a16="http://schemas.microsoft.com/office/drawing/2014/main" id="{ABCB2817-96EC-4711-89C3-48C42B489C55}"/>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FB2677AD-8085-42A9-B050-ADEDFC6F0361}"/>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{L𝒟(ĥ) &gt; ε}</a:t>
            </a:r>
          </a:p>
        </p:txBody>
      </p:sp>
      <p:sp>
        <p:nvSpPr>
          <p:cNvPr id="13" name="Rectangle 12">
            <a:extLst>
              <a:ext uri="{FF2B5EF4-FFF2-40B4-BE49-F238E27FC236}">
                <a16:creationId xmlns:a16="http://schemas.microsoft.com/office/drawing/2014/main" id="{7DC6BF00-1FCE-4701-A74A-017311E9FA9E}"/>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{∃h ∈ B : Lₛ(h)=0}</a:t>
            </a:r>
          </a:p>
        </p:txBody>
      </p:sp>
      <p:sp>
        <p:nvSpPr>
          <p:cNvPr id="14" name="Rectangle 13">
            <a:extLst>
              <a:ext uri="{FF2B5EF4-FFF2-40B4-BE49-F238E27FC236}">
                <a16:creationId xmlns:a16="http://schemas.microsoft.com/office/drawing/2014/main" id="{857370F0-0F17-41AF-BD00-CAE1A5835A7A}"/>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5" name="Rectangle 14">
            <a:extLst>
              <a:ext uri="{FF2B5EF4-FFF2-40B4-BE49-F238E27FC236}">
                <a16:creationId xmlns:a16="http://schemas.microsoft.com/office/drawing/2014/main" id="{E55908B9-4B20-449D-8B24-6612C3E85506}"/>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Therefore:</a:t>
            </a:r>
          </a:p>
        </p:txBody>
      </p:sp>
      <p:sp>
        <p:nvSpPr>
          <p:cNvPr id="16" name="Rectangle 15">
            <a:extLst>
              <a:ext uri="{FF2B5EF4-FFF2-40B4-BE49-F238E27FC236}">
                <a16:creationId xmlns:a16="http://schemas.microsoft.com/office/drawing/2014/main" id="{8F9398CC-2EAE-49AB-A6B4-13A33A946AD4}"/>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7" name="Rectangle 16">
            <a:extLst>
              <a:ext uri="{FF2B5EF4-FFF2-40B4-BE49-F238E27FC236}">
                <a16:creationId xmlns:a16="http://schemas.microsoft.com/office/drawing/2014/main" id="{25F1C986-2D37-4B7E-8E7C-31D110502B7C}"/>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ℙ[L𝒟(ĥ) &gt; ε]</a:t>
            </a:r>
          </a:p>
        </p:txBody>
      </p:sp>
      <p:sp>
        <p:nvSpPr>
          <p:cNvPr id="18" name="Rectangle 17">
            <a:extLst>
              <a:ext uri="{FF2B5EF4-FFF2-40B4-BE49-F238E27FC236}">
                <a16:creationId xmlns:a16="http://schemas.microsoft.com/office/drawing/2014/main" id="{74448CBF-8EF2-4E6A-AFAF-FC496C4E263B}"/>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ℙ[∃h ∈ B : Lₛ(h)=0]</a:t>
            </a:r>
          </a:p>
        </p:txBody>
      </p:sp>
      <p:sp>
        <p:nvSpPr>
          <p:cNvPr id="19" name="Rectangle 18">
            <a:extLst>
              <a:ext uri="{FF2B5EF4-FFF2-40B4-BE49-F238E27FC236}">
                <a16:creationId xmlns:a16="http://schemas.microsoft.com/office/drawing/2014/main" id="{45031E3D-3680-42D9-BC10-636BD28DB83C}"/>
              </a:ext>
            </a:extLst>
          </p:cNvPr>
          <p:cNvSpPr>
            <a:spLocks noGrp="1"/>
          </p:cNvSpPr>
          <p:nvPr/>
        </p:nvSpPr>
        <p:spPr>
          <a:xfrm>
            <a:off x="876300" y="477202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If ERM is bad, some bad hypothesis fit the sample perfectly.</a:t>
            </a:r>
          </a:p>
        </p:txBody>
      </p:sp>
    </p:spTree>
    <p:extLst>
      <p:ext uri="{BB962C8B-B14F-4D97-AF65-F5344CB8AC3E}">
        <p14:creationId xmlns:p14="http://schemas.microsoft.com/office/powerpoint/2010/main" val="974022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310F870-4892-4C4B-810D-4DFDCF759E9C}"/>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4BA8EFB4-53CB-4299-B541-4AC7B8B9FECD}"/>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1DC65843-92BA-40BB-B3A5-3CD8AD0B67C9}"/>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REALIZABLE PROOF</a:t>
            </a:r>
          </a:p>
        </p:txBody>
      </p:sp>
      <p:sp>
        <p:nvSpPr>
          <p:cNvPr id="4" name="Rectangle 3">
            <a:extLst>
              <a:ext uri="{FF2B5EF4-FFF2-40B4-BE49-F238E27FC236}">
                <a16:creationId xmlns:a16="http://schemas.microsoft.com/office/drawing/2014/main" id="{7E41BDEB-1407-471B-A3BA-4201437C8920}"/>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One fixed bad hypothesis.</a:t>
            </a:r>
          </a:p>
        </p:txBody>
      </p:sp>
      <p:sp>
        <p:nvSpPr>
          <p:cNvPr id="5" name="Rectangle 4">
            <a:extLst>
              <a:ext uri="{FF2B5EF4-FFF2-40B4-BE49-F238E27FC236}">
                <a16:creationId xmlns:a16="http://schemas.microsoft.com/office/drawing/2014/main" id="{9E4018AE-B3D1-4AC9-A52B-4ADE280B690F}"/>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E967B809-9F9C-480B-BA6F-1C0125A5ECE6}"/>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94223A61-F771-49AF-9DB9-09338FDAEE52}"/>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11</a:t>
            </a:r>
          </a:p>
        </p:txBody>
      </p:sp>
      <p:sp>
        <p:nvSpPr>
          <p:cNvPr id="8" name="Rectangle 7">
            <a:extLst>
              <a:ext uri="{FF2B5EF4-FFF2-40B4-BE49-F238E27FC236}">
                <a16:creationId xmlns:a16="http://schemas.microsoft.com/office/drawing/2014/main" id="{8F5004FA-D474-4DDF-964F-F0AB499E1ADC}"/>
              </a:ext>
            </a:extLst>
          </p:cNvPr>
          <p:cNvSpPr>
            <a:spLocks noGrp="1"/>
          </p:cNvSpPr>
          <p:nvPr/>
        </p:nvSpPr>
        <p:spPr>
          <a:xfrm>
            <a:off x="781050" y="1771650"/>
            <a:ext cx="9334500" cy="263842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CAEBE5F4-B67D-4BCE-A294-F3FCA34F3D79}"/>
              </a:ext>
            </a:extLst>
          </p:cNvPr>
          <p:cNvSpPr>
            <a:spLocks noGrp="1"/>
          </p:cNvSpPr>
          <p:nvPr/>
        </p:nvSpPr>
        <p:spPr>
          <a:xfrm>
            <a:off x="781050" y="1771650"/>
            <a:ext cx="76200" cy="263842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EB49100A-7E8B-45B7-B158-BC44F964D966}"/>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Fix h ∈ B.  Then L𝒟(h) &gt; ε.</a:t>
            </a:r>
          </a:p>
        </p:txBody>
      </p:sp>
      <p:sp>
        <p:nvSpPr>
          <p:cNvPr id="11" name="Rectangle 10">
            <a:extLst>
              <a:ext uri="{FF2B5EF4-FFF2-40B4-BE49-F238E27FC236}">
                <a16:creationId xmlns:a16="http://schemas.microsoft.com/office/drawing/2014/main" id="{1B192BD8-8798-4237-A2BA-683619789135}"/>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D89E3635-5B3B-4F85-A5EF-EB3051EFA0E5}"/>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ℙ[h(x) ≠ y] = L𝒟(h) &gt; ε</a:t>
            </a:r>
          </a:p>
        </p:txBody>
      </p:sp>
      <p:sp>
        <p:nvSpPr>
          <p:cNvPr id="13" name="Rectangle 12">
            <a:extLst>
              <a:ext uri="{FF2B5EF4-FFF2-40B4-BE49-F238E27FC236}">
                <a16:creationId xmlns:a16="http://schemas.microsoft.com/office/drawing/2014/main" id="{DA42835A-B8E2-4B26-9772-A2833AEAEB5F}"/>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ℙ[h(x) = y] = 1 − L𝒟(h) &lt; 1 − ε</a:t>
            </a:r>
          </a:p>
        </p:txBody>
      </p:sp>
      <p:sp>
        <p:nvSpPr>
          <p:cNvPr id="14" name="Rectangle 13">
            <a:extLst>
              <a:ext uri="{FF2B5EF4-FFF2-40B4-BE49-F238E27FC236}">
                <a16:creationId xmlns:a16="http://schemas.microsoft.com/office/drawing/2014/main" id="{DEF2F6CA-1526-4E1A-96A4-6B17D9BFA314}"/>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5" name="Rectangle 14">
            <a:extLst>
              <a:ext uri="{FF2B5EF4-FFF2-40B4-BE49-F238E27FC236}">
                <a16:creationId xmlns:a16="http://schemas.microsoft.com/office/drawing/2014/main" id="{6CA582E0-5A27-4387-A355-44CA121468F0}"/>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ℙ[Lₛ(h)=0]</a:t>
            </a:r>
          </a:p>
        </p:txBody>
      </p:sp>
      <p:sp>
        <p:nvSpPr>
          <p:cNvPr id="16" name="Rectangle 15">
            <a:extLst>
              <a:ext uri="{FF2B5EF4-FFF2-40B4-BE49-F238E27FC236}">
                <a16:creationId xmlns:a16="http://schemas.microsoft.com/office/drawing/2014/main" id="{0B871674-EDE8-4649-8260-F2DFCB721F2C}"/>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(1 − L𝒟(h))ᵐ</a:t>
            </a:r>
          </a:p>
        </p:txBody>
      </p:sp>
      <p:sp>
        <p:nvSpPr>
          <p:cNvPr id="17" name="Rectangle 16">
            <a:extLst>
              <a:ext uri="{FF2B5EF4-FFF2-40B4-BE49-F238E27FC236}">
                <a16:creationId xmlns:a16="http://schemas.microsoft.com/office/drawing/2014/main" id="{2A773DB8-DDA6-40AC-8D3A-DA8567B7C23B}"/>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(1 − ε)ᵐ</a:t>
            </a:r>
          </a:p>
        </p:txBody>
      </p:sp>
      <p:sp>
        <p:nvSpPr>
          <p:cNvPr id="18" name="Rectangle 17">
            <a:extLst>
              <a:ext uri="{FF2B5EF4-FFF2-40B4-BE49-F238E27FC236}">
                <a16:creationId xmlns:a16="http://schemas.microsoft.com/office/drawing/2014/main" id="{3CB23378-CD0B-4463-8BEE-394DAB070424}"/>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e^(−εm)</a:t>
            </a:r>
          </a:p>
        </p:txBody>
      </p:sp>
      <p:sp>
        <p:nvSpPr>
          <p:cNvPr id="19" name="Rectangle 18">
            <a:extLst>
              <a:ext uri="{FF2B5EF4-FFF2-40B4-BE49-F238E27FC236}">
                <a16:creationId xmlns:a16="http://schemas.microsoft.com/office/drawing/2014/main" id="{4FE9ADA8-4D95-490B-AF43-B0D109537DA6}"/>
              </a:ext>
            </a:extLst>
          </p:cNvPr>
          <p:cNvSpPr>
            <a:spLocks noGrp="1"/>
          </p:cNvSpPr>
          <p:nvPr/>
        </p:nvSpPr>
        <p:spPr>
          <a:xfrm>
            <a:off x="876300" y="477202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A bad h is exponentially unlikely to make zero sample mistakes.</a:t>
            </a:r>
          </a:p>
        </p:txBody>
      </p:sp>
    </p:spTree>
    <p:extLst>
      <p:ext uri="{BB962C8B-B14F-4D97-AF65-F5344CB8AC3E}">
        <p14:creationId xmlns:p14="http://schemas.microsoft.com/office/powerpoint/2010/main" val="128918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FB43CB2-96B2-46ED-AFB7-2DAC94446045}"/>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4D72358B-5D27-48F5-9C37-C49C912F5769}"/>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259C20F7-79AE-4A71-AFA4-84D6D5234DBE}"/>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REALIZABLE PROOF</a:t>
            </a:r>
          </a:p>
        </p:txBody>
      </p:sp>
      <p:sp>
        <p:nvSpPr>
          <p:cNvPr id="4" name="Rectangle 3">
            <a:extLst>
              <a:ext uri="{FF2B5EF4-FFF2-40B4-BE49-F238E27FC236}">
                <a16:creationId xmlns:a16="http://schemas.microsoft.com/office/drawing/2014/main" id="{354CE1F9-BA07-4854-B6BD-CDF514F05AEF}"/>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Union bound over the finite class.</a:t>
            </a:r>
          </a:p>
        </p:txBody>
      </p:sp>
      <p:sp>
        <p:nvSpPr>
          <p:cNvPr id="5" name="Rectangle 4">
            <a:extLst>
              <a:ext uri="{FF2B5EF4-FFF2-40B4-BE49-F238E27FC236}">
                <a16:creationId xmlns:a16="http://schemas.microsoft.com/office/drawing/2014/main" id="{33D2A391-A4D0-454A-BE97-386192BD4E38}"/>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4A67F03-33DA-4B63-BBDE-91D66CD3844D}"/>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B51DC131-DE5E-41E2-98ED-9E03B324A67D}"/>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12</a:t>
            </a:r>
          </a:p>
        </p:txBody>
      </p:sp>
      <p:sp>
        <p:nvSpPr>
          <p:cNvPr id="8" name="Rectangle 7">
            <a:extLst>
              <a:ext uri="{FF2B5EF4-FFF2-40B4-BE49-F238E27FC236}">
                <a16:creationId xmlns:a16="http://schemas.microsoft.com/office/drawing/2014/main" id="{B36346C6-B067-4BDD-AC2D-1B02B0DB2D61}"/>
              </a:ext>
            </a:extLst>
          </p:cNvPr>
          <p:cNvSpPr>
            <a:spLocks noGrp="1"/>
          </p:cNvSpPr>
          <p:nvPr/>
        </p:nvSpPr>
        <p:spPr>
          <a:xfrm>
            <a:off x="781050" y="1771650"/>
            <a:ext cx="9334500" cy="2476500"/>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FA89A73A-E29A-4A6C-9CB6-279E2FE5CDBA}"/>
              </a:ext>
            </a:extLst>
          </p:cNvPr>
          <p:cNvSpPr>
            <a:spLocks noGrp="1"/>
          </p:cNvSpPr>
          <p:nvPr/>
        </p:nvSpPr>
        <p:spPr>
          <a:xfrm>
            <a:off x="781050" y="1771650"/>
            <a:ext cx="76200" cy="2476500"/>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6C2B6DA0-C15B-439F-8D2E-23888BD2C9E2}"/>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ℙ[∃h ∈ B : Lₛ(h)=0]</a:t>
            </a:r>
          </a:p>
        </p:txBody>
      </p:sp>
      <p:sp>
        <p:nvSpPr>
          <p:cNvPr id="11" name="Rectangle 10">
            <a:extLst>
              <a:ext uri="{FF2B5EF4-FFF2-40B4-BE49-F238E27FC236}">
                <a16:creationId xmlns:a16="http://schemas.microsoft.com/office/drawing/2014/main" id="{21579EDC-D837-413F-B293-BE04E9CCD269}"/>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Σ_{h∈B} ℙ[Lₛ(h)=0]</a:t>
            </a:r>
          </a:p>
        </p:txBody>
      </p:sp>
      <p:sp>
        <p:nvSpPr>
          <p:cNvPr id="12" name="Rectangle 11">
            <a:extLst>
              <a:ext uri="{FF2B5EF4-FFF2-40B4-BE49-F238E27FC236}">
                <a16:creationId xmlns:a16="http://schemas.microsoft.com/office/drawing/2014/main" id="{1A7A48EB-53FB-4A7F-B280-B81D59311066}"/>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Σ_{h∈B} e^(−εm)</a:t>
            </a:r>
          </a:p>
        </p:txBody>
      </p:sp>
      <p:sp>
        <p:nvSpPr>
          <p:cNvPr id="13" name="Rectangle 12">
            <a:extLst>
              <a:ext uri="{FF2B5EF4-FFF2-40B4-BE49-F238E27FC236}">
                <a16:creationId xmlns:a16="http://schemas.microsoft.com/office/drawing/2014/main" id="{D15249BE-FB06-4B53-91B7-B52AD5E41FC7}"/>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|B|e^(−εm)</a:t>
            </a:r>
          </a:p>
        </p:txBody>
      </p:sp>
      <p:sp>
        <p:nvSpPr>
          <p:cNvPr id="14" name="Rectangle 13">
            <a:extLst>
              <a:ext uri="{FF2B5EF4-FFF2-40B4-BE49-F238E27FC236}">
                <a16:creationId xmlns:a16="http://schemas.microsoft.com/office/drawing/2014/main" id="{E84CAE37-A269-4A64-B86F-33A031445F64}"/>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|ℋ|e^(−εm)</a:t>
            </a:r>
          </a:p>
        </p:txBody>
      </p:sp>
      <p:sp>
        <p:nvSpPr>
          <p:cNvPr id="15" name="Rectangle 14">
            <a:extLst>
              <a:ext uri="{FF2B5EF4-FFF2-40B4-BE49-F238E27FC236}">
                <a16:creationId xmlns:a16="http://schemas.microsoft.com/office/drawing/2014/main" id="{0164D263-78A3-419A-A081-628D6B8D2531}"/>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A7B1F6A6-1380-46B4-856F-D51DDC0B4031}"/>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Thus:</a:t>
            </a:r>
          </a:p>
        </p:txBody>
      </p:sp>
      <p:sp>
        <p:nvSpPr>
          <p:cNvPr id="17" name="Rectangle 16">
            <a:extLst>
              <a:ext uri="{FF2B5EF4-FFF2-40B4-BE49-F238E27FC236}">
                <a16:creationId xmlns:a16="http://schemas.microsoft.com/office/drawing/2014/main" id="{A1FECFCC-A99C-4AE3-811C-E8DB3F3B6F35}"/>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ℙ[L𝒟(ĥ) &gt; ε] ≤ |ℋ|e^(−εm)</a:t>
            </a:r>
          </a:p>
        </p:txBody>
      </p:sp>
      <p:sp>
        <p:nvSpPr>
          <p:cNvPr id="18" name="Rectangle 17">
            <a:extLst>
              <a:ext uri="{FF2B5EF4-FFF2-40B4-BE49-F238E27FC236}">
                <a16:creationId xmlns:a16="http://schemas.microsoft.com/office/drawing/2014/main" id="{8F4956CB-B471-45E9-A9FC-070E61088457}"/>
              </a:ext>
            </a:extLst>
          </p:cNvPr>
          <p:cNvSpPr>
            <a:spLocks noGrp="1"/>
          </p:cNvSpPr>
          <p:nvPr/>
        </p:nvSpPr>
        <p:spPr>
          <a:xfrm>
            <a:off x="876300" y="4610100"/>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The finite-class assumption enters exactly at the union bound.</a:t>
            </a:r>
          </a:p>
        </p:txBody>
      </p:sp>
    </p:spTree>
    <p:extLst>
      <p:ext uri="{BB962C8B-B14F-4D97-AF65-F5344CB8AC3E}">
        <p14:creationId xmlns:p14="http://schemas.microsoft.com/office/powerpoint/2010/main" val="624513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0D3E59E-2835-4EEB-BDA8-A6BE74C1A777}"/>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EB05C52F-EB73-4613-B804-E0B0511F556C}"/>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959CF38-B122-45DE-B685-FDA82A542823}"/>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REALIZABLE PROOF</a:t>
            </a:r>
          </a:p>
        </p:txBody>
      </p:sp>
      <p:sp>
        <p:nvSpPr>
          <p:cNvPr id="4" name="Rectangle 3">
            <a:extLst>
              <a:ext uri="{FF2B5EF4-FFF2-40B4-BE49-F238E27FC236}">
                <a16:creationId xmlns:a16="http://schemas.microsoft.com/office/drawing/2014/main" id="{693491AA-2660-4282-8E47-8B2729A40752}"/>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Choose m so the failure probability is at most δ.</a:t>
            </a:r>
          </a:p>
        </p:txBody>
      </p:sp>
      <p:sp>
        <p:nvSpPr>
          <p:cNvPr id="5" name="Rectangle 4">
            <a:extLst>
              <a:ext uri="{FF2B5EF4-FFF2-40B4-BE49-F238E27FC236}">
                <a16:creationId xmlns:a16="http://schemas.microsoft.com/office/drawing/2014/main" id="{17F262AA-167E-46B9-89D8-A13D20C5B7E8}"/>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2B61FA2C-8190-4B20-A46C-AF0C51D58654}"/>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A9C80D67-6675-4C6A-AD10-E1EDDB4226A6}"/>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13</a:t>
            </a:r>
          </a:p>
        </p:txBody>
      </p:sp>
      <p:sp>
        <p:nvSpPr>
          <p:cNvPr id="8" name="Rectangle 7">
            <a:extLst>
              <a:ext uri="{FF2B5EF4-FFF2-40B4-BE49-F238E27FC236}">
                <a16:creationId xmlns:a16="http://schemas.microsoft.com/office/drawing/2014/main" id="{4131651E-E086-4028-AC43-FC1E1E58A9F9}"/>
              </a:ext>
            </a:extLst>
          </p:cNvPr>
          <p:cNvSpPr>
            <a:spLocks noGrp="1"/>
          </p:cNvSpPr>
          <p:nvPr/>
        </p:nvSpPr>
        <p:spPr>
          <a:xfrm>
            <a:off x="781050" y="1771650"/>
            <a:ext cx="9334500" cy="2476500"/>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35071E07-2A00-4757-99DE-37417C9578BD}"/>
              </a:ext>
            </a:extLst>
          </p:cNvPr>
          <p:cNvSpPr>
            <a:spLocks noGrp="1"/>
          </p:cNvSpPr>
          <p:nvPr/>
        </p:nvSpPr>
        <p:spPr>
          <a:xfrm>
            <a:off x="781050" y="1771650"/>
            <a:ext cx="76200" cy="2476500"/>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31E88F8A-8FC6-4B8A-A023-EF081F8B335E}"/>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|ℋ|e^(−εm) ≤ δ</a:t>
            </a:r>
          </a:p>
        </p:txBody>
      </p:sp>
      <p:sp>
        <p:nvSpPr>
          <p:cNvPr id="11" name="Rectangle 10">
            <a:extLst>
              <a:ext uri="{FF2B5EF4-FFF2-40B4-BE49-F238E27FC236}">
                <a16:creationId xmlns:a16="http://schemas.microsoft.com/office/drawing/2014/main" id="{3EAD2E96-D196-4EFD-A8D1-A0E0E7165EDF}"/>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3CBE65ED-37D2-4F5B-8FB8-7393130F1C32}"/>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log |ℋ| − εm ≤ log δ</a:t>
            </a:r>
          </a:p>
        </p:txBody>
      </p:sp>
      <p:sp>
        <p:nvSpPr>
          <p:cNvPr id="13" name="Rectangle 12">
            <a:extLst>
              <a:ext uri="{FF2B5EF4-FFF2-40B4-BE49-F238E27FC236}">
                <a16:creationId xmlns:a16="http://schemas.microsoft.com/office/drawing/2014/main" id="{0FC1C3BE-6F6E-4CA3-B6E5-114F62E39551}"/>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−εm ≤ log δ − log |ℋ|</a:t>
            </a:r>
          </a:p>
        </p:txBody>
      </p:sp>
      <p:sp>
        <p:nvSpPr>
          <p:cNvPr id="14" name="Rectangle 13">
            <a:extLst>
              <a:ext uri="{FF2B5EF4-FFF2-40B4-BE49-F238E27FC236}">
                <a16:creationId xmlns:a16="http://schemas.microsoft.com/office/drawing/2014/main" id="{6A5A9994-9B19-4EE8-8DB4-68946F8C9FB8}"/>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εm ≥ log |ℋ| + log(1/δ)</a:t>
            </a:r>
          </a:p>
        </p:txBody>
      </p:sp>
      <p:sp>
        <p:nvSpPr>
          <p:cNvPr id="15" name="Rectangle 14">
            <a:extLst>
              <a:ext uri="{FF2B5EF4-FFF2-40B4-BE49-F238E27FC236}">
                <a16:creationId xmlns:a16="http://schemas.microsoft.com/office/drawing/2014/main" id="{5ECA594F-0C76-45C6-B5BC-ED905B9C2464}"/>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789EDDF6-B4D2-4B0B-8A5A-648181552F9A}"/>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m ≥ (1/ε)(log |ℋ| + log(1/δ))</a:t>
            </a:r>
          </a:p>
        </p:txBody>
      </p:sp>
      <p:sp>
        <p:nvSpPr>
          <p:cNvPr id="17" name="Rectangle 16">
            <a:extLst>
              <a:ext uri="{FF2B5EF4-FFF2-40B4-BE49-F238E27FC236}">
                <a16:creationId xmlns:a16="http://schemas.microsoft.com/office/drawing/2014/main" id="{6BE16A71-07F4-49C7-9686-24E066EE7B19}"/>
              </a:ext>
            </a:extLst>
          </p:cNvPr>
          <p:cNvSpPr>
            <a:spLocks noGrp="1"/>
          </p:cNvSpPr>
          <p:nvPr/>
        </p:nvSpPr>
        <p:spPr>
          <a:xfrm>
            <a:off x="876300" y="4610100"/>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This is the realizable sample complexity.</a:t>
            </a:r>
          </a:p>
        </p:txBody>
      </p:sp>
    </p:spTree>
    <p:extLst>
      <p:ext uri="{BB962C8B-B14F-4D97-AF65-F5344CB8AC3E}">
        <p14:creationId xmlns:p14="http://schemas.microsoft.com/office/powerpoint/2010/main" val="648383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F1D08B9-2542-4E9B-8B26-159F104BE509}"/>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F3BA6C62-DD73-451A-B51C-BBF0265A7143}"/>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77988863-6067-410F-A655-3240A378660C}"/>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REALIZABLE THEOREM</a:t>
            </a:r>
          </a:p>
        </p:txBody>
      </p:sp>
      <p:sp>
        <p:nvSpPr>
          <p:cNvPr id="4" name="Rectangle 3">
            <a:extLst>
              <a:ext uri="{FF2B5EF4-FFF2-40B4-BE49-F238E27FC236}">
                <a16:creationId xmlns:a16="http://schemas.microsoft.com/office/drawing/2014/main" id="{11A1CA0D-7571-47A8-8CB4-E9F6A8E949E0}"/>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Final realizable finite-class guarantee.</a:t>
            </a:r>
          </a:p>
        </p:txBody>
      </p:sp>
      <p:sp>
        <p:nvSpPr>
          <p:cNvPr id="5" name="Rectangle 4">
            <a:extLst>
              <a:ext uri="{FF2B5EF4-FFF2-40B4-BE49-F238E27FC236}">
                <a16:creationId xmlns:a16="http://schemas.microsoft.com/office/drawing/2014/main" id="{BA748411-0585-4A5D-8BF1-0C775D4312C0}"/>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FC396CB-338F-43C4-A011-B9D66F59BB1A}"/>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B76908BC-B0E6-4D8C-875A-D8040CDFA4B6}"/>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14</a:t>
            </a:r>
          </a:p>
        </p:txBody>
      </p:sp>
      <p:sp>
        <p:nvSpPr>
          <p:cNvPr id="8" name="Rectangle 7">
            <a:extLst>
              <a:ext uri="{FF2B5EF4-FFF2-40B4-BE49-F238E27FC236}">
                <a16:creationId xmlns:a16="http://schemas.microsoft.com/office/drawing/2014/main" id="{F01D808B-BF73-45E7-B2D3-076F4233420D}"/>
              </a:ext>
            </a:extLst>
          </p:cNvPr>
          <p:cNvSpPr>
            <a:spLocks noGrp="1"/>
          </p:cNvSpPr>
          <p:nvPr/>
        </p:nvSpPr>
        <p:spPr>
          <a:xfrm>
            <a:off x="781050" y="1771650"/>
            <a:ext cx="9334500" cy="311467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B276BD35-EB73-453C-9BAD-93A2EC636E85}"/>
              </a:ext>
            </a:extLst>
          </p:cNvPr>
          <p:cNvSpPr>
            <a:spLocks noGrp="1"/>
          </p:cNvSpPr>
          <p:nvPr/>
        </p:nvSpPr>
        <p:spPr>
          <a:xfrm>
            <a:off x="781050" y="1771650"/>
            <a:ext cx="76200" cy="311467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DC5A7AD6-C7E4-4EE4-A0D8-9D90EBE73CA1}"/>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If</a:t>
            </a:r>
          </a:p>
        </p:txBody>
      </p:sp>
      <p:sp>
        <p:nvSpPr>
          <p:cNvPr id="11" name="Rectangle 10">
            <a:extLst>
              <a:ext uri="{FF2B5EF4-FFF2-40B4-BE49-F238E27FC236}">
                <a16:creationId xmlns:a16="http://schemas.microsoft.com/office/drawing/2014/main" id="{87351E29-6B3C-4326-BACE-80EF31C3BD76}"/>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∃h* ∈ ℋ,  L𝒟(h*) = 0</a:t>
            </a:r>
          </a:p>
        </p:txBody>
      </p:sp>
      <p:sp>
        <p:nvSpPr>
          <p:cNvPr id="12" name="Rectangle 11">
            <a:extLst>
              <a:ext uri="{FF2B5EF4-FFF2-40B4-BE49-F238E27FC236}">
                <a16:creationId xmlns:a16="http://schemas.microsoft.com/office/drawing/2014/main" id="{C3B68418-9674-41FD-AD51-580313CFF957}"/>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m ≥ (1/ε)(log |ℋ| + log(1/δ))</a:t>
            </a:r>
          </a:p>
        </p:txBody>
      </p:sp>
      <p:sp>
        <p:nvSpPr>
          <p:cNvPr id="13" name="Rectangle 12">
            <a:extLst>
              <a:ext uri="{FF2B5EF4-FFF2-40B4-BE49-F238E27FC236}">
                <a16:creationId xmlns:a16="http://schemas.microsoft.com/office/drawing/2014/main" id="{37C9A6FC-46CC-45AD-9702-FC0B872E796B}"/>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4" name="Rectangle 13">
            <a:extLst>
              <a:ext uri="{FF2B5EF4-FFF2-40B4-BE49-F238E27FC236}">
                <a16:creationId xmlns:a16="http://schemas.microsoft.com/office/drawing/2014/main" id="{3ABA38CA-61F0-4200-95DF-891F41196F5E}"/>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then</a:t>
            </a:r>
          </a:p>
        </p:txBody>
      </p:sp>
      <p:sp>
        <p:nvSpPr>
          <p:cNvPr id="15" name="Rectangle 14">
            <a:extLst>
              <a:ext uri="{FF2B5EF4-FFF2-40B4-BE49-F238E27FC236}">
                <a16:creationId xmlns:a16="http://schemas.microsoft.com/office/drawing/2014/main" id="{964287BF-BC28-43CA-86A1-D85C1E7345DD}"/>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B3A09116-2EAF-49FC-9189-6580236B557A}"/>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ℙ[L𝒟(ĥ) &gt; ε] ≤ δ</a:t>
            </a:r>
          </a:p>
        </p:txBody>
      </p:sp>
      <p:sp>
        <p:nvSpPr>
          <p:cNvPr id="17" name="Rectangle 16">
            <a:extLst>
              <a:ext uri="{FF2B5EF4-FFF2-40B4-BE49-F238E27FC236}">
                <a16:creationId xmlns:a16="http://schemas.microsoft.com/office/drawing/2014/main" id="{A09701F5-4ACC-476F-ADB0-DD4E6E7F4B8C}"/>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8" name="Rectangle 17">
            <a:extLst>
              <a:ext uri="{FF2B5EF4-FFF2-40B4-BE49-F238E27FC236}">
                <a16:creationId xmlns:a16="http://schemas.microsoft.com/office/drawing/2014/main" id="{1C7B6143-5A6C-4911-8F7D-8B21D726FA9A}"/>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equivalently</a:t>
            </a:r>
          </a:p>
        </p:txBody>
      </p:sp>
      <p:sp>
        <p:nvSpPr>
          <p:cNvPr id="19" name="Rectangle 18">
            <a:extLst>
              <a:ext uri="{FF2B5EF4-FFF2-40B4-BE49-F238E27FC236}">
                <a16:creationId xmlns:a16="http://schemas.microsoft.com/office/drawing/2014/main" id="{08691020-3318-41D5-879D-FC2D07699C9F}"/>
              </a:ext>
            </a:extLst>
          </p:cNvPr>
          <p:cNvSpPr>
            <a:spLocks noGrp="1"/>
          </p:cNvSpPr>
          <p:nvPr/>
        </p:nvSpPr>
        <p:spPr>
          <a:xfrm>
            <a:off x="1047750" y="43815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20" name="Rectangle 19">
            <a:extLst>
              <a:ext uri="{FF2B5EF4-FFF2-40B4-BE49-F238E27FC236}">
                <a16:creationId xmlns:a16="http://schemas.microsoft.com/office/drawing/2014/main" id="{5FA2BDA4-1235-452E-ABF3-DE49D3BC6253}"/>
              </a:ext>
            </a:extLst>
          </p:cNvPr>
          <p:cNvSpPr>
            <a:spLocks noGrp="1"/>
          </p:cNvSpPr>
          <p:nvPr/>
        </p:nvSpPr>
        <p:spPr>
          <a:xfrm>
            <a:off x="1047750" y="4648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ℙ[L𝒟(ĥ) ≤ ε] ≥ 1 − δ.</a:t>
            </a:r>
          </a:p>
        </p:txBody>
      </p:sp>
      <p:sp>
        <p:nvSpPr>
          <p:cNvPr id="21" name="Rectangle 20">
            <a:extLst>
              <a:ext uri="{FF2B5EF4-FFF2-40B4-BE49-F238E27FC236}">
                <a16:creationId xmlns:a16="http://schemas.microsoft.com/office/drawing/2014/main" id="{A7F1542C-C2FE-47B9-A7FD-750F25510BD9}"/>
              </a:ext>
            </a:extLst>
          </p:cNvPr>
          <p:cNvSpPr>
            <a:spLocks noGrp="1"/>
          </p:cNvSpPr>
          <p:nvPr/>
        </p:nvSpPr>
        <p:spPr>
          <a:xfrm>
            <a:off x="876300" y="524827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In Lean, the probability-heavy bound is an explicit assumed result.</a:t>
            </a:r>
          </a:p>
        </p:txBody>
      </p:sp>
    </p:spTree>
    <p:extLst>
      <p:ext uri="{BB962C8B-B14F-4D97-AF65-F5344CB8AC3E}">
        <p14:creationId xmlns:p14="http://schemas.microsoft.com/office/powerpoint/2010/main" val="217224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7EA1FF4-40EE-4A5D-BC6A-63C1EEA86E43}"/>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D546FC8C-8277-4EF1-80BE-348E985D642A}"/>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C9FE288-B17C-4083-AC18-A17FF372ABBA}"/>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AGNOSTIC</a:t>
            </a:r>
          </a:p>
        </p:txBody>
      </p:sp>
      <p:sp>
        <p:nvSpPr>
          <p:cNvPr id="4" name="Rectangle 3">
            <a:extLst>
              <a:ext uri="{FF2B5EF4-FFF2-40B4-BE49-F238E27FC236}">
                <a16:creationId xmlns:a16="http://schemas.microsoft.com/office/drawing/2014/main" id="{E28C65D4-3453-4BBC-8477-2B28C30026AA}"/>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No perfect classifier is assumed.</a:t>
            </a:r>
          </a:p>
        </p:txBody>
      </p:sp>
      <p:sp>
        <p:nvSpPr>
          <p:cNvPr id="5" name="Rectangle 4">
            <a:extLst>
              <a:ext uri="{FF2B5EF4-FFF2-40B4-BE49-F238E27FC236}">
                <a16:creationId xmlns:a16="http://schemas.microsoft.com/office/drawing/2014/main" id="{4C81126E-A5A6-4F4F-AEDF-A42FA2FFBDB5}"/>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813B7045-66F4-40EB-82BF-30F59F3B6350}"/>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EBDD8C8F-DC0A-4920-9682-345E173CC423}"/>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15</a:t>
            </a:r>
          </a:p>
        </p:txBody>
      </p:sp>
      <p:sp>
        <p:nvSpPr>
          <p:cNvPr id="8" name="Rectangle 7">
            <a:extLst>
              <a:ext uri="{FF2B5EF4-FFF2-40B4-BE49-F238E27FC236}">
                <a16:creationId xmlns:a16="http://schemas.microsoft.com/office/drawing/2014/main" id="{1189D206-2484-4243-BE40-7A98D0E05479}"/>
              </a:ext>
            </a:extLst>
          </p:cNvPr>
          <p:cNvSpPr>
            <a:spLocks noGrp="1"/>
          </p:cNvSpPr>
          <p:nvPr/>
        </p:nvSpPr>
        <p:spPr>
          <a:xfrm>
            <a:off x="781050" y="1771650"/>
            <a:ext cx="9334500" cy="2876550"/>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16C102C8-6925-4FB2-AF26-3D541E8274B1}"/>
              </a:ext>
            </a:extLst>
          </p:cNvPr>
          <p:cNvSpPr>
            <a:spLocks noGrp="1"/>
          </p:cNvSpPr>
          <p:nvPr/>
        </p:nvSpPr>
        <p:spPr>
          <a:xfrm>
            <a:off x="781050" y="1771650"/>
            <a:ext cx="76200" cy="2876550"/>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C33C9B5C-E745-4886-8987-DCD8E1D7BEE9}"/>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Maybe:  ∀h ∈ ℋ,  L𝒟(h) &gt; 0</a:t>
            </a:r>
          </a:p>
        </p:txBody>
      </p:sp>
      <p:sp>
        <p:nvSpPr>
          <p:cNvPr id="11" name="Rectangle 10">
            <a:extLst>
              <a:ext uri="{FF2B5EF4-FFF2-40B4-BE49-F238E27FC236}">
                <a16:creationId xmlns:a16="http://schemas.microsoft.com/office/drawing/2014/main" id="{86466C64-AE66-42F5-A57F-F355BFC307FE}"/>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C05CD7CB-302D-4E29-BC61-3FE41D0BF701}"/>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h* ∈ argmin_{h∈ℋ} L𝒟(h)</a:t>
            </a:r>
          </a:p>
        </p:txBody>
      </p:sp>
      <p:sp>
        <p:nvSpPr>
          <p:cNvPr id="13" name="Rectangle 12">
            <a:extLst>
              <a:ext uri="{FF2B5EF4-FFF2-40B4-BE49-F238E27FC236}">
                <a16:creationId xmlns:a16="http://schemas.microsoft.com/office/drawing/2014/main" id="{7B638018-949A-4C66-8F7A-F2498D212544}"/>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ĥ  ∈ argmin_{h∈ℋ} Lₛ(h)</a:t>
            </a:r>
          </a:p>
        </p:txBody>
      </p:sp>
      <p:sp>
        <p:nvSpPr>
          <p:cNvPr id="14" name="Rectangle 13">
            <a:extLst>
              <a:ext uri="{FF2B5EF4-FFF2-40B4-BE49-F238E27FC236}">
                <a16:creationId xmlns:a16="http://schemas.microsoft.com/office/drawing/2014/main" id="{0334FE95-A563-4B24-88DC-6CCF3235512E}"/>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5" name="Rectangle 14">
            <a:extLst>
              <a:ext uri="{FF2B5EF4-FFF2-40B4-BE49-F238E27FC236}">
                <a16:creationId xmlns:a16="http://schemas.microsoft.com/office/drawing/2014/main" id="{AB94C6E5-1083-4F0C-8F76-C9DF80571BD4}"/>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Goal:</a:t>
            </a:r>
          </a:p>
        </p:txBody>
      </p:sp>
      <p:sp>
        <p:nvSpPr>
          <p:cNvPr id="16" name="Rectangle 15">
            <a:extLst>
              <a:ext uri="{FF2B5EF4-FFF2-40B4-BE49-F238E27FC236}">
                <a16:creationId xmlns:a16="http://schemas.microsoft.com/office/drawing/2014/main" id="{05096BD1-E216-4F3D-BA25-360338E24A23}"/>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7" name="Rectangle 16">
            <a:extLst>
              <a:ext uri="{FF2B5EF4-FFF2-40B4-BE49-F238E27FC236}">
                <a16:creationId xmlns:a16="http://schemas.microsoft.com/office/drawing/2014/main" id="{C9BD3B0D-B9EC-4CD3-98FF-40F0BD5C1CB5}"/>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L𝒟(ĥ) ≤ L𝒟(h*) + 2ε</a:t>
            </a:r>
          </a:p>
        </p:txBody>
      </p:sp>
      <p:sp>
        <p:nvSpPr>
          <p:cNvPr id="18" name="Rectangle 17">
            <a:extLst>
              <a:ext uri="{FF2B5EF4-FFF2-40B4-BE49-F238E27FC236}">
                <a16:creationId xmlns:a16="http://schemas.microsoft.com/office/drawing/2014/main" id="{407CC184-7866-4044-8290-C960DA6499B6}"/>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9" name="Rectangle 18">
            <a:extLst>
              <a:ext uri="{FF2B5EF4-FFF2-40B4-BE49-F238E27FC236}">
                <a16:creationId xmlns:a16="http://schemas.microsoft.com/office/drawing/2014/main" id="{B95F106C-5301-4775-86A5-BBF608A3F523}"/>
              </a:ext>
            </a:extLst>
          </p:cNvPr>
          <p:cNvSpPr>
            <a:spLocks noGrp="1"/>
          </p:cNvSpPr>
          <p:nvPr/>
        </p:nvSpPr>
        <p:spPr>
          <a:xfrm>
            <a:off x="1047750" y="43815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with high probability.</a:t>
            </a:r>
          </a:p>
        </p:txBody>
      </p:sp>
      <p:sp>
        <p:nvSpPr>
          <p:cNvPr id="20" name="Rectangle 19">
            <a:extLst>
              <a:ext uri="{FF2B5EF4-FFF2-40B4-BE49-F238E27FC236}">
                <a16:creationId xmlns:a16="http://schemas.microsoft.com/office/drawing/2014/main" id="{9C4B96EF-7DE1-47F8-A42F-31C6E513EA61}"/>
              </a:ext>
            </a:extLst>
          </p:cNvPr>
          <p:cNvSpPr>
            <a:spLocks noGrp="1"/>
          </p:cNvSpPr>
          <p:nvPr/>
        </p:nvSpPr>
        <p:spPr>
          <a:xfrm>
            <a:off x="876300" y="5010150"/>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ERM should compete with the best hypothesis in ℋ.</a:t>
            </a:r>
          </a:p>
        </p:txBody>
      </p:sp>
    </p:spTree>
    <p:extLst>
      <p:ext uri="{BB962C8B-B14F-4D97-AF65-F5344CB8AC3E}">
        <p14:creationId xmlns:p14="http://schemas.microsoft.com/office/powerpoint/2010/main" val="326032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D14CFC1-3A7D-41ED-BCBA-11C6E326C208}"/>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954769C-CECF-4A4F-9D0D-0131532C5E1C}"/>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8A76CE09-F001-4DBB-A247-592C0D618BCB}"/>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AGNOSTIC LEMMA</a:t>
            </a:r>
          </a:p>
        </p:txBody>
      </p:sp>
      <p:sp>
        <p:nvSpPr>
          <p:cNvPr id="4" name="Rectangle 3">
            <a:extLst>
              <a:ext uri="{FF2B5EF4-FFF2-40B4-BE49-F238E27FC236}">
                <a16:creationId xmlns:a16="http://schemas.microsoft.com/office/drawing/2014/main" id="{C11A310E-99D0-46CE-B2F9-4B48377085A4}"/>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Deterministic assumption: uniform convergence.</a:t>
            </a:r>
          </a:p>
        </p:txBody>
      </p:sp>
      <p:sp>
        <p:nvSpPr>
          <p:cNvPr id="5" name="Rectangle 4">
            <a:extLst>
              <a:ext uri="{FF2B5EF4-FFF2-40B4-BE49-F238E27FC236}">
                <a16:creationId xmlns:a16="http://schemas.microsoft.com/office/drawing/2014/main" id="{EB570911-D15C-498B-A886-BEF13BE588E5}"/>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46CC4B9-75DA-4F2F-87CD-8CDD5A9E069E}"/>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67958812-456A-4EAC-A9FF-15CA220DCDFF}"/>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16</a:t>
            </a:r>
          </a:p>
        </p:txBody>
      </p:sp>
      <p:sp>
        <p:nvSpPr>
          <p:cNvPr id="8" name="Rectangle 7">
            <a:extLst>
              <a:ext uri="{FF2B5EF4-FFF2-40B4-BE49-F238E27FC236}">
                <a16:creationId xmlns:a16="http://schemas.microsoft.com/office/drawing/2014/main" id="{88750194-3576-4ECA-B125-E48D78F94043}"/>
              </a:ext>
            </a:extLst>
          </p:cNvPr>
          <p:cNvSpPr>
            <a:spLocks noGrp="1"/>
          </p:cNvSpPr>
          <p:nvPr/>
        </p:nvSpPr>
        <p:spPr>
          <a:xfrm>
            <a:off x="781050" y="1771650"/>
            <a:ext cx="9334500" cy="311467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347E9DA6-A705-477D-BBFE-43F639C6F937}"/>
              </a:ext>
            </a:extLst>
          </p:cNvPr>
          <p:cNvSpPr>
            <a:spLocks noGrp="1"/>
          </p:cNvSpPr>
          <p:nvPr/>
        </p:nvSpPr>
        <p:spPr>
          <a:xfrm>
            <a:off x="781050" y="1771650"/>
            <a:ext cx="76200" cy="311467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F8E0850B-79C8-44D1-B671-5C879B54490C}"/>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Assume:</a:t>
            </a:r>
          </a:p>
        </p:txBody>
      </p:sp>
      <p:sp>
        <p:nvSpPr>
          <p:cNvPr id="11" name="Rectangle 10">
            <a:extLst>
              <a:ext uri="{FF2B5EF4-FFF2-40B4-BE49-F238E27FC236}">
                <a16:creationId xmlns:a16="http://schemas.microsoft.com/office/drawing/2014/main" id="{6345BD8E-ADA4-46B2-8610-BDE4D37561D1}"/>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2DAB7E1A-E839-4826-8BD9-8798453689C7}"/>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∀h ∈ ℋ,   |L𝒟(h) − Lₛ(h)| ≤ ε</a:t>
            </a:r>
          </a:p>
        </p:txBody>
      </p:sp>
      <p:sp>
        <p:nvSpPr>
          <p:cNvPr id="13" name="Rectangle 12">
            <a:extLst>
              <a:ext uri="{FF2B5EF4-FFF2-40B4-BE49-F238E27FC236}">
                <a16:creationId xmlns:a16="http://schemas.microsoft.com/office/drawing/2014/main" id="{6AC3DCE1-CB7D-4B72-B829-7243404F07CE}"/>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4" name="Rectangle 13">
            <a:extLst>
              <a:ext uri="{FF2B5EF4-FFF2-40B4-BE49-F238E27FC236}">
                <a16:creationId xmlns:a16="http://schemas.microsoft.com/office/drawing/2014/main" id="{A2020FE6-1D42-45EC-9881-ED08440C495A}"/>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So for every h ∈ ℋ:</a:t>
            </a:r>
          </a:p>
        </p:txBody>
      </p:sp>
      <p:sp>
        <p:nvSpPr>
          <p:cNvPr id="15" name="Rectangle 14">
            <a:extLst>
              <a:ext uri="{FF2B5EF4-FFF2-40B4-BE49-F238E27FC236}">
                <a16:creationId xmlns:a16="http://schemas.microsoft.com/office/drawing/2014/main" id="{4F4D0049-3DC0-4599-B889-8581F87B6545}"/>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5F519EBD-8746-40EC-A512-F48C4D30A5A7}"/>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L𝒟(h) ≤ Lₛ(h) + ε</a:t>
            </a:r>
          </a:p>
        </p:txBody>
      </p:sp>
      <p:sp>
        <p:nvSpPr>
          <p:cNvPr id="17" name="Rectangle 16">
            <a:extLst>
              <a:ext uri="{FF2B5EF4-FFF2-40B4-BE49-F238E27FC236}">
                <a16:creationId xmlns:a16="http://schemas.microsoft.com/office/drawing/2014/main" id="{BD3215F2-CBCA-4DF1-9953-7FBEB4DDC962}"/>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Lₛ(h) ≤ L𝒟(h) + ε</a:t>
            </a:r>
          </a:p>
        </p:txBody>
      </p:sp>
      <p:sp>
        <p:nvSpPr>
          <p:cNvPr id="18" name="Rectangle 17">
            <a:extLst>
              <a:ext uri="{FF2B5EF4-FFF2-40B4-BE49-F238E27FC236}">
                <a16:creationId xmlns:a16="http://schemas.microsoft.com/office/drawing/2014/main" id="{325DE97D-E39D-4FBE-BE27-30AECA01390F}"/>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9" name="Rectangle 18">
            <a:extLst>
              <a:ext uri="{FF2B5EF4-FFF2-40B4-BE49-F238E27FC236}">
                <a16:creationId xmlns:a16="http://schemas.microsoft.com/office/drawing/2014/main" id="{1C06BA4F-F941-4F9A-AF61-F5A3B10E79D0}"/>
              </a:ext>
            </a:extLst>
          </p:cNvPr>
          <p:cNvSpPr>
            <a:spLocks noGrp="1"/>
          </p:cNvSpPr>
          <p:nvPr/>
        </p:nvSpPr>
        <p:spPr>
          <a:xfrm>
            <a:off x="1047750" y="43815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ERM:</a:t>
            </a:r>
          </a:p>
        </p:txBody>
      </p:sp>
      <p:sp>
        <p:nvSpPr>
          <p:cNvPr id="20" name="Rectangle 19">
            <a:extLst>
              <a:ext uri="{FF2B5EF4-FFF2-40B4-BE49-F238E27FC236}">
                <a16:creationId xmlns:a16="http://schemas.microsoft.com/office/drawing/2014/main" id="{E8A50158-FABA-4D7B-B461-7DB83B4EAA54}"/>
              </a:ext>
            </a:extLst>
          </p:cNvPr>
          <p:cNvSpPr>
            <a:spLocks noGrp="1"/>
          </p:cNvSpPr>
          <p:nvPr/>
        </p:nvSpPr>
        <p:spPr>
          <a:xfrm>
            <a:off x="1047750" y="4648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∀h ∈ ℋ,   Lₛ(ĥ) ≤ Lₛ(h)</a:t>
            </a:r>
          </a:p>
        </p:txBody>
      </p:sp>
      <p:sp>
        <p:nvSpPr>
          <p:cNvPr id="21" name="Rectangle 20">
            <a:extLst>
              <a:ext uri="{FF2B5EF4-FFF2-40B4-BE49-F238E27FC236}">
                <a16:creationId xmlns:a16="http://schemas.microsoft.com/office/drawing/2014/main" id="{6DB8F0A2-8C40-42B3-9955-840E352415C8}"/>
              </a:ext>
            </a:extLst>
          </p:cNvPr>
          <p:cNvSpPr>
            <a:spLocks noGrp="1"/>
          </p:cNvSpPr>
          <p:nvPr/>
        </p:nvSpPr>
        <p:spPr>
          <a:xfrm>
            <a:off x="876300" y="524827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This deterministic lemma is the theorem fully proved in Lean.</a:t>
            </a:r>
          </a:p>
        </p:txBody>
      </p:sp>
    </p:spTree>
    <p:extLst>
      <p:ext uri="{BB962C8B-B14F-4D97-AF65-F5344CB8AC3E}">
        <p14:creationId xmlns:p14="http://schemas.microsoft.com/office/powerpoint/2010/main" val="1780163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D3C6F93-478A-401C-820F-996FC9F0B29B}"/>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651C485-4052-40B2-9DB3-66F6B394127A}"/>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64A40460-E001-40E0-90FC-E4C6D48641CE}"/>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AGNOSTIC LEMMA</a:t>
            </a:r>
          </a:p>
        </p:txBody>
      </p:sp>
      <p:sp>
        <p:nvSpPr>
          <p:cNvPr id="4" name="Rectangle 3">
            <a:extLst>
              <a:ext uri="{FF2B5EF4-FFF2-40B4-BE49-F238E27FC236}">
                <a16:creationId xmlns:a16="http://schemas.microsoft.com/office/drawing/2014/main" id="{B405F9B6-DB8E-4CE8-8B68-FAC935165098}"/>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Deterministic ERM proof.</a:t>
            </a:r>
          </a:p>
        </p:txBody>
      </p:sp>
      <p:sp>
        <p:nvSpPr>
          <p:cNvPr id="5" name="Rectangle 4">
            <a:extLst>
              <a:ext uri="{FF2B5EF4-FFF2-40B4-BE49-F238E27FC236}">
                <a16:creationId xmlns:a16="http://schemas.microsoft.com/office/drawing/2014/main" id="{91ACF238-5DBB-4091-B187-650B78C8C38C}"/>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45548A10-7A01-4EDE-B37E-9C0427A187D4}"/>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B7BF8625-894A-4FF9-AD03-50A532463EF7}"/>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17</a:t>
            </a:r>
          </a:p>
        </p:txBody>
      </p:sp>
      <p:sp>
        <p:nvSpPr>
          <p:cNvPr id="8" name="Rectangle 7">
            <a:extLst>
              <a:ext uri="{FF2B5EF4-FFF2-40B4-BE49-F238E27FC236}">
                <a16:creationId xmlns:a16="http://schemas.microsoft.com/office/drawing/2014/main" id="{F59A4A9B-FA98-402C-93B4-BFFA9CCC688D}"/>
              </a:ext>
            </a:extLst>
          </p:cNvPr>
          <p:cNvSpPr>
            <a:spLocks noGrp="1"/>
          </p:cNvSpPr>
          <p:nvPr/>
        </p:nvSpPr>
        <p:spPr>
          <a:xfrm>
            <a:off x="781050" y="1771650"/>
            <a:ext cx="9334500" cy="263842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CA49C624-5EF6-456D-9161-5DF3680DEC0A}"/>
              </a:ext>
            </a:extLst>
          </p:cNvPr>
          <p:cNvSpPr>
            <a:spLocks noGrp="1"/>
          </p:cNvSpPr>
          <p:nvPr/>
        </p:nvSpPr>
        <p:spPr>
          <a:xfrm>
            <a:off x="781050" y="1771650"/>
            <a:ext cx="76200" cy="263842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6CF3CD28-D69C-4F83-8BF7-8B47EBCE9A0A}"/>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L𝒟(ĥ)</a:t>
            </a:r>
          </a:p>
        </p:txBody>
      </p:sp>
      <p:sp>
        <p:nvSpPr>
          <p:cNvPr id="11" name="Rectangle 10">
            <a:extLst>
              <a:ext uri="{FF2B5EF4-FFF2-40B4-BE49-F238E27FC236}">
                <a16:creationId xmlns:a16="http://schemas.microsoft.com/office/drawing/2014/main" id="{6EEA1D8C-6345-474E-A4CE-7C01D427C4BC}"/>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Lₛ(ĥ) + ε          uniform convergence on ĥ</a:t>
            </a:r>
          </a:p>
        </p:txBody>
      </p:sp>
      <p:sp>
        <p:nvSpPr>
          <p:cNvPr id="12" name="Rectangle 11">
            <a:extLst>
              <a:ext uri="{FF2B5EF4-FFF2-40B4-BE49-F238E27FC236}">
                <a16:creationId xmlns:a16="http://schemas.microsoft.com/office/drawing/2014/main" id="{156E98F1-3DAC-4864-8A3E-45732285369C}"/>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Lₛ(h*) + ε         ERM</a:t>
            </a:r>
          </a:p>
        </p:txBody>
      </p:sp>
      <p:sp>
        <p:nvSpPr>
          <p:cNvPr id="13" name="Rectangle 12">
            <a:extLst>
              <a:ext uri="{FF2B5EF4-FFF2-40B4-BE49-F238E27FC236}">
                <a16:creationId xmlns:a16="http://schemas.microsoft.com/office/drawing/2014/main" id="{86D67240-2648-4883-9066-64AAB9B83ACD}"/>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L𝒟(h*) + ε + ε     uniform convergence on h*</a:t>
            </a:r>
          </a:p>
        </p:txBody>
      </p:sp>
      <p:sp>
        <p:nvSpPr>
          <p:cNvPr id="14" name="Rectangle 13">
            <a:extLst>
              <a:ext uri="{FF2B5EF4-FFF2-40B4-BE49-F238E27FC236}">
                <a16:creationId xmlns:a16="http://schemas.microsoft.com/office/drawing/2014/main" id="{03175BDA-94D2-4957-B8FE-961DBF77DE26}"/>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L𝒟(h*) + 2ε</a:t>
            </a:r>
          </a:p>
        </p:txBody>
      </p:sp>
      <p:sp>
        <p:nvSpPr>
          <p:cNvPr id="15" name="Rectangle 14">
            <a:extLst>
              <a:ext uri="{FF2B5EF4-FFF2-40B4-BE49-F238E27FC236}">
                <a16:creationId xmlns:a16="http://schemas.microsoft.com/office/drawing/2014/main" id="{79835AE1-17C2-4FE7-8190-95F373CEEE28}"/>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145C5724-C6DD-4016-98A3-C8DFAB02FC73}"/>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Therefore:</a:t>
            </a:r>
          </a:p>
        </p:txBody>
      </p:sp>
      <p:sp>
        <p:nvSpPr>
          <p:cNvPr id="17" name="Rectangle 16">
            <a:extLst>
              <a:ext uri="{FF2B5EF4-FFF2-40B4-BE49-F238E27FC236}">
                <a16:creationId xmlns:a16="http://schemas.microsoft.com/office/drawing/2014/main" id="{59D6054C-8E0D-4401-A3E3-2EA6C5FCDABD}"/>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8" name="Rectangle 17">
            <a:extLst>
              <a:ext uri="{FF2B5EF4-FFF2-40B4-BE49-F238E27FC236}">
                <a16:creationId xmlns:a16="http://schemas.microsoft.com/office/drawing/2014/main" id="{0A3C8210-EDD2-4BA7-AB00-F926FB8C024A}"/>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L𝒟(ĥ) ≤ L𝒟(h*) + 2ε.</a:t>
            </a:r>
          </a:p>
        </p:txBody>
      </p:sp>
      <p:sp>
        <p:nvSpPr>
          <p:cNvPr id="19" name="Rectangle 18">
            <a:extLst>
              <a:ext uri="{FF2B5EF4-FFF2-40B4-BE49-F238E27FC236}">
                <a16:creationId xmlns:a16="http://schemas.microsoft.com/office/drawing/2014/main" id="{3AF4E02B-B625-4425-88BC-967ACBF13E22}"/>
              </a:ext>
            </a:extLst>
          </p:cNvPr>
          <p:cNvSpPr>
            <a:spLocks noGrp="1"/>
          </p:cNvSpPr>
          <p:nvPr/>
        </p:nvSpPr>
        <p:spPr>
          <a:xfrm>
            <a:off x="876300" y="477202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This is the cleanest formal Lean proof in the project.</a:t>
            </a:r>
          </a:p>
        </p:txBody>
      </p:sp>
    </p:spTree>
    <p:extLst>
      <p:ext uri="{BB962C8B-B14F-4D97-AF65-F5344CB8AC3E}">
        <p14:creationId xmlns:p14="http://schemas.microsoft.com/office/powerpoint/2010/main" val="1768293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23780A1-2387-4A25-BCDF-7F97C0E54A64}"/>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1537D947-669B-4763-A076-D3D60BAE0528}"/>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BBC2B7C0-6AFE-491D-8A35-337E080DA38B}"/>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AGNOSTIC PROBABILITY</a:t>
            </a:r>
          </a:p>
        </p:txBody>
      </p:sp>
      <p:sp>
        <p:nvSpPr>
          <p:cNvPr id="4" name="Rectangle 3">
            <a:extLst>
              <a:ext uri="{FF2B5EF4-FFF2-40B4-BE49-F238E27FC236}">
                <a16:creationId xmlns:a16="http://schemas.microsoft.com/office/drawing/2014/main" id="{D72B3B02-7FFE-40C2-9937-811D6D97B7CC}"/>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For fixed h, empirical risk concentrates.</a:t>
            </a:r>
          </a:p>
        </p:txBody>
      </p:sp>
      <p:sp>
        <p:nvSpPr>
          <p:cNvPr id="5" name="Rectangle 4">
            <a:extLst>
              <a:ext uri="{FF2B5EF4-FFF2-40B4-BE49-F238E27FC236}">
                <a16:creationId xmlns:a16="http://schemas.microsoft.com/office/drawing/2014/main" id="{184E7DE6-1F00-4277-88CF-C484F7C20601}"/>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124A0911-F4BD-42EC-A018-E75261634AAF}"/>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68A3F2D7-8A80-462F-BC2A-88E53A9E360B}"/>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18</a:t>
            </a:r>
          </a:p>
        </p:txBody>
      </p:sp>
      <p:sp>
        <p:nvSpPr>
          <p:cNvPr id="8" name="Rectangle 7">
            <a:extLst>
              <a:ext uri="{FF2B5EF4-FFF2-40B4-BE49-F238E27FC236}">
                <a16:creationId xmlns:a16="http://schemas.microsoft.com/office/drawing/2014/main" id="{4276491F-4D28-4609-9DF0-105503E707D8}"/>
              </a:ext>
            </a:extLst>
          </p:cNvPr>
          <p:cNvSpPr>
            <a:spLocks noGrp="1"/>
          </p:cNvSpPr>
          <p:nvPr/>
        </p:nvSpPr>
        <p:spPr>
          <a:xfrm>
            <a:off x="781050" y="1771650"/>
            <a:ext cx="9334500" cy="2476500"/>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E9B3E1FE-E740-4CAF-A48D-BD83D3C95594}"/>
              </a:ext>
            </a:extLst>
          </p:cNvPr>
          <p:cNvSpPr>
            <a:spLocks noGrp="1"/>
          </p:cNvSpPr>
          <p:nvPr/>
        </p:nvSpPr>
        <p:spPr>
          <a:xfrm>
            <a:off x="781050" y="1771650"/>
            <a:ext cx="76200" cy="2476500"/>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91560C43-5435-4389-B0BD-64A34D4201EA}"/>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Lₛ(h) = (1/m)Σᵢ₌₁ᵐ 𝟙[h(xᵢ) ≠ yᵢ]</a:t>
            </a:r>
          </a:p>
        </p:txBody>
      </p:sp>
      <p:sp>
        <p:nvSpPr>
          <p:cNvPr id="11" name="Rectangle 10">
            <a:extLst>
              <a:ext uri="{FF2B5EF4-FFF2-40B4-BE49-F238E27FC236}">
                <a16:creationId xmlns:a16="http://schemas.microsoft.com/office/drawing/2014/main" id="{514291EF-6BCA-49A6-8C22-2C69CAE627F7}"/>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1C71D663-24D9-4248-8A73-491BAD2272C2}"/>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𝔼[Lₛ(h)] = L𝒟(h)</a:t>
            </a:r>
          </a:p>
        </p:txBody>
      </p:sp>
      <p:sp>
        <p:nvSpPr>
          <p:cNvPr id="13" name="Rectangle 12">
            <a:extLst>
              <a:ext uri="{FF2B5EF4-FFF2-40B4-BE49-F238E27FC236}">
                <a16:creationId xmlns:a16="http://schemas.microsoft.com/office/drawing/2014/main" id="{82E0577D-719A-4205-A1A0-EAE634938411}"/>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4" name="Rectangle 13">
            <a:extLst>
              <a:ext uri="{FF2B5EF4-FFF2-40B4-BE49-F238E27FC236}">
                <a16:creationId xmlns:a16="http://schemas.microsoft.com/office/drawing/2014/main" id="{4D6AD25D-3D0E-435F-A79F-BD948288583A}"/>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Hoeffding:</a:t>
            </a:r>
          </a:p>
        </p:txBody>
      </p:sp>
      <p:sp>
        <p:nvSpPr>
          <p:cNvPr id="15" name="Rectangle 14">
            <a:extLst>
              <a:ext uri="{FF2B5EF4-FFF2-40B4-BE49-F238E27FC236}">
                <a16:creationId xmlns:a16="http://schemas.microsoft.com/office/drawing/2014/main" id="{0F5F7A56-2A53-4F4C-A81D-A5035DFF98E2}"/>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74B28791-5AF8-42B0-BE7F-907975E4098D}"/>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ℙ(|Lₛ(h) − L𝒟(h)| &gt; ε)</a:t>
            </a:r>
          </a:p>
        </p:txBody>
      </p:sp>
      <p:sp>
        <p:nvSpPr>
          <p:cNvPr id="17" name="Rectangle 16">
            <a:extLst>
              <a:ext uri="{FF2B5EF4-FFF2-40B4-BE49-F238E27FC236}">
                <a16:creationId xmlns:a16="http://schemas.microsoft.com/office/drawing/2014/main" id="{6021BD7D-6302-4BFD-851C-F0E1C30F7A9E}"/>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2e^(−2mε²)</a:t>
            </a:r>
          </a:p>
        </p:txBody>
      </p:sp>
      <p:sp>
        <p:nvSpPr>
          <p:cNvPr id="18" name="Rectangle 17">
            <a:extLst>
              <a:ext uri="{FF2B5EF4-FFF2-40B4-BE49-F238E27FC236}">
                <a16:creationId xmlns:a16="http://schemas.microsoft.com/office/drawing/2014/main" id="{6F007024-9991-4832-BE00-FD7E9C6614FB}"/>
              </a:ext>
            </a:extLst>
          </p:cNvPr>
          <p:cNvSpPr>
            <a:spLocks noGrp="1"/>
          </p:cNvSpPr>
          <p:nvPr/>
        </p:nvSpPr>
        <p:spPr>
          <a:xfrm>
            <a:off x="876300" y="4610100"/>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This concentration fact is scoped out as an assumption in Lean.</a:t>
            </a:r>
          </a:p>
        </p:txBody>
      </p:sp>
    </p:spTree>
    <p:extLst>
      <p:ext uri="{BB962C8B-B14F-4D97-AF65-F5344CB8AC3E}">
        <p14:creationId xmlns:p14="http://schemas.microsoft.com/office/powerpoint/2010/main" val="1508960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7F69676-BB32-4FA8-BCB1-D3B827DF1273}"/>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19CC82DF-5D95-4902-AF22-9763F6156E2C}"/>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C866F564-B7F1-4FCC-BFAF-130E7E64D418}"/>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AGNOSTIC PROBABILITY</a:t>
            </a:r>
          </a:p>
        </p:txBody>
      </p:sp>
      <p:sp>
        <p:nvSpPr>
          <p:cNvPr id="4" name="Rectangle 3">
            <a:extLst>
              <a:ext uri="{FF2B5EF4-FFF2-40B4-BE49-F238E27FC236}">
                <a16:creationId xmlns:a16="http://schemas.microsoft.com/office/drawing/2014/main" id="{E7E832D4-ED52-4D52-BA0C-5A0F31E564BC}"/>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Union bound gives uniform convergence over ℋ.</a:t>
            </a:r>
          </a:p>
        </p:txBody>
      </p:sp>
      <p:sp>
        <p:nvSpPr>
          <p:cNvPr id="5" name="Rectangle 4">
            <a:extLst>
              <a:ext uri="{FF2B5EF4-FFF2-40B4-BE49-F238E27FC236}">
                <a16:creationId xmlns:a16="http://schemas.microsoft.com/office/drawing/2014/main" id="{1736B22B-254C-4521-800A-0276A64865A4}"/>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C2BEDEE-8A94-4FBA-AB11-22E8E3E7B76B}"/>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7E168E01-8297-474F-AEE0-911AABDBB7BE}"/>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19</a:t>
            </a:r>
          </a:p>
        </p:txBody>
      </p:sp>
      <p:sp>
        <p:nvSpPr>
          <p:cNvPr id="8" name="Rectangle 7">
            <a:extLst>
              <a:ext uri="{FF2B5EF4-FFF2-40B4-BE49-F238E27FC236}">
                <a16:creationId xmlns:a16="http://schemas.microsoft.com/office/drawing/2014/main" id="{16064501-F829-4861-A19F-C1D9112ED9EB}"/>
              </a:ext>
            </a:extLst>
          </p:cNvPr>
          <p:cNvSpPr>
            <a:spLocks noGrp="1"/>
          </p:cNvSpPr>
          <p:nvPr/>
        </p:nvSpPr>
        <p:spPr>
          <a:xfrm>
            <a:off x="781050" y="1771650"/>
            <a:ext cx="9334500" cy="263842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EB7ACEFA-EECE-4506-A926-46945BA80C49}"/>
              </a:ext>
            </a:extLst>
          </p:cNvPr>
          <p:cNvSpPr>
            <a:spLocks noGrp="1"/>
          </p:cNvSpPr>
          <p:nvPr/>
        </p:nvSpPr>
        <p:spPr>
          <a:xfrm>
            <a:off x="781050" y="1771650"/>
            <a:ext cx="76200" cy="263842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6725BAEA-4FF3-4B0C-BE7F-D60DB7B1F2E8}"/>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ℙ(∃h ∈ ℋ : |Lₛ(h) − L𝒟(h)| &gt; ε)</a:t>
            </a:r>
          </a:p>
        </p:txBody>
      </p:sp>
      <p:sp>
        <p:nvSpPr>
          <p:cNvPr id="11" name="Rectangle 10">
            <a:extLst>
              <a:ext uri="{FF2B5EF4-FFF2-40B4-BE49-F238E27FC236}">
                <a16:creationId xmlns:a16="http://schemas.microsoft.com/office/drawing/2014/main" id="{CF5D4691-E2E6-4CA1-B5A2-E955E4CA4253}"/>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Σ_{h∈ℋ} ℙ(|Lₛ(h) − L𝒟(h)| &gt; ε)</a:t>
            </a:r>
          </a:p>
        </p:txBody>
      </p:sp>
      <p:sp>
        <p:nvSpPr>
          <p:cNvPr id="12" name="Rectangle 11">
            <a:extLst>
              <a:ext uri="{FF2B5EF4-FFF2-40B4-BE49-F238E27FC236}">
                <a16:creationId xmlns:a16="http://schemas.microsoft.com/office/drawing/2014/main" id="{326D7992-AB58-4E4C-B26C-61C9504F1B63}"/>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Σ_{h∈ℋ} 2e^(−2mε²)</a:t>
            </a:r>
          </a:p>
        </p:txBody>
      </p:sp>
      <p:sp>
        <p:nvSpPr>
          <p:cNvPr id="13" name="Rectangle 12">
            <a:extLst>
              <a:ext uri="{FF2B5EF4-FFF2-40B4-BE49-F238E27FC236}">
                <a16:creationId xmlns:a16="http://schemas.microsoft.com/office/drawing/2014/main" id="{2CFFF9EA-D401-4DB0-9F4A-1E473C9E0685}"/>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2|ℋ|e^(−2mε²)</a:t>
            </a:r>
          </a:p>
        </p:txBody>
      </p:sp>
      <p:sp>
        <p:nvSpPr>
          <p:cNvPr id="14" name="Rectangle 13">
            <a:extLst>
              <a:ext uri="{FF2B5EF4-FFF2-40B4-BE49-F238E27FC236}">
                <a16:creationId xmlns:a16="http://schemas.microsoft.com/office/drawing/2014/main" id="{F907A597-B94A-493C-86E9-D6261C85E2A2}"/>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5" name="Rectangle 14">
            <a:extLst>
              <a:ext uri="{FF2B5EF4-FFF2-40B4-BE49-F238E27FC236}">
                <a16:creationId xmlns:a16="http://schemas.microsoft.com/office/drawing/2014/main" id="{CF180230-D0EB-461C-817B-7293C49E78C0}"/>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Therefore:</a:t>
            </a:r>
          </a:p>
        </p:txBody>
      </p:sp>
      <p:sp>
        <p:nvSpPr>
          <p:cNvPr id="16" name="Rectangle 15">
            <a:extLst>
              <a:ext uri="{FF2B5EF4-FFF2-40B4-BE49-F238E27FC236}">
                <a16:creationId xmlns:a16="http://schemas.microsoft.com/office/drawing/2014/main" id="{1170E78C-B892-4343-B56A-ABD76C6B644C}"/>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7" name="Rectangle 16">
            <a:extLst>
              <a:ext uri="{FF2B5EF4-FFF2-40B4-BE49-F238E27FC236}">
                <a16:creationId xmlns:a16="http://schemas.microsoft.com/office/drawing/2014/main" id="{5A535EAA-9DCB-4CFA-A669-CDF354319C9B}"/>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ℙ(∀h ∈ ℋ : |Lₛ(h) − L𝒟(h)| ≤ ε)</a:t>
            </a:r>
          </a:p>
        </p:txBody>
      </p:sp>
      <p:sp>
        <p:nvSpPr>
          <p:cNvPr id="18" name="Rectangle 17">
            <a:extLst>
              <a:ext uri="{FF2B5EF4-FFF2-40B4-BE49-F238E27FC236}">
                <a16:creationId xmlns:a16="http://schemas.microsoft.com/office/drawing/2014/main" id="{719A4C68-23B3-4836-8415-0826723CA47E}"/>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1 − 2|ℋ|e^(−2mε²)</a:t>
            </a:r>
          </a:p>
        </p:txBody>
      </p:sp>
      <p:sp>
        <p:nvSpPr>
          <p:cNvPr id="19" name="Rectangle 18">
            <a:extLst>
              <a:ext uri="{FF2B5EF4-FFF2-40B4-BE49-F238E27FC236}">
                <a16:creationId xmlns:a16="http://schemas.microsoft.com/office/drawing/2014/main" id="{0A43C3F2-D680-41A5-ADE5-1C5E2F9C2D66}"/>
              </a:ext>
            </a:extLst>
          </p:cNvPr>
          <p:cNvSpPr>
            <a:spLocks noGrp="1"/>
          </p:cNvSpPr>
          <p:nvPr/>
        </p:nvSpPr>
        <p:spPr>
          <a:xfrm>
            <a:off x="876300" y="477202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Uniform convergence is the high-probability event.</a:t>
            </a:r>
          </a:p>
        </p:txBody>
      </p:sp>
    </p:spTree>
    <p:extLst>
      <p:ext uri="{BB962C8B-B14F-4D97-AF65-F5344CB8AC3E}">
        <p14:creationId xmlns:p14="http://schemas.microsoft.com/office/powerpoint/2010/main" val="575370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08DD71C-D7B7-4F34-8AD7-791A67D848C9}"/>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18870359-7755-4E49-8277-1B18ADB04A26}"/>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6550AC28-CCC5-41F8-8B68-1FF72CE2AE6A}"/>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AGNOSTIC RATE</a:t>
            </a:r>
          </a:p>
        </p:txBody>
      </p:sp>
      <p:sp>
        <p:nvSpPr>
          <p:cNvPr id="4" name="Rectangle 3">
            <a:extLst>
              <a:ext uri="{FF2B5EF4-FFF2-40B4-BE49-F238E27FC236}">
                <a16:creationId xmlns:a16="http://schemas.microsoft.com/office/drawing/2014/main" id="{CBB6EBF5-8AB8-4508-A672-2F20AE35F520}"/>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Choose m for the agnostic guarantee.</a:t>
            </a:r>
          </a:p>
        </p:txBody>
      </p:sp>
      <p:sp>
        <p:nvSpPr>
          <p:cNvPr id="5" name="Rectangle 4">
            <a:extLst>
              <a:ext uri="{FF2B5EF4-FFF2-40B4-BE49-F238E27FC236}">
                <a16:creationId xmlns:a16="http://schemas.microsoft.com/office/drawing/2014/main" id="{5FB1F2FC-6C79-4B2C-B430-216E1A626B2F}"/>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17F9C356-0FF8-4343-99E8-BF3354843748}"/>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04721167-C299-4636-AE19-DB30034EFD1D}"/>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20</a:t>
            </a:r>
          </a:p>
        </p:txBody>
      </p:sp>
      <p:sp>
        <p:nvSpPr>
          <p:cNvPr id="8" name="Rectangle 7">
            <a:extLst>
              <a:ext uri="{FF2B5EF4-FFF2-40B4-BE49-F238E27FC236}">
                <a16:creationId xmlns:a16="http://schemas.microsoft.com/office/drawing/2014/main" id="{8904AF58-9C35-4366-BDAD-FBF7F0AD4C2E}"/>
              </a:ext>
            </a:extLst>
          </p:cNvPr>
          <p:cNvSpPr>
            <a:spLocks noGrp="1"/>
          </p:cNvSpPr>
          <p:nvPr/>
        </p:nvSpPr>
        <p:spPr>
          <a:xfrm>
            <a:off x="781050" y="1771650"/>
            <a:ext cx="9334500" cy="2476500"/>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9CBF6C1A-9E23-48F0-8A6A-A42FF8751D3B}"/>
              </a:ext>
            </a:extLst>
          </p:cNvPr>
          <p:cNvSpPr>
            <a:spLocks noGrp="1"/>
          </p:cNvSpPr>
          <p:nvPr/>
        </p:nvSpPr>
        <p:spPr>
          <a:xfrm>
            <a:off x="781050" y="1771650"/>
            <a:ext cx="76200" cy="2476500"/>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D0A8E95C-4666-47A9-9BFD-F03F4F3AB335}"/>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2|ℋ|e^(−2mε²) ≤ δ</a:t>
            </a:r>
          </a:p>
        </p:txBody>
      </p:sp>
      <p:sp>
        <p:nvSpPr>
          <p:cNvPr id="11" name="Rectangle 10">
            <a:extLst>
              <a:ext uri="{FF2B5EF4-FFF2-40B4-BE49-F238E27FC236}">
                <a16:creationId xmlns:a16="http://schemas.microsoft.com/office/drawing/2014/main" id="{7375103B-5AFD-46CC-B035-F8C9031C6D6C}"/>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E7CBC798-BF28-49D5-98B5-B1740EB17CDB}"/>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log(2|ℋ|) − 2mε² ≤ log δ</a:t>
            </a:r>
          </a:p>
        </p:txBody>
      </p:sp>
      <p:sp>
        <p:nvSpPr>
          <p:cNvPr id="13" name="Rectangle 12">
            <a:extLst>
              <a:ext uri="{FF2B5EF4-FFF2-40B4-BE49-F238E27FC236}">
                <a16:creationId xmlns:a16="http://schemas.microsoft.com/office/drawing/2014/main" id="{E48202A2-6C6D-4C0A-A2A8-ACE5EEB709DD}"/>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2mε² ≥ log(2|ℋ|) + log(1/δ)</a:t>
            </a:r>
          </a:p>
        </p:txBody>
      </p:sp>
      <p:sp>
        <p:nvSpPr>
          <p:cNvPr id="14" name="Rectangle 13">
            <a:extLst>
              <a:ext uri="{FF2B5EF4-FFF2-40B4-BE49-F238E27FC236}">
                <a16:creationId xmlns:a16="http://schemas.microsoft.com/office/drawing/2014/main" id="{783C91ED-8F53-4184-AE03-31BF334A9E7C}"/>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5" name="Rectangle 14">
            <a:extLst>
              <a:ext uri="{FF2B5EF4-FFF2-40B4-BE49-F238E27FC236}">
                <a16:creationId xmlns:a16="http://schemas.microsoft.com/office/drawing/2014/main" id="{9F81276E-29C9-4EBF-B13A-46669EAA64AE}"/>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m ≥ (1/(2ε²))(log(2|ℋ|) + log(1/δ))</a:t>
            </a:r>
          </a:p>
        </p:txBody>
      </p:sp>
      <p:sp>
        <p:nvSpPr>
          <p:cNvPr id="16" name="Rectangle 15">
            <a:extLst>
              <a:ext uri="{FF2B5EF4-FFF2-40B4-BE49-F238E27FC236}">
                <a16:creationId xmlns:a16="http://schemas.microsoft.com/office/drawing/2014/main" id="{F7F09BD8-6C27-4139-B0FE-8FA18DCFBBB4}"/>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7" name="Rectangle 16">
            <a:extLst>
              <a:ext uri="{FF2B5EF4-FFF2-40B4-BE49-F238E27FC236}">
                <a16:creationId xmlns:a16="http://schemas.microsoft.com/office/drawing/2014/main" id="{672012EC-242F-47F2-BE64-663C427F4722}"/>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m ≥ (1/(2ε²)) log(2|ℋ|/δ)</a:t>
            </a:r>
          </a:p>
        </p:txBody>
      </p:sp>
      <p:sp>
        <p:nvSpPr>
          <p:cNvPr id="18" name="Rectangle 17">
            <a:extLst>
              <a:ext uri="{FF2B5EF4-FFF2-40B4-BE49-F238E27FC236}">
                <a16:creationId xmlns:a16="http://schemas.microsoft.com/office/drawing/2014/main" id="{1DCC47D2-5463-4D15-8BAA-737735691A1E}"/>
              </a:ext>
            </a:extLst>
          </p:cNvPr>
          <p:cNvSpPr>
            <a:spLocks noGrp="1"/>
          </p:cNvSpPr>
          <p:nvPr/>
        </p:nvSpPr>
        <p:spPr>
          <a:xfrm>
            <a:off x="876300" y="4610100"/>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The agnostic rate has 1/ε² because Hoeffding has e^(−2mε²).</a:t>
            </a:r>
          </a:p>
        </p:txBody>
      </p:sp>
    </p:spTree>
    <p:extLst>
      <p:ext uri="{BB962C8B-B14F-4D97-AF65-F5344CB8AC3E}">
        <p14:creationId xmlns:p14="http://schemas.microsoft.com/office/powerpoint/2010/main" val="1203426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7BAF4F3-6FC2-4808-995A-DAAF0BB5F58B}"/>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A7FCEA5-2DB1-4F41-BE1F-1930BA39C242}"/>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04EFEA58-C594-4A1E-A53E-FEAD668AAECE}"/>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AGNOSTIC THEOREM</a:t>
            </a:r>
          </a:p>
        </p:txBody>
      </p:sp>
      <p:sp>
        <p:nvSpPr>
          <p:cNvPr id="4" name="Rectangle 3">
            <a:extLst>
              <a:ext uri="{FF2B5EF4-FFF2-40B4-BE49-F238E27FC236}">
                <a16:creationId xmlns:a16="http://schemas.microsoft.com/office/drawing/2014/main" id="{7DA4F937-E42B-42A6-8432-01C5C8CDAEC8}"/>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Final agnostic finite-class guarantee.</a:t>
            </a:r>
          </a:p>
        </p:txBody>
      </p:sp>
      <p:sp>
        <p:nvSpPr>
          <p:cNvPr id="5" name="Rectangle 4">
            <a:extLst>
              <a:ext uri="{FF2B5EF4-FFF2-40B4-BE49-F238E27FC236}">
                <a16:creationId xmlns:a16="http://schemas.microsoft.com/office/drawing/2014/main" id="{6EE213BE-2012-48F6-84BE-5557E7A4E0BF}"/>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C63F43F1-4562-4C55-9830-65E71D3D9F5C}"/>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DDC6C154-A8BC-4AB2-A80F-14774F8D45E0}"/>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21</a:t>
            </a:r>
          </a:p>
        </p:txBody>
      </p:sp>
      <p:sp>
        <p:nvSpPr>
          <p:cNvPr id="8" name="Rectangle 7">
            <a:extLst>
              <a:ext uri="{FF2B5EF4-FFF2-40B4-BE49-F238E27FC236}">
                <a16:creationId xmlns:a16="http://schemas.microsoft.com/office/drawing/2014/main" id="{3CA3A0AC-1A5C-4029-9FDE-57BCC7905290}"/>
              </a:ext>
            </a:extLst>
          </p:cNvPr>
          <p:cNvSpPr>
            <a:spLocks noGrp="1"/>
          </p:cNvSpPr>
          <p:nvPr/>
        </p:nvSpPr>
        <p:spPr>
          <a:xfrm>
            <a:off x="781050" y="1771650"/>
            <a:ext cx="9334500" cy="311467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71BC5324-9760-4552-AEDC-4A3D7B264AF5}"/>
              </a:ext>
            </a:extLst>
          </p:cNvPr>
          <p:cNvSpPr>
            <a:spLocks noGrp="1"/>
          </p:cNvSpPr>
          <p:nvPr/>
        </p:nvSpPr>
        <p:spPr>
          <a:xfrm>
            <a:off x="781050" y="1771650"/>
            <a:ext cx="76200" cy="311467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16AC3DB8-42AB-4BC6-98C7-D897EBA4F6E0}"/>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If</a:t>
            </a:r>
          </a:p>
        </p:txBody>
      </p:sp>
      <p:sp>
        <p:nvSpPr>
          <p:cNvPr id="11" name="Rectangle 10">
            <a:extLst>
              <a:ext uri="{FF2B5EF4-FFF2-40B4-BE49-F238E27FC236}">
                <a16:creationId xmlns:a16="http://schemas.microsoft.com/office/drawing/2014/main" id="{F37B4599-4C1A-4BF3-B0AC-B03E930D59F9}"/>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m ≥ (1/(2ε²)) log(2|ℋ|/δ),</a:t>
            </a:r>
          </a:p>
        </p:txBody>
      </p:sp>
      <p:sp>
        <p:nvSpPr>
          <p:cNvPr id="12" name="Rectangle 11">
            <a:extLst>
              <a:ext uri="{FF2B5EF4-FFF2-40B4-BE49-F238E27FC236}">
                <a16:creationId xmlns:a16="http://schemas.microsoft.com/office/drawing/2014/main" id="{A6135F50-5BDB-47A2-AACF-94D7E8795CFA}"/>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3" name="Rectangle 12">
            <a:extLst>
              <a:ext uri="{FF2B5EF4-FFF2-40B4-BE49-F238E27FC236}">
                <a16:creationId xmlns:a16="http://schemas.microsoft.com/office/drawing/2014/main" id="{7B4A4BB0-5530-45DC-95E0-435852370244}"/>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then with probability at least 1 − δ:</a:t>
            </a:r>
          </a:p>
        </p:txBody>
      </p:sp>
      <p:sp>
        <p:nvSpPr>
          <p:cNvPr id="14" name="Rectangle 13">
            <a:extLst>
              <a:ext uri="{FF2B5EF4-FFF2-40B4-BE49-F238E27FC236}">
                <a16:creationId xmlns:a16="http://schemas.microsoft.com/office/drawing/2014/main" id="{1566F32E-2533-446B-B299-F1509838536A}"/>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5" name="Rectangle 14">
            <a:extLst>
              <a:ext uri="{FF2B5EF4-FFF2-40B4-BE49-F238E27FC236}">
                <a16:creationId xmlns:a16="http://schemas.microsoft.com/office/drawing/2014/main" id="{4173FD6B-C1B8-4767-9E21-00D260AD445C}"/>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∀h ∈ ℋ, |Lₛ(h) − L𝒟(h)| ≤ ε</a:t>
            </a:r>
          </a:p>
        </p:txBody>
      </p:sp>
      <p:sp>
        <p:nvSpPr>
          <p:cNvPr id="16" name="Rectangle 15">
            <a:extLst>
              <a:ext uri="{FF2B5EF4-FFF2-40B4-BE49-F238E27FC236}">
                <a16:creationId xmlns:a16="http://schemas.microsoft.com/office/drawing/2014/main" id="{C883627B-77FC-4461-837B-4BC087CDA5DC}"/>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7" name="Rectangle 16">
            <a:extLst>
              <a:ext uri="{FF2B5EF4-FFF2-40B4-BE49-F238E27FC236}">
                <a16:creationId xmlns:a16="http://schemas.microsoft.com/office/drawing/2014/main" id="{915D8662-EB43-4F0B-8DDE-63629040500D}"/>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and hence</a:t>
            </a:r>
          </a:p>
        </p:txBody>
      </p:sp>
      <p:sp>
        <p:nvSpPr>
          <p:cNvPr id="18" name="Rectangle 17">
            <a:extLst>
              <a:ext uri="{FF2B5EF4-FFF2-40B4-BE49-F238E27FC236}">
                <a16:creationId xmlns:a16="http://schemas.microsoft.com/office/drawing/2014/main" id="{C2B27759-3053-4155-810C-67371FEEC846}"/>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9" name="Rectangle 18">
            <a:extLst>
              <a:ext uri="{FF2B5EF4-FFF2-40B4-BE49-F238E27FC236}">
                <a16:creationId xmlns:a16="http://schemas.microsoft.com/office/drawing/2014/main" id="{D9E741EE-E5BE-409C-827A-22140FE88822}"/>
              </a:ext>
            </a:extLst>
          </p:cNvPr>
          <p:cNvSpPr>
            <a:spLocks noGrp="1"/>
          </p:cNvSpPr>
          <p:nvPr/>
        </p:nvSpPr>
        <p:spPr>
          <a:xfrm>
            <a:off x="1047750" y="43815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L𝒟(ĥ) ≤ L𝒟(h*) + 2ε</a:t>
            </a:r>
          </a:p>
        </p:txBody>
      </p:sp>
      <p:sp>
        <p:nvSpPr>
          <p:cNvPr id="20" name="Rectangle 19">
            <a:extLst>
              <a:ext uri="{FF2B5EF4-FFF2-40B4-BE49-F238E27FC236}">
                <a16:creationId xmlns:a16="http://schemas.microsoft.com/office/drawing/2014/main" id="{99356D7B-7BAB-4430-919C-A5CDC8F756B1}"/>
              </a:ext>
            </a:extLst>
          </p:cNvPr>
          <p:cNvSpPr>
            <a:spLocks noGrp="1"/>
          </p:cNvSpPr>
          <p:nvPr/>
        </p:nvSpPr>
        <p:spPr>
          <a:xfrm>
            <a:off x="1047750" y="4648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 min_{h∈ℋ} L𝒟(h) + 2ε.</a:t>
            </a:r>
          </a:p>
        </p:txBody>
      </p:sp>
      <p:sp>
        <p:nvSpPr>
          <p:cNvPr id="21" name="Rectangle 20">
            <a:extLst>
              <a:ext uri="{FF2B5EF4-FFF2-40B4-BE49-F238E27FC236}">
                <a16:creationId xmlns:a16="http://schemas.microsoft.com/office/drawing/2014/main" id="{A8A83C1C-74C0-4EDF-8187-8714A41BE7B0}"/>
              </a:ext>
            </a:extLst>
          </p:cNvPr>
          <p:cNvSpPr>
            <a:spLocks noGrp="1"/>
          </p:cNvSpPr>
          <p:nvPr/>
        </p:nvSpPr>
        <p:spPr>
          <a:xfrm>
            <a:off x="876300" y="524827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The deterministic implication is proved; the probability theorem is assumed.</a:t>
            </a:r>
          </a:p>
        </p:txBody>
      </p:sp>
    </p:spTree>
    <p:extLst>
      <p:ext uri="{BB962C8B-B14F-4D97-AF65-F5344CB8AC3E}">
        <p14:creationId xmlns:p14="http://schemas.microsoft.com/office/powerpoint/2010/main" val="2085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267CBFE-FB72-4324-AD57-31DA6175BDF5}"/>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4A5C2F89-983C-4C7D-8AE8-26B612CBFFD0}"/>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EB635311-6473-4F5C-8649-27E90E94C05A}"/>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RATE COMPARISON</a:t>
            </a:r>
          </a:p>
        </p:txBody>
      </p:sp>
      <p:sp>
        <p:nvSpPr>
          <p:cNvPr id="4" name="Rectangle 3">
            <a:extLst>
              <a:ext uri="{FF2B5EF4-FFF2-40B4-BE49-F238E27FC236}">
                <a16:creationId xmlns:a16="http://schemas.microsoft.com/office/drawing/2014/main" id="{7E0B6169-8E52-467B-A11D-20A7DB76118E}"/>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Why the rates are different.</a:t>
            </a:r>
          </a:p>
        </p:txBody>
      </p:sp>
      <p:sp>
        <p:nvSpPr>
          <p:cNvPr id="5" name="Rectangle 4">
            <a:extLst>
              <a:ext uri="{FF2B5EF4-FFF2-40B4-BE49-F238E27FC236}">
                <a16:creationId xmlns:a16="http://schemas.microsoft.com/office/drawing/2014/main" id="{431B8D19-BD59-4E0E-A7C7-A91078A3CAC3}"/>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294B73FE-F556-4D23-80CC-2322CF2C9057}"/>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59EEF3DD-D889-4206-942E-9E25A9DAE599}"/>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22</a:t>
            </a:r>
          </a:p>
        </p:txBody>
      </p:sp>
      <p:sp>
        <p:nvSpPr>
          <p:cNvPr id="8" name="Rectangle 7">
            <a:extLst>
              <a:ext uri="{FF2B5EF4-FFF2-40B4-BE49-F238E27FC236}">
                <a16:creationId xmlns:a16="http://schemas.microsoft.com/office/drawing/2014/main" id="{685EF576-2490-492A-8296-9564A8639C25}"/>
              </a:ext>
            </a:extLst>
          </p:cNvPr>
          <p:cNvSpPr>
            <a:spLocks noGrp="1"/>
          </p:cNvSpPr>
          <p:nvPr/>
        </p:nvSpPr>
        <p:spPr>
          <a:xfrm>
            <a:off x="781050" y="1771650"/>
            <a:ext cx="9334500" cy="2876550"/>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9FC47586-58A1-489E-B41D-290BE520DCE1}"/>
              </a:ext>
            </a:extLst>
          </p:cNvPr>
          <p:cNvSpPr>
            <a:spLocks noGrp="1"/>
          </p:cNvSpPr>
          <p:nvPr/>
        </p:nvSpPr>
        <p:spPr>
          <a:xfrm>
            <a:off x="781050" y="1771650"/>
            <a:ext cx="76200" cy="2876550"/>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FC02C926-EDFC-467F-B2D0-2746EA491313}"/>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Realizable:</a:t>
            </a:r>
          </a:p>
        </p:txBody>
      </p:sp>
      <p:sp>
        <p:nvSpPr>
          <p:cNvPr id="11" name="Rectangle 10">
            <a:extLst>
              <a:ext uri="{FF2B5EF4-FFF2-40B4-BE49-F238E27FC236}">
                <a16:creationId xmlns:a16="http://schemas.microsoft.com/office/drawing/2014/main" id="{68CEC9B9-3C68-4ED8-B59F-307DB5B2441B}"/>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ℙ[bad h fits all samples] ≤ e^(−mε)</a:t>
            </a:r>
          </a:p>
        </p:txBody>
      </p:sp>
      <p:sp>
        <p:nvSpPr>
          <p:cNvPr id="12" name="Rectangle 11">
            <a:extLst>
              <a:ext uri="{FF2B5EF4-FFF2-40B4-BE49-F238E27FC236}">
                <a16:creationId xmlns:a16="http://schemas.microsoft.com/office/drawing/2014/main" id="{CFEF5C10-473E-4D2C-A38D-429E6BB3A21C}"/>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m = O((log |ℋ| + log(1/δ)) / ε)</a:t>
            </a:r>
          </a:p>
        </p:txBody>
      </p:sp>
      <p:sp>
        <p:nvSpPr>
          <p:cNvPr id="13" name="Rectangle 12">
            <a:extLst>
              <a:ext uri="{FF2B5EF4-FFF2-40B4-BE49-F238E27FC236}">
                <a16:creationId xmlns:a16="http://schemas.microsoft.com/office/drawing/2014/main" id="{89DBF592-DE2A-405E-88D9-EDC01015BDEB}"/>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4" name="Rectangle 13">
            <a:extLst>
              <a:ext uri="{FF2B5EF4-FFF2-40B4-BE49-F238E27FC236}">
                <a16:creationId xmlns:a16="http://schemas.microsoft.com/office/drawing/2014/main" id="{5FE2D7F6-F408-4E27-BDE9-4BFD50007B91}"/>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Agnostic:</a:t>
            </a:r>
          </a:p>
        </p:txBody>
      </p:sp>
      <p:sp>
        <p:nvSpPr>
          <p:cNvPr id="15" name="Rectangle 14">
            <a:extLst>
              <a:ext uri="{FF2B5EF4-FFF2-40B4-BE49-F238E27FC236}">
                <a16:creationId xmlns:a16="http://schemas.microsoft.com/office/drawing/2014/main" id="{ADDAE1A6-66CF-4CE2-8B94-49AFB72D9B47}"/>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ℙ[|Lₛ(h) − L𝒟(h)| &gt; ε] ≤ 2e^(−2mε²)</a:t>
            </a:r>
          </a:p>
        </p:txBody>
      </p:sp>
      <p:sp>
        <p:nvSpPr>
          <p:cNvPr id="16" name="Rectangle 15">
            <a:extLst>
              <a:ext uri="{FF2B5EF4-FFF2-40B4-BE49-F238E27FC236}">
                <a16:creationId xmlns:a16="http://schemas.microsoft.com/office/drawing/2014/main" id="{D47E9E6D-A67C-47E4-801A-FCD5C93028A6}"/>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m = O((log |ℋ| + log(1/δ)) / ε²)</a:t>
            </a:r>
          </a:p>
        </p:txBody>
      </p:sp>
      <p:sp>
        <p:nvSpPr>
          <p:cNvPr id="17" name="Rectangle 16">
            <a:extLst>
              <a:ext uri="{FF2B5EF4-FFF2-40B4-BE49-F238E27FC236}">
                <a16:creationId xmlns:a16="http://schemas.microsoft.com/office/drawing/2014/main" id="{1D8838CE-35F0-4CD2-9A53-8B2A7AD5D6B1}"/>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8" name="Rectangle 17">
            <a:extLst>
              <a:ext uri="{FF2B5EF4-FFF2-40B4-BE49-F238E27FC236}">
                <a16:creationId xmlns:a16="http://schemas.microsoft.com/office/drawing/2014/main" id="{9DA0B3BA-B6B8-43C8-A628-3D8A8DB648DA}"/>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Realizable: consistency.</a:t>
            </a:r>
          </a:p>
        </p:txBody>
      </p:sp>
      <p:sp>
        <p:nvSpPr>
          <p:cNvPr id="19" name="Rectangle 18">
            <a:extLst>
              <a:ext uri="{FF2B5EF4-FFF2-40B4-BE49-F238E27FC236}">
                <a16:creationId xmlns:a16="http://schemas.microsoft.com/office/drawing/2014/main" id="{0EF6A7CA-DE8E-43D1-9B71-534CCC13CECE}"/>
              </a:ext>
            </a:extLst>
          </p:cNvPr>
          <p:cNvSpPr>
            <a:spLocks noGrp="1"/>
          </p:cNvSpPr>
          <p:nvPr/>
        </p:nvSpPr>
        <p:spPr>
          <a:xfrm>
            <a:off x="1047750" y="43815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Agnostic: concentration.</a:t>
            </a:r>
          </a:p>
        </p:txBody>
      </p:sp>
      <p:sp>
        <p:nvSpPr>
          <p:cNvPr id="20" name="Rectangle 19">
            <a:extLst>
              <a:ext uri="{FF2B5EF4-FFF2-40B4-BE49-F238E27FC236}">
                <a16:creationId xmlns:a16="http://schemas.microsoft.com/office/drawing/2014/main" id="{ECEC9913-2BF3-45E6-A297-4A289FC01E66}"/>
              </a:ext>
            </a:extLst>
          </p:cNvPr>
          <p:cNvSpPr>
            <a:spLocks noGrp="1"/>
          </p:cNvSpPr>
          <p:nvPr/>
        </p:nvSpPr>
        <p:spPr>
          <a:xfrm>
            <a:off x="876300" y="5010150"/>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Same finite-class union bound, different decay in ε.</a:t>
            </a:r>
          </a:p>
        </p:txBody>
      </p:sp>
    </p:spTree>
    <p:extLst>
      <p:ext uri="{BB962C8B-B14F-4D97-AF65-F5344CB8AC3E}">
        <p14:creationId xmlns:p14="http://schemas.microsoft.com/office/powerpoint/2010/main" val="1941565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14BD788-70A8-41AF-AEB5-38DE28E192B8}"/>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009E2E0-E532-479D-A5B3-B9D146851BC6}"/>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B0C187FC-7240-4D44-8058-D9B3718F63EE}"/>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LEAN TARGET</a:t>
            </a:r>
          </a:p>
        </p:txBody>
      </p:sp>
      <p:sp>
        <p:nvSpPr>
          <p:cNvPr id="4" name="Rectangle 3">
            <a:extLst>
              <a:ext uri="{FF2B5EF4-FFF2-40B4-BE49-F238E27FC236}">
                <a16:creationId xmlns:a16="http://schemas.microsoft.com/office/drawing/2014/main" id="{F50F1B03-C5C6-4E25-A1F4-F5B1EE3273A5}"/>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What is fully proved in Lean.</a:t>
            </a:r>
          </a:p>
        </p:txBody>
      </p:sp>
      <p:sp>
        <p:nvSpPr>
          <p:cNvPr id="5" name="Rectangle 4">
            <a:extLst>
              <a:ext uri="{FF2B5EF4-FFF2-40B4-BE49-F238E27FC236}">
                <a16:creationId xmlns:a16="http://schemas.microsoft.com/office/drawing/2014/main" id="{097A4BB3-7EA2-463D-B14C-9F421FECBBC5}"/>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B578BA15-6C5D-4DB6-9D16-34173A3EAB9E}"/>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70E96619-56F9-42CB-98C6-A8127690F753}"/>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23</a:t>
            </a:r>
          </a:p>
        </p:txBody>
      </p:sp>
      <p:sp>
        <p:nvSpPr>
          <p:cNvPr id="8" name="Rectangle 7">
            <a:extLst>
              <a:ext uri="{FF2B5EF4-FFF2-40B4-BE49-F238E27FC236}">
                <a16:creationId xmlns:a16="http://schemas.microsoft.com/office/drawing/2014/main" id="{ED00809F-E4E9-46DE-8CB0-DF1BA643BE7E}"/>
              </a:ext>
            </a:extLst>
          </p:cNvPr>
          <p:cNvSpPr>
            <a:spLocks noGrp="1"/>
          </p:cNvSpPr>
          <p:nvPr/>
        </p:nvSpPr>
        <p:spPr>
          <a:xfrm>
            <a:off x="781050" y="1771650"/>
            <a:ext cx="9334500" cy="3114675"/>
          </a:xfrm>
          <a:prstGeom prst="rect">
            <a:avLst/>
          </a:prstGeom>
          <a:solidFill>
            <a:srgbClr val="FFFFFF"/>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8EED6DE1-18EA-417A-8B26-41208236914F}"/>
              </a:ext>
            </a:extLst>
          </p:cNvPr>
          <p:cNvSpPr>
            <a:spLocks noGrp="1"/>
          </p:cNvSpPr>
          <p:nvPr/>
        </p:nvSpPr>
        <p:spPr>
          <a:xfrm>
            <a:off x="781050" y="1771650"/>
            <a:ext cx="76200" cy="3114675"/>
          </a:xfrm>
          <a:prstGeom prst="rect">
            <a:avLst/>
          </a:prstGeom>
          <a:solidFill>
            <a:srgbClr val="246B8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0B98AD8E-5BB0-4878-ACE1-38E21BED2A30}"/>
              </a:ext>
            </a:extLst>
          </p:cNvPr>
          <p:cNvSpPr>
            <a:spLocks noGrp="1"/>
          </p:cNvSpPr>
          <p:nvPr/>
        </p:nvSpPr>
        <p:spPr>
          <a:xfrm>
            <a:off x="1047750" y="1981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Assume:</a:t>
            </a:r>
          </a:p>
        </p:txBody>
      </p:sp>
      <p:sp>
        <p:nvSpPr>
          <p:cNvPr id="11" name="Rectangle 10">
            <a:extLst>
              <a:ext uri="{FF2B5EF4-FFF2-40B4-BE49-F238E27FC236}">
                <a16:creationId xmlns:a16="http://schemas.microsoft.com/office/drawing/2014/main" id="{37D92E89-FFA6-4339-85BB-5AC4FC805EBD}"/>
              </a:ext>
            </a:extLst>
          </p:cNvPr>
          <p:cNvSpPr>
            <a:spLocks noGrp="1"/>
          </p:cNvSpPr>
          <p:nvPr/>
        </p:nvSpPr>
        <p:spPr>
          <a:xfrm>
            <a:off x="1047750" y="22479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∀h ∈ ℋ, |L𝒟(h) − Lₛ(h)| ≤ ε</a:t>
            </a:r>
          </a:p>
        </p:txBody>
      </p:sp>
      <p:sp>
        <p:nvSpPr>
          <p:cNvPr id="12" name="Rectangle 11">
            <a:extLst>
              <a:ext uri="{FF2B5EF4-FFF2-40B4-BE49-F238E27FC236}">
                <a16:creationId xmlns:a16="http://schemas.microsoft.com/office/drawing/2014/main" id="{7B1294B9-8999-496B-AE1D-2C2A4E717B9F}"/>
              </a:ext>
            </a:extLst>
          </p:cNvPr>
          <p:cNvSpPr>
            <a:spLocks noGrp="1"/>
          </p:cNvSpPr>
          <p:nvPr/>
        </p:nvSpPr>
        <p:spPr>
          <a:xfrm>
            <a:off x="1047750" y="25146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∀h ∈ ℋ, Lₛ(ĥ) ≤ Lₛ(h)</a:t>
            </a:r>
          </a:p>
        </p:txBody>
      </p:sp>
      <p:sp>
        <p:nvSpPr>
          <p:cNvPr id="13" name="Rectangle 12">
            <a:extLst>
              <a:ext uri="{FF2B5EF4-FFF2-40B4-BE49-F238E27FC236}">
                <a16:creationId xmlns:a16="http://schemas.microsoft.com/office/drawing/2014/main" id="{2DC00FAD-4BCD-41F8-BA29-658E9984FD13}"/>
              </a:ext>
            </a:extLst>
          </p:cNvPr>
          <p:cNvSpPr>
            <a:spLocks noGrp="1"/>
          </p:cNvSpPr>
          <p:nvPr/>
        </p:nvSpPr>
        <p:spPr>
          <a:xfrm>
            <a:off x="1047750" y="27813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4" name="Rectangle 13">
            <a:extLst>
              <a:ext uri="{FF2B5EF4-FFF2-40B4-BE49-F238E27FC236}">
                <a16:creationId xmlns:a16="http://schemas.microsoft.com/office/drawing/2014/main" id="{1DA0050C-F848-4630-9D41-D68045319A6F}"/>
              </a:ext>
            </a:extLst>
          </p:cNvPr>
          <p:cNvSpPr>
            <a:spLocks noGrp="1"/>
          </p:cNvSpPr>
          <p:nvPr/>
        </p:nvSpPr>
        <p:spPr>
          <a:xfrm>
            <a:off x="1047750" y="30480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Lean proves:</a:t>
            </a:r>
          </a:p>
        </p:txBody>
      </p:sp>
      <p:sp>
        <p:nvSpPr>
          <p:cNvPr id="15" name="Rectangle 14">
            <a:extLst>
              <a:ext uri="{FF2B5EF4-FFF2-40B4-BE49-F238E27FC236}">
                <a16:creationId xmlns:a16="http://schemas.microsoft.com/office/drawing/2014/main" id="{1852294F-18B7-4BC9-9A81-8ECB0CDE5AB7}"/>
              </a:ext>
            </a:extLst>
          </p:cNvPr>
          <p:cNvSpPr>
            <a:spLocks noGrp="1"/>
          </p:cNvSpPr>
          <p:nvPr/>
        </p:nvSpPr>
        <p:spPr>
          <a:xfrm>
            <a:off x="1047750" y="33147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6" name="Rectangle 15">
            <a:extLst>
              <a:ext uri="{FF2B5EF4-FFF2-40B4-BE49-F238E27FC236}">
                <a16:creationId xmlns:a16="http://schemas.microsoft.com/office/drawing/2014/main" id="{C438746E-4A80-4627-8714-931BF825F028}"/>
              </a:ext>
            </a:extLst>
          </p:cNvPr>
          <p:cNvSpPr>
            <a:spLocks noGrp="1"/>
          </p:cNvSpPr>
          <p:nvPr/>
        </p:nvSpPr>
        <p:spPr>
          <a:xfrm>
            <a:off x="1047750" y="35814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L𝒟(ĥ) ≤ L𝒟(h*) + 2ε</a:t>
            </a:r>
          </a:p>
        </p:txBody>
      </p:sp>
      <p:sp>
        <p:nvSpPr>
          <p:cNvPr id="17" name="Rectangle 16">
            <a:extLst>
              <a:ext uri="{FF2B5EF4-FFF2-40B4-BE49-F238E27FC236}">
                <a16:creationId xmlns:a16="http://schemas.microsoft.com/office/drawing/2014/main" id="{FA27A9AA-E2BD-49C8-B872-D75C32B31E84}"/>
              </a:ext>
            </a:extLst>
          </p:cNvPr>
          <p:cNvSpPr>
            <a:spLocks noGrp="1"/>
          </p:cNvSpPr>
          <p:nvPr/>
        </p:nvSpPr>
        <p:spPr>
          <a:xfrm>
            <a:off x="1047750" y="38481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8" name="Rectangle 17">
            <a:extLst>
              <a:ext uri="{FF2B5EF4-FFF2-40B4-BE49-F238E27FC236}">
                <a16:creationId xmlns:a16="http://schemas.microsoft.com/office/drawing/2014/main" id="{3001705C-2E36-4233-9747-D1F4383E9FE5}"/>
              </a:ext>
            </a:extLst>
          </p:cNvPr>
          <p:cNvSpPr>
            <a:spLocks noGrp="1"/>
          </p:cNvSpPr>
          <p:nvPr/>
        </p:nvSpPr>
        <p:spPr>
          <a:xfrm>
            <a:off x="1047750" y="41148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Assumed in AssumedResults.lean:</a:t>
            </a:r>
          </a:p>
        </p:txBody>
      </p:sp>
      <p:sp>
        <p:nvSpPr>
          <p:cNvPr id="19" name="Rectangle 18">
            <a:extLst>
              <a:ext uri="{FF2B5EF4-FFF2-40B4-BE49-F238E27FC236}">
                <a16:creationId xmlns:a16="http://schemas.microsoft.com/office/drawing/2014/main" id="{AC78F143-637C-4C80-B86E-8BD7B19DA8CF}"/>
              </a:ext>
            </a:extLst>
          </p:cNvPr>
          <p:cNvSpPr>
            <a:spLocks noGrp="1"/>
          </p:cNvSpPr>
          <p:nvPr/>
        </p:nvSpPr>
        <p:spPr>
          <a:xfrm>
            <a:off x="1047750" y="43815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realizable finite-class bound</a:t>
            </a:r>
          </a:p>
        </p:txBody>
      </p:sp>
      <p:sp>
        <p:nvSpPr>
          <p:cNvPr id="20" name="Rectangle 19">
            <a:extLst>
              <a:ext uri="{FF2B5EF4-FFF2-40B4-BE49-F238E27FC236}">
                <a16:creationId xmlns:a16="http://schemas.microsoft.com/office/drawing/2014/main" id="{DEA5E931-073A-4F5A-A407-54E220DCF7DD}"/>
              </a:ext>
            </a:extLst>
          </p:cNvPr>
          <p:cNvSpPr>
            <a:spLocks noGrp="1"/>
          </p:cNvSpPr>
          <p:nvPr/>
        </p:nvSpPr>
        <p:spPr>
          <a:xfrm>
            <a:off x="1047750" y="4648200"/>
            <a:ext cx="8667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Cambria Math"/>
                <a:ea typeface="Cambria Math"/>
                <a:cs typeface="Cambria Math"/>
              </a:defRPr>
            </a:pPr>
            <a:r>
              <a:rPr sz="1425" b="0">
                <a:solidFill>
                  <a:srgbClr val="18202A"/>
                </a:solidFill>
                <a:latin typeface="Cambria Math"/>
                <a:ea typeface="Cambria Math"/>
                <a:cs typeface="Cambria Math"/>
              </a:rPr>
              <a:t>  agnostic uniform convergence bound</a:t>
            </a:r>
          </a:p>
        </p:txBody>
      </p:sp>
      <p:sp>
        <p:nvSpPr>
          <p:cNvPr id="21" name="Rectangle 20">
            <a:extLst>
              <a:ext uri="{FF2B5EF4-FFF2-40B4-BE49-F238E27FC236}">
                <a16:creationId xmlns:a16="http://schemas.microsoft.com/office/drawing/2014/main" id="{A5B32645-0195-4733-9712-741C88BB7C4E}"/>
              </a:ext>
            </a:extLst>
          </p:cNvPr>
          <p:cNvSpPr>
            <a:spLocks noGrp="1"/>
          </p:cNvSpPr>
          <p:nvPr/>
        </p:nvSpPr>
        <p:spPr>
          <a:xfrm>
            <a:off x="876300" y="5248275"/>
            <a:ext cx="88582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D57"/>
                </a:solidFill>
                <a:latin typeface="Aptos"/>
                <a:ea typeface="Aptos"/>
                <a:cs typeface="Aptos"/>
              </a:defRPr>
            </a:pPr>
            <a:r>
              <a:rPr sz="1500" b="1">
                <a:solidFill>
                  <a:srgbClr val="2F7D57"/>
                </a:solidFill>
                <a:latin typeface="Aptos"/>
                <a:ea typeface="Aptos"/>
                <a:cs typeface="Aptos"/>
              </a:rPr>
              <a:t>This is the project’s formalization boundary.</a:t>
            </a:r>
          </a:p>
        </p:txBody>
      </p:sp>
    </p:spTree>
    <p:extLst>
      <p:ext uri="{BB962C8B-B14F-4D97-AF65-F5344CB8AC3E}">
        <p14:creationId xmlns:p14="http://schemas.microsoft.com/office/powerpoint/2010/main" val="1758653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0C702F0-17EE-45C0-BEF8-836F52C854B9}"/>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E79DF577-28CD-4420-BE71-5267D3CD1578}"/>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69836742-D130-47FD-828F-1B9678171037}"/>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PART 3</a:t>
            </a:r>
          </a:p>
        </p:txBody>
      </p:sp>
      <p:sp>
        <p:nvSpPr>
          <p:cNvPr id="4" name="Rectangle 3">
            <a:extLst>
              <a:ext uri="{FF2B5EF4-FFF2-40B4-BE49-F238E27FC236}">
                <a16:creationId xmlns:a16="http://schemas.microsoft.com/office/drawing/2014/main" id="{B1861631-DDEB-4482-9724-2D1F51CE6AF9}"/>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MA-LoT and my adaptation</a:t>
            </a:r>
          </a:p>
        </p:txBody>
      </p:sp>
      <p:sp>
        <p:nvSpPr>
          <p:cNvPr id="5" name="Rectangle 4">
            <a:extLst>
              <a:ext uri="{FF2B5EF4-FFF2-40B4-BE49-F238E27FC236}">
                <a16:creationId xmlns:a16="http://schemas.microsoft.com/office/drawing/2014/main" id="{BEB19AC9-4CB2-4F51-B417-868EF37D69E3}"/>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03245491-B598-4365-9C98-430047C90BBF}"/>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B754F581-4377-4079-BA99-5CCA9E5FAF66}"/>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24</a:t>
            </a:r>
          </a:p>
        </p:txBody>
      </p:sp>
      <p:sp>
        <p:nvSpPr>
          <p:cNvPr id="8" name="Rectangle 7">
            <a:extLst>
              <a:ext uri="{FF2B5EF4-FFF2-40B4-BE49-F238E27FC236}">
                <a16:creationId xmlns:a16="http://schemas.microsoft.com/office/drawing/2014/main" id="{E8C45994-3A27-4233-826B-2F295F8CA0F3}"/>
              </a:ext>
            </a:extLst>
          </p:cNvPr>
          <p:cNvSpPr>
            <a:spLocks noGrp="1"/>
          </p:cNvSpPr>
          <p:nvPr/>
        </p:nvSpPr>
        <p:spPr>
          <a:xfrm>
            <a:off x="0" y="0"/>
            <a:ext cx="12192000" cy="6858000"/>
          </a:xfrm>
          <a:prstGeom prst="rect">
            <a:avLst/>
          </a:prstGeom>
          <a:solidFill>
            <a:srgbClr val="111827"/>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26448263-6243-4874-850C-F7818053AA7E}"/>
              </a:ext>
            </a:extLst>
          </p:cNvPr>
          <p:cNvSpPr>
            <a:spLocks noGrp="1"/>
          </p:cNvSpPr>
          <p:nvPr/>
        </p:nvSpPr>
        <p:spPr>
          <a:xfrm>
            <a:off x="0" y="0"/>
            <a:ext cx="171450" cy="6858000"/>
          </a:xfrm>
          <a:prstGeom prst="rect">
            <a:avLst/>
          </a:prstGeom>
          <a:solidFill>
            <a:srgbClr val="C0923A"/>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83754AA2-D2A5-4A88-9F46-39173FC09774}"/>
              </a:ext>
            </a:extLst>
          </p:cNvPr>
          <p:cNvSpPr>
            <a:spLocks noGrp="1"/>
          </p:cNvSpPr>
          <p:nvPr/>
        </p:nvSpPr>
        <p:spPr>
          <a:xfrm>
            <a:off x="838200" y="10668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C0923A"/>
                </a:solidFill>
                <a:latin typeface="Aptos"/>
                <a:ea typeface="Aptos"/>
                <a:cs typeface="Aptos"/>
              </a:defRPr>
            </a:pPr>
            <a:r>
              <a:rPr sz="1350" b="1">
                <a:solidFill>
                  <a:srgbClr val="C0923A"/>
                </a:solidFill>
                <a:latin typeface="Aptos"/>
                <a:ea typeface="Aptos"/>
                <a:cs typeface="Aptos"/>
              </a:rPr>
              <a:t>Part 3</a:t>
            </a:r>
          </a:p>
        </p:txBody>
      </p:sp>
      <p:sp>
        <p:nvSpPr>
          <p:cNvPr id="11" name="Rectangle 10">
            <a:extLst>
              <a:ext uri="{FF2B5EF4-FFF2-40B4-BE49-F238E27FC236}">
                <a16:creationId xmlns:a16="http://schemas.microsoft.com/office/drawing/2014/main" id="{3526F00D-0255-49F6-A77C-5C555FB7E978}"/>
              </a:ext>
            </a:extLst>
          </p:cNvPr>
          <p:cNvSpPr>
            <a:spLocks noGrp="1"/>
          </p:cNvSpPr>
          <p:nvPr/>
        </p:nvSpPr>
        <p:spPr>
          <a:xfrm>
            <a:off x="838200" y="2000250"/>
            <a:ext cx="895350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525" b="1">
                <a:solidFill>
                  <a:srgbClr val="FFFFFF"/>
                </a:solidFill>
                <a:latin typeface="Aptos Display"/>
                <a:ea typeface="Aptos Display"/>
                <a:cs typeface="Aptos Display"/>
              </a:defRPr>
            </a:pPr>
            <a:r>
              <a:rPr sz="3525" b="1">
                <a:solidFill>
                  <a:srgbClr val="FFFFFF"/>
                </a:solidFill>
                <a:latin typeface="Aptos Display"/>
                <a:ea typeface="Aptos Display"/>
                <a:cs typeface="Aptos Display"/>
              </a:rPr>
              <a:t>MA-LoT and my adaptation</a:t>
            </a:r>
          </a:p>
        </p:txBody>
      </p:sp>
      <p:sp>
        <p:nvSpPr>
          <p:cNvPr id="12" name="Rectangle 11">
            <a:extLst>
              <a:ext uri="{FF2B5EF4-FFF2-40B4-BE49-F238E27FC236}">
                <a16:creationId xmlns:a16="http://schemas.microsoft.com/office/drawing/2014/main" id="{FDAA43FC-C994-4000-8A30-24C7DAC0E526}"/>
              </a:ext>
            </a:extLst>
          </p:cNvPr>
          <p:cNvSpPr>
            <a:spLocks noGrp="1"/>
          </p:cNvSpPr>
          <p:nvPr/>
        </p:nvSpPr>
        <p:spPr>
          <a:xfrm>
            <a:off x="876300" y="3638550"/>
            <a:ext cx="8096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D8DDE7"/>
                </a:solidFill>
                <a:latin typeface="Aptos"/>
                <a:ea typeface="Aptos"/>
                <a:cs typeface="Aptos"/>
              </a:defRPr>
            </a:pPr>
            <a:r>
              <a:rPr sz="1800" b="0">
                <a:solidFill>
                  <a:srgbClr val="D8DDE7"/>
                </a:solidFill>
                <a:latin typeface="Aptos"/>
                <a:ea typeface="Aptos"/>
                <a:cs typeface="Aptos"/>
              </a:rPr>
              <a:t>How the project uses a theorem-proving workflow idea without claiming to implement the full system.</a:t>
            </a:r>
          </a:p>
        </p:txBody>
      </p:sp>
      <p:sp>
        <p:nvSpPr>
          <p:cNvPr id="13" name="Rectangle 12">
            <a:extLst>
              <a:ext uri="{FF2B5EF4-FFF2-40B4-BE49-F238E27FC236}">
                <a16:creationId xmlns:a16="http://schemas.microsoft.com/office/drawing/2014/main" id="{467EC88C-804A-490C-BE24-F13F16E30F69}"/>
              </a:ext>
            </a:extLst>
          </p:cNvPr>
          <p:cNvSpPr>
            <a:spLocks noGrp="1"/>
          </p:cNvSpPr>
          <p:nvPr/>
        </p:nvSpPr>
        <p:spPr>
          <a:xfrm>
            <a:off x="10477500" y="6000750"/>
            <a:ext cx="571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D8DDE7"/>
                </a:solidFill>
                <a:latin typeface="Aptos"/>
                <a:ea typeface="Aptos"/>
                <a:cs typeface="Aptos"/>
              </a:defRPr>
            </a:pPr>
            <a:r>
              <a:rPr sz="1275" b="1">
                <a:solidFill>
                  <a:srgbClr val="D8DDE7"/>
                </a:solidFill>
                <a:latin typeface="Aptos"/>
                <a:ea typeface="Aptos"/>
                <a:cs typeface="Aptos"/>
              </a:rPr>
              <a:t>24</a:t>
            </a:r>
          </a:p>
        </p:txBody>
      </p:sp>
    </p:spTree>
    <p:extLst>
      <p:ext uri="{BB962C8B-B14F-4D97-AF65-F5344CB8AC3E}">
        <p14:creationId xmlns:p14="http://schemas.microsoft.com/office/powerpoint/2010/main" val="1419612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1A9FC0D-CEA9-45F4-99F9-1FC4D1894284}"/>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EEEA2309-41B4-412C-8C09-4AEBAEFE93AF}"/>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53008EE5-34C7-4A4F-A1B3-46F01194F56D}"/>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MA-LOT IDEA</a:t>
            </a:r>
          </a:p>
        </p:txBody>
      </p:sp>
      <p:sp>
        <p:nvSpPr>
          <p:cNvPr id="4" name="Rectangle 3">
            <a:extLst>
              <a:ext uri="{FF2B5EF4-FFF2-40B4-BE49-F238E27FC236}">
                <a16:creationId xmlns:a16="http://schemas.microsoft.com/office/drawing/2014/main" id="{9F8809C4-16B5-44D7-A344-2D6AB9FB2EE3}"/>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8202A"/>
                </a:solidFill>
                <a:latin typeface="Aptos Display"/>
                <a:ea typeface="Aptos Display"/>
                <a:cs typeface="Aptos Display"/>
              </a:defRPr>
            </a:pPr>
            <a:r>
              <a:rPr sz="2325" b="1">
                <a:solidFill>
                  <a:srgbClr val="18202A"/>
                </a:solidFill>
                <a:latin typeface="Aptos Display"/>
                <a:ea typeface="Aptos Display"/>
                <a:cs typeface="Aptos Display"/>
              </a:rPr>
              <a:t>MA-LoT combines natural-language reasoning, Lean verification, and proof repair.</a:t>
            </a:r>
          </a:p>
        </p:txBody>
      </p:sp>
      <p:sp>
        <p:nvSpPr>
          <p:cNvPr id="5" name="Rectangle 4">
            <a:extLst>
              <a:ext uri="{FF2B5EF4-FFF2-40B4-BE49-F238E27FC236}">
                <a16:creationId xmlns:a16="http://schemas.microsoft.com/office/drawing/2014/main" id="{C41DCDEA-F825-482A-82A4-703AFBD8A4AC}"/>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2671C71-71B3-4911-8673-F14CF0C75985}"/>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A1EBB977-F109-4C91-8EA2-5B021385ED45}"/>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25</a:t>
            </a:r>
          </a:p>
        </p:txBody>
      </p:sp>
      <p:sp>
        <p:nvSpPr>
          <p:cNvPr id="8" name="Rectangle 7">
            <a:extLst>
              <a:ext uri="{FF2B5EF4-FFF2-40B4-BE49-F238E27FC236}">
                <a16:creationId xmlns:a16="http://schemas.microsoft.com/office/drawing/2014/main" id="{581A95C6-4C80-4D72-A613-5C4D2FF6A3C9}"/>
              </a:ext>
            </a:extLst>
          </p:cNvPr>
          <p:cNvSpPr>
            <a:spLocks noGrp="1"/>
          </p:cNvSpPr>
          <p:nvPr/>
        </p:nvSpPr>
        <p:spPr>
          <a:xfrm>
            <a:off x="552450" y="2381250"/>
            <a:ext cx="1676400" cy="1181100"/>
          </a:xfrm>
          <a:prstGeom prst="rect">
            <a:avLst/>
          </a:prstGeom>
          <a:solidFill>
            <a:srgbClr val="EAF4F8"/>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B8ABA008-671F-43F3-870B-F65C67FB64B7}"/>
              </a:ext>
            </a:extLst>
          </p:cNvPr>
          <p:cNvSpPr>
            <a:spLocks noGrp="1"/>
          </p:cNvSpPr>
          <p:nvPr/>
        </p:nvSpPr>
        <p:spPr>
          <a:xfrm>
            <a:off x="7620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1</a:t>
            </a:r>
          </a:p>
        </p:txBody>
      </p:sp>
      <p:sp>
        <p:nvSpPr>
          <p:cNvPr id="10" name="Rectangle 9">
            <a:extLst>
              <a:ext uri="{FF2B5EF4-FFF2-40B4-BE49-F238E27FC236}">
                <a16:creationId xmlns:a16="http://schemas.microsoft.com/office/drawing/2014/main" id="{746D6C07-687E-48AC-AC0F-150234A639D4}"/>
              </a:ext>
            </a:extLst>
          </p:cNvPr>
          <p:cNvSpPr>
            <a:spLocks noGrp="1"/>
          </p:cNvSpPr>
          <p:nvPr/>
        </p:nvSpPr>
        <p:spPr>
          <a:xfrm>
            <a:off x="7620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paper proof</a:t>
            </a:r>
          </a:p>
        </p:txBody>
      </p:sp>
      <p:sp>
        <p:nvSpPr>
          <p:cNvPr id="11" name="Rectangle 10">
            <a:extLst>
              <a:ext uri="{FF2B5EF4-FFF2-40B4-BE49-F238E27FC236}">
                <a16:creationId xmlns:a16="http://schemas.microsoft.com/office/drawing/2014/main" id="{E4F976AB-A6D9-4909-88E3-1CBD3802E5BE}"/>
              </a:ext>
            </a:extLst>
          </p:cNvPr>
          <p:cNvSpPr>
            <a:spLocks noGrp="1"/>
          </p:cNvSpPr>
          <p:nvPr/>
        </p:nvSpPr>
        <p:spPr>
          <a:xfrm>
            <a:off x="22860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2635D30A-82BD-4FD3-AF62-53E418C239D4}"/>
              </a:ext>
            </a:extLst>
          </p:cNvPr>
          <p:cNvSpPr>
            <a:spLocks noGrp="1"/>
          </p:cNvSpPr>
          <p:nvPr/>
        </p:nvSpPr>
        <p:spPr>
          <a:xfrm>
            <a:off x="24574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4BCE3547-AEDC-4543-9906-2B5111CB9739}"/>
              </a:ext>
            </a:extLst>
          </p:cNvPr>
          <p:cNvSpPr>
            <a:spLocks noGrp="1"/>
          </p:cNvSpPr>
          <p:nvPr/>
        </p:nvSpPr>
        <p:spPr>
          <a:xfrm>
            <a:off x="2609850" y="2381250"/>
            <a:ext cx="1676400" cy="1181100"/>
          </a:xfrm>
          <a:prstGeom prst="rect">
            <a:avLst/>
          </a:prstGeom>
          <a:solidFill>
            <a:srgbClr val="FFF6DF"/>
          </a:solidFill>
          <a:ln w="9525">
            <a:solidFill>
              <a:srgbClr val="D8D2C8"/>
            </a:solidFill>
            <a:prstDash val="solid"/>
          </a:ln>
        </p:spPr>
        <p:txBody>
          <a:bodyPr/>
          <a:lstStyle/>
          <a:p>
            <a:endParaRPr lang="en-US"/>
          </a:p>
        </p:txBody>
      </p:sp>
      <p:sp>
        <p:nvSpPr>
          <p:cNvPr id="14" name="Rectangle 13">
            <a:extLst>
              <a:ext uri="{FF2B5EF4-FFF2-40B4-BE49-F238E27FC236}">
                <a16:creationId xmlns:a16="http://schemas.microsoft.com/office/drawing/2014/main" id="{F485031A-10BC-4331-AB1F-80B9CA5CEE98}"/>
              </a:ext>
            </a:extLst>
          </p:cNvPr>
          <p:cNvSpPr>
            <a:spLocks noGrp="1"/>
          </p:cNvSpPr>
          <p:nvPr/>
        </p:nvSpPr>
        <p:spPr>
          <a:xfrm>
            <a:off x="28194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2</a:t>
            </a:r>
          </a:p>
        </p:txBody>
      </p:sp>
      <p:sp>
        <p:nvSpPr>
          <p:cNvPr id="15" name="Rectangle 14">
            <a:extLst>
              <a:ext uri="{FF2B5EF4-FFF2-40B4-BE49-F238E27FC236}">
                <a16:creationId xmlns:a16="http://schemas.microsoft.com/office/drawing/2014/main" id="{06B0FF0E-0F92-4A23-ADC4-2084771C66B2}"/>
              </a:ext>
            </a:extLst>
          </p:cNvPr>
          <p:cNvSpPr>
            <a:spLocks noGrp="1"/>
          </p:cNvSpPr>
          <p:nvPr/>
        </p:nvSpPr>
        <p:spPr>
          <a:xfrm>
            <a:off x="28194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LLM attempt</a:t>
            </a:r>
          </a:p>
        </p:txBody>
      </p:sp>
      <p:sp>
        <p:nvSpPr>
          <p:cNvPr id="16" name="Rectangle 15">
            <a:extLst>
              <a:ext uri="{FF2B5EF4-FFF2-40B4-BE49-F238E27FC236}">
                <a16:creationId xmlns:a16="http://schemas.microsoft.com/office/drawing/2014/main" id="{274107AA-9D2B-4B6A-ACE1-6DD7837C6737}"/>
              </a:ext>
            </a:extLst>
          </p:cNvPr>
          <p:cNvSpPr>
            <a:spLocks noGrp="1"/>
          </p:cNvSpPr>
          <p:nvPr/>
        </p:nvSpPr>
        <p:spPr>
          <a:xfrm>
            <a:off x="43434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F02491CC-4161-4DF0-8318-A05A43EA68C7}"/>
              </a:ext>
            </a:extLst>
          </p:cNvPr>
          <p:cNvSpPr>
            <a:spLocks noGrp="1"/>
          </p:cNvSpPr>
          <p:nvPr/>
        </p:nvSpPr>
        <p:spPr>
          <a:xfrm>
            <a:off x="45148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56475DB0-2410-4E1F-AB95-FF49EEB62163}"/>
              </a:ext>
            </a:extLst>
          </p:cNvPr>
          <p:cNvSpPr>
            <a:spLocks noGrp="1"/>
          </p:cNvSpPr>
          <p:nvPr/>
        </p:nvSpPr>
        <p:spPr>
          <a:xfrm>
            <a:off x="4667250" y="2381250"/>
            <a:ext cx="1676400" cy="1181100"/>
          </a:xfrm>
          <a:prstGeom prst="rect">
            <a:avLst/>
          </a:prstGeom>
          <a:solidFill>
            <a:srgbClr val="EAF4F8"/>
          </a:solidFill>
          <a:ln w="9525">
            <a:solidFill>
              <a:srgbClr val="D8D2C8"/>
            </a:solidFill>
            <a:prstDash val="solid"/>
          </a:ln>
        </p:spPr>
        <p:txBody>
          <a:bodyPr/>
          <a:lstStyle/>
          <a:p>
            <a:endParaRPr lang="en-US"/>
          </a:p>
        </p:txBody>
      </p:sp>
      <p:sp>
        <p:nvSpPr>
          <p:cNvPr id="19" name="Rectangle 18">
            <a:extLst>
              <a:ext uri="{FF2B5EF4-FFF2-40B4-BE49-F238E27FC236}">
                <a16:creationId xmlns:a16="http://schemas.microsoft.com/office/drawing/2014/main" id="{F49AA327-E9D4-4B79-9A44-AECA64DD78E0}"/>
              </a:ext>
            </a:extLst>
          </p:cNvPr>
          <p:cNvSpPr>
            <a:spLocks noGrp="1"/>
          </p:cNvSpPr>
          <p:nvPr/>
        </p:nvSpPr>
        <p:spPr>
          <a:xfrm>
            <a:off x="48768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3</a:t>
            </a:r>
          </a:p>
        </p:txBody>
      </p:sp>
      <p:sp>
        <p:nvSpPr>
          <p:cNvPr id="20" name="Rectangle 19">
            <a:extLst>
              <a:ext uri="{FF2B5EF4-FFF2-40B4-BE49-F238E27FC236}">
                <a16:creationId xmlns:a16="http://schemas.microsoft.com/office/drawing/2014/main" id="{2CCC7367-8ACC-4A04-BBB2-4FBF8181BE60}"/>
              </a:ext>
            </a:extLst>
          </p:cNvPr>
          <p:cNvSpPr>
            <a:spLocks noGrp="1"/>
          </p:cNvSpPr>
          <p:nvPr/>
        </p:nvSpPr>
        <p:spPr>
          <a:xfrm>
            <a:off x="48768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Lean verifier</a:t>
            </a:r>
          </a:p>
        </p:txBody>
      </p:sp>
      <p:sp>
        <p:nvSpPr>
          <p:cNvPr id="21" name="Rectangle 20">
            <a:extLst>
              <a:ext uri="{FF2B5EF4-FFF2-40B4-BE49-F238E27FC236}">
                <a16:creationId xmlns:a16="http://schemas.microsoft.com/office/drawing/2014/main" id="{EC1FF8F6-AD67-4633-B1AF-E4BD2F3DEE5B}"/>
              </a:ext>
            </a:extLst>
          </p:cNvPr>
          <p:cNvSpPr>
            <a:spLocks noGrp="1"/>
          </p:cNvSpPr>
          <p:nvPr/>
        </p:nvSpPr>
        <p:spPr>
          <a:xfrm>
            <a:off x="64008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AEB1AE4C-C7EF-4AFF-A83C-9A0779B2F3D4}"/>
              </a:ext>
            </a:extLst>
          </p:cNvPr>
          <p:cNvSpPr>
            <a:spLocks noGrp="1"/>
          </p:cNvSpPr>
          <p:nvPr/>
        </p:nvSpPr>
        <p:spPr>
          <a:xfrm>
            <a:off x="65722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4AEC20F9-5912-460C-9EE4-571CF34845ED}"/>
              </a:ext>
            </a:extLst>
          </p:cNvPr>
          <p:cNvSpPr>
            <a:spLocks noGrp="1"/>
          </p:cNvSpPr>
          <p:nvPr/>
        </p:nvSpPr>
        <p:spPr>
          <a:xfrm>
            <a:off x="6724650" y="2381250"/>
            <a:ext cx="1676400" cy="1181100"/>
          </a:xfrm>
          <a:prstGeom prst="rect">
            <a:avLst/>
          </a:prstGeom>
          <a:solidFill>
            <a:srgbClr val="FFF6DF"/>
          </a:solidFill>
          <a:ln w="9525">
            <a:solidFill>
              <a:srgbClr val="D8D2C8"/>
            </a:solidFill>
            <a:prstDash val="solid"/>
          </a:ln>
        </p:spPr>
        <p:txBody>
          <a:bodyPr/>
          <a:lstStyle/>
          <a:p>
            <a:endParaRPr lang="en-US"/>
          </a:p>
        </p:txBody>
      </p:sp>
      <p:sp>
        <p:nvSpPr>
          <p:cNvPr id="24" name="Rectangle 23">
            <a:extLst>
              <a:ext uri="{FF2B5EF4-FFF2-40B4-BE49-F238E27FC236}">
                <a16:creationId xmlns:a16="http://schemas.microsoft.com/office/drawing/2014/main" id="{2F4B856A-A0AA-4D21-A141-FC1622507DD2}"/>
              </a:ext>
            </a:extLst>
          </p:cNvPr>
          <p:cNvSpPr>
            <a:spLocks noGrp="1"/>
          </p:cNvSpPr>
          <p:nvPr/>
        </p:nvSpPr>
        <p:spPr>
          <a:xfrm>
            <a:off x="69342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4</a:t>
            </a:r>
          </a:p>
        </p:txBody>
      </p:sp>
      <p:sp>
        <p:nvSpPr>
          <p:cNvPr id="25" name="Rectangle 24">
            <a:extLst>
              <a:ext uri="{FF2B5EF4-FFF2-40B4-BE49-F238E27FC236}">
                <a16:creationId xmlns:a16="http://schemas.microsoft.com/office/drawing/2014/main" id="{39B855E4-7109-482E-9890-30A157CF375D}"/>
              </a:ext>
            </a:extLst>
          </p:cNvPr>
          <p:cNvSpPr>
            <a:spLocks noGrp="1"/>
          </p:cNvSpPr>
          <p:nvPr/>
        </p:nvSpPr>
        <p:spPr>
          <a:xfrm>
            <a:off x="69342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repair loop</a:t>
            </a:r>
          </a:p>
        </p:txBody>
      </p:sp>
      <p:sp>
        <p:nvSpPr>
          <p:cNvPr id="26" name="Rectangle 25">
            <a:extLst>
              <a:ext uri="{FF2B5EF4-FFF2-40B4-BE49-F238E27FC236}">
                <a16:creationId xmlns:a16="http://schemas.microsoft.com/office/drawing/2014/main" id="{29E6AD94-236B-42FB-8238-943F00138B37}"/>
              </a:ext>
            </a:extLst>
          </p:cNvPr>
          <p:cNvSpPr>
            <a:spLocks noGrp="1"/>
          </p:cNvSpPr>
          <p:nvPr/>
        </p:nvSpPr>
        <p:spPr>
          <a:xfrm>
            <a:off x="8458200" y="2971800"/>
            <a:ext cx="247650" cy="19050"/>
          </a:xfrm>
          <a:prstGeom prst="rect">
            <a:avLst/>
          </a:prstGeom>
          <a:solidFill>
            <a:srgbClr val="246B8F"/>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A06E1D01-24CD-47A4-AE96-3EE4885C63C5}"/>
              </a:ext>
            </a:extLst>
          </p:cNvPr>
          <p:cNvSpPr>
            <a:spLocks noGrp="1"/>
          </p:cNvSpPr>
          <p:nvPr/>
        </p:nvSpPr>
        <p:spPr>
          <a:xfrm>
            <a:off x="8629650" y="2924175"/>
            <a:ext cx="95250" cy="95250"/>
          </a:xfrm>
          <a:prstGeom prst="rect">
            <a:avLst/>
          </a:prstGeom>
          <a:solidFill>
            <a:srgbClr val="246B8F"/>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776358ED-5A04-4C82-800E-5627102AE6C8}"/>
              </a:ext>
            </a:extLst>
          </p:cNvPr>
          <p:cNvSpPr>
            <a:spLocks noGrp="1"/>
          </p:cNvSpPr>
          <p:nvPr/>
        </p:nvSpPr>
        <p:spPr>
          <a:xfrm>
            <a:off x="8782050" y="2381250"/>
            <a:ext cx="1676400" cy="1181100"/>
          </a:xfrm>
          <a:prstGeom prst="rect">
            <a:avLst/>
          </a:prstGeom>
          <a:solidFill>
            <a:srgbClr val="EAF4F8"/>
          </a:solidFill>
          <a:ln w="9525">
            <a:solidFill>
              <a:srgbClr val="D8D2C8"/>
            </a:solidFill>
            <a:prstDash val="solid"/>
          </a:ln>
        </p:spPr>
        <p:txBody>
          <a:bodyPr/>
          <a:lstStyle/>
          <a:p>
            <a:endParaRPr lang="en-US"/>
          </a:p>
        </p:txBody>
      </p:sp>
      <p:sp>
        <p:nvSpPr>
          <p:cNvPr id="29" name="Rectangle 28">
            <a:extLst>
              <a:ext uri="{FF2B5EF4-FFF2-40B4-BE49-F238E27FC236}">
                <a16:creationId xmlns:a16="http://schemas.microsoft.com/office/drawing/2014/main" id="{6E436E5E-4742-4F89-AD72-DAE69CC6998A}"/>
              </a:ext>
            </a:extLst>
          </p:cNvPr>
          <p:cNvSpPr>
            <a:spLocks noGrp="1"/>
          </p:cNvSpPr>
          <p:nvPr/>
        </p:nvSpPr>
        <p:spPr>
          <a:xfrm>
            <a:off x="8991600" y="2552700"/>
            <a:ext cx="1257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5</a:t>
            </a:r>
          </a:p>
        </p:txBody>
      </p:sp>
      <p:sp>
        <p:nvSpPr>
          <p:cNvPr id="30" name="Rectangle 29">
            <a:extLst>
              <a:ext uri="{FF2B5EF4-FFF2-40B4-BE49-F238E27FC236}">
                <a16:creationId xmlns:a16="http://schemas.microsoft.com/office/drawing/2014/main" id="{896D0577-915B-4DB5-92F1-78781A6EEDAC}"/>
              </a:ext>
            </a:extLst>
          </p:cNvPr>
          <p:cNvSpPr>
            <a:spLocks noGrp="1"/>
          </p:cNvSpPr>
          <p:nvPr/>
        </p:nvSpPr>
        <p:spPr>
          <a:xfrm>
            <a:off x="8991600" y="2914650"/>
            <a:ext cx="1257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verified theorem</a:t>
            </a:r>
          </a:p>
        </p:txBody>
      </p:sp>
      <p:sp>
        <p:nvSpPr>
          <p:cNvPr id="31" name="Rectangle 30">
            <a:extLst>
              <a:ext uri="{FF2B5EF4-FFF2-40B4-BE49-F238E27FC236}">
                <a16:creationId xmlns:a16="http://schemas.microsoft.com/office/drawing/2014/main" id="{5CECF70F-88EC-4821-9C9D-72046C7C4C84}"/>
              </a:ext>
            </a:extLst>
          </p:cNvPr>
          <p:cNvSpPr>
            <a:spLocks noGrp="1"/>
          </p:cNvSpPr>
          <p:nvPr/>
        </p:nvSpPr>
        <p:spPr>
          <a:xfrm>
            <a:off x="590550" y="5943600"/>
            <a:ext cx="87630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dirty="0">
                <a:solidFill>
                  <a:srgbClr val="18202A"/>
                </a:solidFill>
                <a:latin typeface="Aptos"/>
                <a:ea typeface="Aptos"/>
                <a:cs typeface="Aptos"/>
              </a:rPr>
              <a:t>I use this as inspiration for a smaller workflow inside my project.</a:t>
            </a:r>
          </a:p>
        </p:txBody>
      </p:sp>
      <p:pic>
        <p:nvPicPr>
          <p:cNvPr id="34" name="Picture 33">
            <a:extLst>
              <a:ext uri="{FF2B5EF4-FFF2-40B4-BE49-F238E27FC236}">
                <a16:creationId xmlns:a16="http://schemas.microsoft.com/office/drawing/2014/main" id="{41D61393-4AAE-444A-CE31-42E779FB97A3}"/>
              </a:ext>
            </a:extLst>
          </p:cNvPr>
          <p:cNvPicPr>
            <a:picLocks noChangeAspect="1"/>
          </p:cNvPicPr>
          <p:nvPr/>
        </p:nvPicPr>
        <p:blipFill>
          <a:blip r:embed="rId3"/>
          <a:stretch>
            <a:fillRect/>
          </a:stretch>
        </p:blipFill>
        <p:spPr>
          <a:xfrm>
            <a:off x="6343650" y="3705225"/>
            <a:ext cx="5661142" cy="2095500"/>
          </a:xfrm>
          <a:prstGeom prst="rect">
            <a:avLst/>
          </a:prstGeom>
        </p:spPr>
      </p:pic>
    </p:spTree>
    <p:extLst>
      <p:ext uri="{BB962C8B-B14F-4D97-AF65-F5344CB8AC3E}">
        <p14:creationId xmlns:p14="http://schemas.microsoft.com/office/powerpoint/2010/main" val="809985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8852CC2-6357-4AC2-B214-EA61DA3BA3BA}"/>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7ADB60A-1632-4F7E-95C0-829EB1FFBCFB}"/>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B56C01D7-C98E-4914-B026-BFFF9B1A9C7A}"/>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SCOPE WORDING</a:t>
            </a:r>
          </a:p>
        </p:txBody>
      </p:sp>
      <p:sp>
        <p:nvSpPr>
          <p:cNvPr id="4" name="Rectangle 3">
            <a:extLst>
              <a:ext uri="{FF2B5EF4-FFF2-40B4-BE49-F238E27FC236}">
                <a16:creationId xmlns:a16="http://schemas.microsoft.com/office/drawing/2014/main" id="{53491251-8DAA-4B84-89C7-62A630C9F37B}"/>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My project is MA-LoT-inspired, not a full MA-LoT implementation.</a:t>
            </a:r>
          </a:p>
        </p:txBody>
      </p:sp>
      <p:sp>
        <p:nvSpPr>
          <p:cNvPr id="5" name="Rectangle 4">
            <a:extLst>
              <a:ext uri="{FF2B5EF4-FFF2-40B4-BE49-F238E27FC236}">
                <a16:creationId xmlns:a16="http://schemas.microsoft.com/office/drawing/2014/main" id="{AD8C8915-A31A-4928-82AC-9AC8FE8BBFD8}"/>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FABAF6F1-0A4B-489F-8787-EC76E035C3BE}"/>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A6B72C95-ED92-4693-8568-E057C97CFD19}"/>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26</a:t>
            </a:r>
          </a:p>
        </p:txBody>
      </p:sp>
      <p:sp>
        <p:nvSpPr>
          <p:cNvPr id="8" name="Rectangle 7">
            <a:extLst>
              <a:ext uri="{FF2B5EF4-FFF2-40B4-BE49-F238E27FC236}">
                <a16:creationId xmlns:a16="http://schemas.microsoft.com/office/drawing/2014/main" id="{EE5ACA0E-C5D5-406B-BD71-A3A73D34D0A8}"/>
              </a:ext>
            </a:extLst>
          </p:cNvPr>
          <p:cNvSpPr>
            <a:spLocks noGrp="1"/>
          </p:cNvSpPr>
          <p:nvPr/>
        </p:nvSpPr>
        <p:spPr>
          <a:xfrm>
            <a:off x="876300" y="2190750"/>
            <a:ext cx="4191000" cy="2552700"/>
          </a:xfrm>
          <a:prstGeom prst="rect">
            <a:avLst/>
          </a:prstGeom>
          <a:solidFill>
            <a:srgbClr val="EDF7F0"/>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9FFC8A6C-DF78-4A5A-88B5-709C6405074E}"/>
              </a:ext>
            </a:extLst>
          </p:cNvPr>
          <p:cNvSpPr>
            <a:spLocks noGrp="1"/>
          </p:cNvSpPr>
          <p:nvPr/>
        </p:nvSpPr>
        <p:spPr>
          <a:xfrm>
            <a:off x="1085850" y="2362200"/>
            <a:ext cx="3771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F7D57"/>
                </a:solidFill>
                <a:latin typeface="Aptos"/>
                <a:ea typeface="Aptos"/>
                <a:cs typeface="Aptos"/>
              </a:defRPr>
            </a:pPr>
            <a:r>
              <a:rPr sz="1275" b="1">
                <a:solidFill>
                  <a:srgbClr val="2F7D57"/>
                </a:solidFill>
                <a:latin typeface="Aptos"/>
                <a:ea typeface="Aptos"/>
                <a:cs typeface="Aptos"/>
              </a:rPr>
              <a:t>What I do</a:t>
            </a:r>
          </a:p>
        </p:txBody>
      </p:sp>
      <p:sp>
        <p:nvSpPr>
          <p:cNvPr id="10" name="Rectangle 9">
            <a:extLst>
              <a:ext uri="{FF2B5EF4-FFF2-40B4-BE49-F238E27FC236}">
                <a16:creationId xmlns:a16="http://schemas.microsoft.com/office/drawing/2014/main" id="{78A12565-1D37-4E26-B0D9-13846B3125C8}"/>
              </a:ext>
            </a:extLst>
          </p:cNvPr>
          <p:cNvSpPr>
            <a:spLocks noGrp="1"/>
          </p:cNvSpPr>
          <p:nvPr/>
        </p:nvSpPr>
        <p:spPr>
          <a:xfrm>
            <a:off x="1085850" y="2724150"/>
            <a:ext cx="3771900" cy="1828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Aptos"/>
                <a:ea typeface="Aptos"/>
                <a:cs typeface="Aptos"/>
              </a:defRPr>
            </a:pPr>
            <a:r>
              <a:rPr sz="1425" b="0">
                <a:solidFill>
                  <a:srgbClr val="18202A"/>
                </a:solidFill>
                <a:latin typeface="Aptos"/>
                <a:ea typeface="Aptos"/>
                <a:cs typeface="Aptos"/>
              </a:rPr>
              <a:t>Generate proof attempts.</a:t>
            </a:r>
          </a:p>
          <a:p>
            <a:pPr algn="l">
              <a:defRPr sz="1425" b="0">
                <a:solidFill>
                  <a:srgbClr val="18202A"/>
                </a:solidFill>
                <a:latin typeface="Aptos"/>
                <a:ea typeface="Aptos"/>
                <a:cs typeface="Aptos"/>
              </a:defRPr>
            </a:pPr>
            <a:r>
              <a:rPr sz="1425" b="0">
                <a:solidFill>
                  <a:srgbClr val="18202A"/>
                </a:solidFill>
                <a:latin typeface="Aptos"/>
                <a:ea typeface="Aptos"/>
                <a:cs typeface="Aptos"/>
              </a:rPr>
              <a:t>Check them with Lean.</a:t>
            </a:r>
          </a:p>
          <a:p>
            <a:pPr algn="l">
              <a:defRPr sz="1425" b="0">
                <a:solidFill>
                  <a:srgbClr val="18202A"/>
                </a:solidFill>
                <a:latin typeface="Aptos"/>
                <a:ea typeface="Aptos"/>
                <a:cs typeface="Aptos"/>
              </a:defRPr>
            </a:pPr>
            <a:r>
              <a:rPr sz="1425" b="0">
                <a:solidFill>
                  <a:srgbClr val="18202A"/>
                </a:solidFill>
                <a:latin typeface="Aptos"/>
                <a:ea typeface="Aptos"/>
                <a:cs typeface="Aptos"/>
              </a:rPr>
              <a:t>Log errors.</a:t>
            </a:r>
          </a:p>
          <a:p>
            <a:pPr algn="l">
              <a:defRPr sz="1425" b="0">
                <a:solidFill>
                  <a:srgbClr val="18202A"/>
                </a:solidFill>
                <a:latin typeface="Aptos"/>
                <a:ea typeface="Aptos"/>
                <a:cs typeface="Aptos"/>
              </a:defRPr>
            </a:pPr>
            <a:r>
              <a:rPr sz="1425" b="0">
                <a:solidFill>
                  <a:srgbClr val="18202A"/>
                </a:solidFill>
                <a:latin typeface="Aptos"/>
                <a:ea typeface="Aptos"/>
                <a:cs typeface="Aptos"/>
              </a:rPr>
              <a:t>Repair and simplify after verification.</a:t>
            </a:r>
          </a:p>
        </p:txBody>
      </p:sp>
      <p:sp>
        <p:nvSpPr>
          <p:cNvPr id="11" name="Rectangle 10">
            <a:extLst>
              <a:ext uri="{FF2B5EF4-FFF2-40B4-BE49-F238E27FC236}">
                <a16:creationId xmlns:a16="http://schemas.microsoft.com/office/drawing/2014/main" id="{104C4D31-CAE1-4915-9C13-C08EC616E6E6}"/>
              </a:ext>
            </a:extLst>
          </p:cNvPr>
          <p:cNvSpPr>
            <a:spLocks noGrp="1"/>
          </p:cNvSpPr>
          <p:nvPr/>
        </p:nvSpPr>
        <p:spPr>
          <a:xfrm>
            <a:off x="5829300" y="2190750"/>
            <a:ext cx="4191000" cy="2552700"/>
          </a:xfrm>
          <a:prstGeom prst="rect">
            <a:avLst/>
          </a:prstGeom>
          <a:solidFill>
            <a:srgbClr val="EAF4F8"/>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C8D152F2-5C31-43E4-8573-56CA5E93D5E2}"/>
              </a:ext>
            </a:extLst>
          </p:cNvPr>
          <p:cNvSpPr>
            <a:spLocks noGrp="1"/>
          </p:cNvSpPr>
          <p:nvPr/>
        </p:nvSpPr>
        <p:spPr>
          <a:xfrm>
            <a:off x="6038850" y="2362200"/>
            <a:ext cx="3771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What I do not do</a:t>
            </a:r>
          </a:p>
        </p:txBody>
      </p:sp>
      <p:sp>
        <p:nvSpPr>
          <p:cNvPr id="13" name="Rectangle 12">
            <a:extLst>
              <a:ext uri="{FF2B5EF4-FFF2-40B4-BE49-F238E27FC236}">
                <a16:creationId xmlns:a16="http://schemas.microsoft.com/office/drawing/2014/main" id="{299D2DEB-3CC4-4654-AF21-01B9B42C7151}"/>
              </a:ext>
            </a:extLst>
          </p:cNvPr>
          <p:cNvSpPr>
            <a:spLocks noGrp="1"/>
          </p:cNvSpPr>
          <p:nvPr/>
        </p:nvSpPr>
        <p:spPr>
          <a:xfrm>
            <a:off x="6038850" y="2724150"/>
            <a:ext cx="3771900" cy="1828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Aptos"/>
                <a:ea typeface="Aptos"/>
                <a:cs typeface="Aptos"/>
              </a:defRPr>
            </a:pPr>
            <a:r>
              <a:rPr sz="1425" b="0">
                <a:solidFill>
                  <a:srgbClr val="18202A"/>
                </a:solidFill>
                <a:latin typeface="Aptos"/>
                <a:ea typeface="Aptos"/>
                <a:cs typeface="Aptos"/>
              </a:rPr>
              <a:t>No full multi-agent system.</a:t>
            </a:r>
          </a:p>
          <a:p>
            <a:pPr algn="l">
              <a:defRPr sz="1425" b="0">
                <a:solidFill>
                  <a:srgbClr val="18202A"/>
                </a:solidFill>
                <a:latin typeface="Aptos"/>
                <a:ea typeface="Aptos"/>
                <a:cs typeface="Aptos"/>
              </a:defRPr>
            </a:pPr>
            <a:r>
              <a:rPr sz="1425" b="0">
                <a:solidFill>
                  <a:srgbClr val="18202A"/>
                </a:solidFill>
                <a:latin typeface="Aptos"/>
                <a:ea typeface="Aptos"/>
                <a:cs typeface="Aptos"/>
              </a:rPr>
              <a:t>No benchmark-scale automation.</a:t>
            </a:r>
          </a:p>
          <a:p>
            <a:pPr algn="l">
              <a:defRPr sz="1425" b="0">
                <a:solidFill>
                  <a:srgbClr val="18202A"/>
                </a:solidFill>
                <a:latin typeface="Aptos"/>
                <a:ea typeface="Aptos"/>
                <a:cs typeface="Aptos"/>
              </a:defRPr>
            </a:pPr>
            <a:r>
              <a:rPr sz="1425" b="0">
                <a:solidFill>
                  <a:srgbClr val="18202A"/>
                </a:solidFill>
                <a:latin typeface="Aptos"/>
                <a:ea typeface="Aptos"/>
                <a:cs typeface="Aptos"/>
              </a:rPr>
              <a:t>No replacement for human explanation.</a:t>
            </a:r>
          </a:p>
        </p:txBody>
      </p:sp>
    </p:spTree>
    <p:extLst>
      <p:ext uri="{BB962C8B-B14F-4D97-AF65-F5344CB8AC3E}">
        <p14:creationId xmlns:p14="http://schemas.microsoft.com/office/powerpoint/2010/main" val="1633244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81586104-B6BF-417C-9EB2-9F14CB6BF17C}"/>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26C889B-7FE0-48D6-8335-149BE1A69F21}"/>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7CAA351A-269C-46B3-9D51-5060D4361A8C}"/>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MULTI-MODEL EXTENSION</a:t>
            </a:r>
          </a:p>
        </p:txBody>
      </p:sp>
      <p:sp>
        <p:nvSpPr>
          <p:cNvPr id="4" name="Rectangle 3">
            <a:extLst>
              <a:ext uri="{FF2B5EF4-FFF2-40B4-BE49-F238E27FC236}">
                <a16:creationId xmlns:a16="http://schemas.microsoft.com/office/drawing/2014/main" id="{7B6FB724-3BD6-495E-BC2C-B823C25C5624}"/>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8202A"/>
                </a:solidFill>
                <a:latin typeface="Aptos Display"/>
                <a:ea typeface="Aptos Display"/>
                <a:cs typeface="Aptos Display"/>
              </a:defRPr>
            </a:pPr>
            <a:r>
              <a:rPr sz="2325" b="1">
                <a:solidFill>
                  <a:srgbClr val="18202A"/>
                </a:solidFill>
                <a:latin typeface="Aptos Display"/>
                <a:ea typeface="Aptos Display"/>
                <a:cs typeface="Aptos Display"/>
              </a:rPr>
              <a:t>Codex and Claude receive the same theorem prompt and generate independent Lean attempts.</a:t>
            </a:r>
          </a:p>
        </p:txBody>
      </p:sp>
      <p:sp>
        <p:nvSpPr>
          <p:cNvPr id="5" name="Rectangle 4">
            <a:extLst>
              <a:ext uri="{FF2B5EF4-FFF2-40B4-BE49-F238E27FC236}">
                <a16:creationId xmlns:a16="http://schemas.microsoft.com/office/drawing/2014/main" id="{14A0F51F-81E0-4F0E-966A-1E8E752EA995}"/>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1252F2B9-449B-448C-AC96-B0614281FEE6}"/>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915CF413-C855-4893-8488-DADEE44BB585}"/>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27</a:t>
            </a:r>
          </a:p>
        </p:txBody>
      </p:sp>
      <p:sp>
        <p:nvSpPr>
          <p:cNvPr id="8" name="Rectangle 7">
            <a:extLst>
              <a:ext uri="{FF2B5EF4-FFF2-40B4-BE49-F238E27FC236}">
                <a16:creationId xmlns:a16="http://schemas.microsoft.com/office/drawing/2014/main" id="{62BB8359-1F2B-455C-83D7-9FCE36A7AEC1}"/>
              </a:ext>
            </a:extLst>
          </p:cNvPr>
          <p:cNvSpPr>
            <a:spLocks noGrp="1"/>
          </p:cNvSpPr>
          <p:nvPr/>
        </p:nvSpPr>
        <p:spPr>
          <a:xfrm>
            <a:off x="4171950" y="1943100"/>
            <a:ext cx="2381250" cy="781050"/>
          </a:xfrm>
          <a:prstGeom prst="rect">
            <a:avLst/>
          </a:prstGeom>
          <a:solidFill>
            <a:srgbClr val="EAF4F8"/>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71E0F6CE-7C55-4F04-85A1-CED9E6C8CF9E}"/>
              </a:ext>
            </a:extLst>
          </p:cNvPr>
          <p:cNvSpPr>
            <a:spLocks noGrp="1"/>
          </p:cNvSpPr>
          <p:nvPr/>
        </p:nvSpPr>
        <p:spPr>
          <a:xfrm>
            <a:off x="4381500" y="2114550"/>
            <a:ext cx="1962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Input</a:t>
            </a:r>
          </a:p>
        </p:txBody>
      </p:sp>
      <p:sp>
        <p:nvSpPr>
          <p:cNvPr id="10" name="Rectangle 9">
            <a:extLst>
              <a:ext uri="{FF2B5EF4-FFF2-40B4-BE49-F238E27FC236}">
                <a16:creationId xmlns:a16="http://schemas.microsoft.com/office/drawing/2014/main" id="{7C379244-3553-43AE-99C7-860946B3E0A7}"/>
              </a:ext>
            </a:extLst>
          </p:cNvPr>
          <p:cNvSpPr>
            <a:spLocks noGrp="1"/>
          </p:cNvSpPr>
          <p:nvPr/>
        </p:nvSpPr>
        <p:spPr>
          <a:xfrm>
            <a:off x="4381500" y="2476500"/>
            <a:ext cx="1962150" cy="57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Aptos"/>
                <a:ea typeface="Aptos"/>
                <a:cs typeface="Aptos"/>
              </a:defRPr>
            </a:pPr>
            <a:r>
              <a:rPr sz="1275" b="0">
                <a:solidFill>
                  <a:srgbClr val="18202A"/>
                </a:solidFill>
                <a:latin typeface="Aptos"/>
                <a:ea typeface="Aptos"/>
                <a:cs typeface="Aptos"/>
              </a:rPr>
              <a:t>same theorem prompt</a:t>
            </a:r>
          </a:p>
        </p:txBody>
      </p:sp>
      <p:sp>
        <p:nvSpPr>
          <p:cNvPr id="11" name="Rectangle 10">
            <a:extLst>
              <a:ext uri="{FF2B5EF4-FFF2-40B4-BE49-F238E27FC236}">
                <a16:creationId xmlns:a16="http://schemas.microsoft.com/office/drawing/2014/main" id="{5682282D-90FC-420D-B5E6-3B753BC0B78D}"/>
              </a:ext>
            </a:extLst>
          </p:cNvPr>
          <p:cNvSpPr>
            <a:spLocks noGrp="1"/>
          </p:cNvSpPr>
          <p:nvPr/>
        </p:nvSpPr>
        <p:spPr>
          <a:xfrm>
            <a:off x="1809750" y="3409950"/>
            <a:ext cx="2381250" cy="914400"/>
          </a:xfrm>
          <a:prstGeom prst="rect">
            <a:avLst/>
          </a:prstGeom>
          <a:solidFill>
            <a:srgbClr val="FFF6DF"/>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0035C7EE-E644-4C04-8F47-50F5877F5812}"/>
              </a:ext>
            </a:extLst>
          </p:cNvPr>
          <p:cNvSpPr>
            <a:spLocks noGrp="1"/>
          </p:cNvSpPr>
          <p:nvPr/>
        </p:nvSpPr>
        <p:spPr>
          <a:xfrm>
            <a:off x="2019300" y="3581400"/>
            <a:ext cx="1962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C0923A"/>
                </a:solidFill>
                <a:latin typeface="Aptos"/>
                <a:ea typeface="Aptos"/>
                <a:cs typeface="Aptos"/>
              </a:defRPr>
            </a:pPr>
            <a:r>
              <a:rPr sz="1050" b="1">
                <a:solidFill>
                  <a:srgbClr val="C0923A"/>
                </a:solidFill>
                <a:latin typeface="Aptos"/>
                <a:ea typeface="Aptos"/>
                <a:cs typeface="Aptos"/>
              </a:rPr>
              <a:t>Codex</a:t>
            </a:r>
          </a:p>
        </p:txBody>
      </p:sp>
      <p:sp>
        <p:nvSpPr>
          <p:cNvPr id="13" name="Rectangle 12">
            <a:extLst>
              <a:ext uri="{FF2B5EF4-FFF2-40B4-BE49-F238E27FC236}">
                <a16:creationId xmlns:a16="http://schemas.microsoft.com/office/drawing/2014/main" id="{B112BA65-9E55-46B6-8240-D44623C6C768}"/>
              </a:ext>
            </a:extLst>
          </p:cNvPr>
          <p:cNvSpPr>
            <a:spLocks noGrp="1"/>
          </p:cNvSpPr>
          <p:nvPr/>
        </p:nvSpPr>
        <p:spPr>
          <a:xfrm>
            <a:off x="2019300" y="3943350"/>
            <a:ext cx="19621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Aptos"/>
                <a:ea typeface="Aptos"/>
                <a:cs typeface="Aptos"/>
              </a:defRPr>
            </a:pPr>
            <a:r>
              <a:rPr sz="1275" b="0">
                <a:solidFill>
                  <a:srgbClr val="18202A"/>
                </a:solidFill>
                <a:latin typeface="Aptos"/>
                <a:ea typeface="Aptos"/>
                <a:cs typeface="Aptos"/>
              </a:rPr>
              <a:t>Codex attempt</a:t>
            </a:r>
          </a:p>
        </p:txBody>
      </p:sp>
      <p:sp>
        <p:nvSpPr>
          <p:cNvPr id="14" name="Rectangle 13">
            <a:extLst>
              <a:ext uri="{FF2B5EF4-FFF2-40B4-BE49-F238E27FC236}">
                <a16:creationId xmlns:a16="http://schemas.microsoft.com/office/drawing/2014/main" id="{66C12D2D-AD93-4E3F-A4A2-477A4E97FD21}"/>
              </a:ext>
            </a:extLst>
          </p:cNvPr>
          <p:cNvSpPr>
            <a:spLocks noGrp="1"/>
          </p:cNvSpPr>
          <p:nvPr/>
        </p:nvSpPr>
        <p:spPr>
          <a:xfrm>
            <a:off x="6572250" y="3409950"/>
            <a:ext cx="2381250" cy="914400"/>
          </a:xfrm>
          <a:prstGeom prst="rect">
            <a:avLst/>
          </a:prstGeom>
          <a:solidFill>
            <a:srgbClr val="EDF7F0"/>
          </a:solidFill>
          <a:ln w="9525">
            <a:solidFill>
              <a:srgbClr val="D8D2C8"/>
            </a:solidFill>
            <a:prstDash val="solid"/>
          </a:ln>
        </p:spPr>
        <p:txBody>
          <a:bodyPr/>
          <a:lstStyle/>
          <a:p>
            <a:endParaRPr lang="en-US"/>
          </a:p>
        </p:txBody>
      </p:sp>
      <p:sp>
        <p:nvSpPr>
          <p:cNvPr id="15" name="Rectangle 14">
            <a:extLst>
              <a:ext uri="{FF2B5EF4-FFF2-40B4-BE49-F238E27FC236}">
                <a16:creationId xmlns:a16="http://schemas.microsoft.com/office/drawing/2014/main" id="{63D96952-9EA4-43A1-9791-F122C236AAF4}"/>
              </a:ext>
            </a:extLst>
          </p:cNvPr>
          <p:cNvSpPr>
            <a:spLocks noGrp="1"/>
          </p:cNvSpPr>
          <p:nvPr/>
        </p:nvSpPr>
        <p:spPr>
          <a:xfrm>
            <a:off x="6781800" y="3581400"/>
            <a:ext cx="1962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F7D57"/>
                </a:solidFill>
                <a:latin typeface="Aptos"/>
                <a:ea typeface="Aptos"/>
                <a:cs typeface="Aptos"/>
              </a:defRPr>
            </a:pPr>
            <a:r>
              <a:rPr sz="1050" b="1">
                <a:solidFill>
                  <a:srgbClr val="2F7D57"/>
                </a:solidFill>
                <a:latin typeface="Aptos"/>
                <a:ea typeface="Aptos"/>
                <a:cs typeface="Aptos"/>
              </a:rPr>
              <a:t>Claude</a:t>
            </a:r>
          </a:p>
        </p:txBody>
      </p:sp>
      <p:sp>
        <p:nvSpPr>
          <p:cNvPr id="16" name="Rectangle 15">
            <a:extLst>
              <a:ext uri="{FF2B5EF4-FFF2-40B4-BE49-F238E27FC236}">
                <a16:creationId xmlns:a16="http://schemas.microsoft.com/office/drawing/2014/main" id="{8870C109-7E57-405B-9210-8E41A83162E4}"/>
              </a:ext>
            </a:extLst>
          </p:cNvPr>
          <p:cNvSpPr>
            <a:spLocks noGrp="1"/>
          </p:cNvSpPr>
          <p:nvPr/>
        </p:nvSpPr>
        <p:spPr>
          <a:xfrm>
            <a:off x="6781800" y="3943350"/>
            <a:ext cx="19621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Aptos"/>
                <a:ea typeface="Aptos"/>
                <a:cs typeface="Aptos"/>
              </a:defRPr>
            </a:pPr>
            <a:r>
              <a:rPr sz="1275" b="0">
                <a:solidFill>
                  <a:srgbClr val="18202A"/>
                </a:solidFill>
                <a:latin typeface="Aptos"/>
                <a:ea typeface="Aptos"/>
                <a:cs typeface="Aptos"/>
              </a:rPr>
              <a:t>Claude attempt</a:t>
            </a:r>
          </a:p>
        </p:txBody>
      </p:sp>
      <p:sp>
        <p:nvSpPr>
          <p:cNvPr id="17" name="Rectangle 16">
            <a:extLst>
              <a:ext uri="{FF2B5EF4-FFF2-40B4-BE49-F238E27FC236}">
                <a16:creationId xmlns:a16="http://schemas.microsoft.com/office/drawing/2014/main" id="{6D3A5C3A-CF01-4CD6-9F83-1AAC8C503442}"/>
              </a:ext>
            </a:extLst>
          </p:cNvPr>
          <p:cNvSpPr>
            <a:spLocks noGrp="1"/>
          </p:cNvSpPr>
          <p:nvPr/>
        </p:nvSpPr>
        <p:spPr>
          <a:xfrm>
            <a:off x="4171950" y="4743450"/>
            <a:ext cx="2381250" cy="781050"/>
          </a:xfrm>
          <a:prstGeom prst="rect">
            <a:avLst/>
          </a:prstGeom>
          <a:solidFill>
            <a:srgbClr val="FAECE8"/>
          </a:solidFill>
          <a:ln w="9525">
            <a:solidFill>
              <a:srgbClr val="D8D2C8"/>
            </a:solidFill>
            <a:prstDash val="solid"/>
          </a:ln>
        </p:spPr>
        <p:txBody>
          <a:bodyPr/>
          <a:lstStyle/>
          <a:p>
            <a:endParaRPr lang="en-US"/>
          </a:p>
        </p:txBody>
      </p:sp>
      <p:sp>
        <p:nvSpPr>
          <p:cNvPr id="18" name="Rectangle 17">
            <a:extLst>
              <a:ext uri="{FF2B5EF4-FFF2-40B4-BE49-F238E27FC236}">
                <a16:creationId xmlns:a16="http://schemas.microsoft.com/office/drawing/2014/main" id="{4F46E91C-2914-4F92-A5E7-C3AABC921649}"/>
              </a:ext>
            </a:extLst>
          </p:cNvPr>
          <p:cNvSpPr>
            <a:spLocks noGrp="1"/>
          </p:cNvSpPr>
          <p:nvPr/>
        </p:nvSpPr>
        <p:spPr>
          <a:xfrm>
            <a:off x="4381500" y="4914900"/>
            <a:ext cx="1962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B95745"/>
                </a:solidFill>
                <a:latin typeface="Aptos"/>
                <a:ea typeface="Aptos"/>
                <a:cs typeface="Aptos"/>
              </a:defRPr>
            </a:pPr>
            <a:r>
              <a:rPr sz="1050" b="1">
                <a:solidFill>
                  <a:srgbClr val="B95745"/>
                </a:solidFill>
                <a:latin typeface="Aptos"/>
                <a:ea typeface="Aptos"/>
                <a:cs typeface="Aptos"/>
              </a:rPr>
              <a:t>Verifier</a:t>
            </a:r>
          </a:p>
        </p:txBody>
      </p:sp>
      <p:sp>
        <p:nvSpPr>
          <p:cNvPr id="19" name="Rectangle 18">
            <a:extLst>
              <a:ext uri="{FF2B5EF4-FFF2-40B4-BE49-F238E27FC236}">
                <a16:creationId xmlns:a16="http://schemas.microsoft.com/office/drawing/2014/main" id="{1B6C16CC-D324-49B6-A5D4-2E6891B6D9AD}"/>
              </a:ext>
            </a:extLst>
          </p:cNvPr>
          <p:cNvSpPr>
            <a:spLocks noGrp="1"/>
          </p:cNvSpPr>
          <p:nvPr/>
        </p:nvSpPr>
        <p:spPr>
          <a:xfrm>
            <a:off x="4381500" y="5276850"/>
            <a:ext cx="1962150" cy="57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8202A"/>
                </a:solidFill>
                <a:latin typeface="Aptos"/>
                <a:ea typeface="Aptos"/>
                <a:cs typeface="Aptos"/>
              </a:defRPr>
            </a:pPr>
            <a:r>
              <a:rPr sz="1275" b="0">
                <a:solidFill>
                  <a:srgbClr val="18202A"/>
                </a:solidFill>
                <a:latin typeface="Aptos"/>
                <a:ea typeface="Aptos"/>
                <a:cs typeface="Aptos"/>
              </a:rPr>
              <a:t>Lean verifier</a:t>
            </a:r>
          </a:p>
        </p:txBody>
      </p:sp>
      <p:sp>
        <p:nvSpPr>
          <p:cNvPr id="20" name="Rectangle 19">
            <a:extLst>
              <a:ext uri="{FF2B5EF4-FFF2-40B4-BE49-F238E27FC236}">
                <a16:creationId xmlns:a16="http://schemas.microsoft.com/office/drawing/2014/main" id="{109A8F6E-55E2-477E-BB37-A471894020D7}"/>
              </a:ext>
            </a:extLst>
          </p:cNvPr>
          <p:cNvSpPr>
            <a:spLocks noGrp="1"/>
          </p:cNvSpPr>
          <p:nvPr/>
        </p:nvSpPr>
        <p:spPr>
          <a:xfrm>
            <a:off x="7391400" y="4743450"/>
            <a:ext cx="2571750" cy="781050"/>
          </a:xfrm>
          <a:prstGeom prst="rect">
            <a:avLst/>
          </a:prstGeom>
          <a:solidFill>
            <a:srgbClr val="FFFFFF"/>
          </a:solidFill>
          <a:ln w="9525">
            <a:solidFill>
              <a:srgbClr val="D8D2C8"/>
            </a:solidFill>
            <a:prstDash val="solid"/>
          </a:ln>
        </p:spPr>
        <p:txBody>
          <a:bodyPr/>
          <a:lstStyle/>
          <a:p>
            <a:endParaRPr lang="en-US"/>
          </a:p>
        </p:txBody>
      </p:sp>
      <p:sp>
        <p:nvSpPr>
          <p:cNvPr id="21" name="Rectangle 20">
            <a:extLst>
              <a:ext uri="{FF2B5EF4-FFF2-40B4-BE49-F238E27FC236}">
                <a16:creationId xmlns:a16="http://schemas.microsoft.com/office/drawing/2014/main" id="{6D143216-AACE-42D3-94BB-A09EF522FA4F}"/>
              </a:ext>
            </a:extLst>
          </p:cNvPr>
          <p:cNvSpPr>
            <a:spLocks noGrp="1"/>
          </p:cNvSpPr>
          <p:nvPr/>
        </p:nvSpPr>
        <p:spPr>
          <a:xfrm>
            <a:off x="7600950" y="4914900"/>
            <a:ext cx="21526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46B8F"/>
                </a:solidFill>
                <a:latin typeface="Aptos"/>
                <a:ea typeface="Aptos"/>
                <a:cs typeface="Aptos"/>
              </a:defRPr>
            </a:pPr>
            <a:r>
              <a:rPr sz="1050" b="1">
                <a:solidFill>
                  <a:srgbClr val="246B8F"/>
                </a:solidFill>
                <a:latin typeface="Aptos"/>
                <a:ea typeface="Aptos"/>
                <a:cs typeface="Aptos"/>
              </a:rPr>
              <a:t>Output</a:t>
            </a:r>
          </a:p>
        </p:txBody>
      </p:sp>
      <p:sp>
        <p:nvSpPr>
          <p:cNvPr id="22" name="Rectangle 21">
            <a:extLst>
              <a:ext uri="{FF2B5EF4-FFF2-40B4-BE49-F238E27FC236}">
                <a16:creationId xmlns:a16="http://schemas.microsoft.com/office/drawing/2014/main" id="{D2BFC60B-521B-45C3-8D6A-F7389CC4DEFC}"/>
              </a:ext>
            </a:extLst>
          </p:cNvPr>
          <p:cNvSpPr>
            <a:spLocks noGrp="1"/>
          </p:cNvSpPr>
          <p:nvPr/>
        </p:nvSpPr>
        <p:spPr>
          <a:xfrm>
            <a:off x="7600950" y="5276850"/>
            <a:ext cx="2152650" cy="57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02A"/>
                </a:solidFill>
                <a:latin typeface="Aptos"/>
                <a:ea typeface="Aptos"/>
                <a:cs typeface="Aptos"/>
              </a:defRPr>
            </a:pPr>
            <a:r>
              <a:rPr sz="1200" b="0">
                <a:solidFill>
                  <a:srgbClr val="18202A"/>
                </a:solidFill>
                <a:latin typeface="Aptos"/>
                <a:ea typeface="Aptos"/>
                <a:cs typeface="Aptos"/>
              </a:rPr>
              <a:t>comparison + reconciliation</a:t>
            </a:r>
          </a:p>
        </p:txBody>
      </p:sp>
      <p:sp>
        <p:nvSpPr>
          <p:cNvPr id="23" name="Rectangle 22">
            <a:extLst>
              <a:ext uri="{FF2B5EF4-FFF2-40B4-BE49-F238E27FC236}">
                <a16:creationId xmlns:a16="http://schemas.microsoft.com/office/drawing/2014/main" id="{510E01C9-C311-40C6-8945-7EC2BD1A7B0B}"/>
              </a:ext>
            </a:extLst>
          </p:cNvPr>
          <p:cNvSpPr>
            <a:spLocks noGrp="1"/>
          </p:cNvSpPr>
          <p:nvPr/>
        </p:nvSpPr>
        <p:spPr>
          <a:xfrm>
            <a:off x="5353050" y="2724150"/>
            <a:ext cx="19050" cy="457200"/>
          </a:xfrm>
          <a:prstGeom prst="rect">
            <a:avLst/>
          </a:prstGeom>
          <a:solidFill>
            <a:srgbClr val="246B8F"/>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016BA4AE-E664-40E4-83D4-05605FBD0AE9}"/>
              </a:ext>
            </a:extLst>
          </p:cNvPr>
          <p:cNvSpPr>
            <a:spLocks noGrp="1"/>
          </p:cNvSpPr>
          <p:nvPr/>
        </p:nvSpPr>
        <p:spPr>
          <a:xfrm>
            <a:off x="2990850" y="3181350"/>
            <a:ext cx="4171950" cy="19050"/>
          </a:xfrm>
          <a:prstGeom prst="rect">
            <a:avLst/>
          </a:prstGeom>
          <a:solidFill>
            <a:srgbClr val="246B8F"/>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B9E1A409-755C-4562-B993-C0AA06D91F35}"/>
              </a:ext>
            </a:extLst>
          </p:cNvPr>
          <p:cNvSpPr>
            <a:spLocks noGrp="1"/>
          </p:cNvSpPr>
          <p:nvPr/>
        </p:nvSpPr>
        <p:spPr>
          <a:xfrm>
            <a:off x="2990850" y="3181350"/>
            <a:ext cx="19050" cy="228600"/>
          </a:xfrm>
          <a:prstGeom prst="rect">
            <a:avLst/>
          </a:prstGeom>
          <a:solidFill>
            <a:srgbClr val="246B8F"/>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14203B82-3340-4B17-A503-723D18F1D362}"/>
              </a:ext>
            </a:extLst>
          </p:cNvPr>
          <p:cNvSpPr>
            <a:spLocks noGrp="1"/>
          </p:cNvSpPr>
          <p:nvPr/>
        </p:nvSpPr>
        <p:spPr>
          <a:xfrm>
            <a:off x="7162800" y="3181350"/>
            <a:ext cx="19050" cy="228600"/>
          </a:xfrm>
          <a:prstGeom prst="rect">
            <a:avLst/>
          </a:prstGeom>
          <a:solidFill>
            <a:srgbClr val="246B8F"/>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200CF9C3-74EA-45EA-9989-F152E47D684E}"/>
              </a:ext>
            </a:extLst>
          </p:cNvPr>
          <p:cNvSpPr>
            <a:spLocks noGrp="1"/>
          </p:cNvSpPr>
          <p:nvPr/>
        </p:nvSpPr>
        <p:spPr>
          <a:xfrm>
            <a:off x="2990850" y="4324350"/>
            <a:ext cx="19050" cy="342900"/>
          </a:xfrm>
          <a:prstGeom prst="rect">
            <a:avLst/>
          </a:prstGeom>
          <a:solidFill>
            <a:srgbClr val="246B8F"/>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5238B456-1F63-48C6-926D-555A5EF93767}"/>
              </a:ext>
            </a:extLst>
          </p:cNvPr>
          <p:cNvSpPr>
            <a:spLocks noGrp="1"/>
          </p:cNvSpPr>
          <p:nvPr/>
        </p:nvSpPr>
        <p:spPr>
          <a:xfrm>
            <a:off x="2990850" y="4667250"/>
            <a:ext cx="2381250" cy="19050"/>
          </a:xfrm>
          <a:prstGeom prst="rect">
            <a:avLst/>
          </a:prstGeom>
          <a:solidFill>
            <a:srgbClr val="246B8F"/>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2A521B5C-27B0-4804-AFDA-C4553FA473FB}"/>
              </a:ext>
            </a:extLst>
          </p:cNvPr>
          <p:cNvSpPr>
            <a:spLocks noGrp="1"/>
          </p:cNvSpPr>
          <p:nvPr/>
        </p:nvSpPr>
        <p:spPr>
          <a:xfrm>
            <a:off x="7162800" y="4324350"/>
            <a:ext cx="19050" cy="342900"/>
          </a:xfrm>
          <a:prstGeom prst="rect">
            <a:avLst/>
          </a:prstGeom>
          <a:solidFill>
            <a:srgbClr val="246B8F"/>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BC570818-B1B2-4893-A1E6-5459FCBD77EF}"/>
              </a:ext>
            </a:extLst>
          </p:cNvPr>
          <p:cNvSpPr>
            <a:spLocks noGrp="1"/>
          </p:cNvSpPr>
          <p:nvPr/>
        </p:nvSpPr>
        <p:spPr>
          <a:xfrm>
            <a:off x="5353050" y="4667250"/>
            <a:ext cx="1828800" cy="19050"/>
          </a:xfrm>
          <a:prstGeom prst="rect">
            <a:avLst/>
          </a:prstGeom>
          <a:solidFill>
            <a:srgbClr val="246B8F"/>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FF512C68-0E78-444E-9910-3A6BDA1F240A}"/>
              </a:ext>
            </a:extLst>
          </p:cNvPr>
          <p:cNvSpPr>
            <a:spLocks noGrp="1"/>
          </p:cNvSpPr>
          <p:nvPr/>
        </p:nvSpPr>
        <p:spPr>
          <a:xfrm>
            <a:off x="6553200" y="5124450"/>
            <a:ext cx="819150" cy="19050"/>
          </a:xfrm>
          <a:prstGeom prst="rect">
            <a:avLst/>
          </a:prstGeom>
          <a:solidFill>
            <a:srgbClr val="246B8F"/>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D662F41E-DA34-4AAD-B441-AA11DCC7C9C3}"/>
              </a:ext>
            </a:extLst>
          </p:cNvPr>
          <p:cNvSpPr>
            <a:spLocks noGrp="1"/>
          </p:cNvSpPr>
          <p:nvPr/>
        </p:nvSpPr>
        <p:spPr>
          <a:xfrm>
            <a:off x="1219200" y="5905500"/>
            <a:ext cx="8763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202A"/>
                </a:solidFill>
                <a:latin typeface="Aptos"/>
                <a:ea typeface="Aptos"/>
                <a:cs typeface="Aptos"/>
              </a:defRPr>
            </a:pPr>
            <a:r>
              <a:rPr sz="1650" b="1">
                <a:solidFill>
                  <a:srgbClr val="18202A"/>
                </a:solidFill>
                <a:latin typeface="Aptos"/>
                <a:ea typeface="Aptos"/>
                <a:cs typeface="Aptos"/>
              </a:rPr>
              <a:t>This follows the professor's advice: blind generation first, comparison second.</a:t>
            </a:r>
          </a:p>
        </p:txBody>
      </p:sp>
    </p:spTree>
    <p:extLst>
      <p:ext uri="{BB962C8B-B14F-4D97-AF65-F5344CB8AC3E}">
        <p14:creationId xmlns:p14="http://schemas.microsoft.com/office/powerpoint/2010/main" val="1560944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CEA67E6-82BC-42A0-9D24-21AF123653AF}"/>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F9562025-45E2-4DBE-BDB5-8CB65CEF4145}"/>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0E145973-A776-4259-8C21-DD4DEF25D033}"/>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REPAIR EVIDENCE</a:t>
            </a:r>
          </a:p>
        </p:txBody>
      </p:sp>
      <p:sp>
        <p:nvSpPr>
          <p:cNvPr id="4" name="Rectangle 3">
            <a:extLst>
              <a:ext uri="{FF2B5EF4-FFF2-40B4-BE49-F238E27FC236}">
                <a16:creationId xmlns:a16="http://schemas.microsoft.com/office/drawing/2014/main" id="{1C26B430-A4E5-4A85-8EAE-2A9868081A6F}"/>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8202A"/>
                </a:solidFill>
                <a:latin typeface="Aptos Display"/>
                <a:ea typeface="Aptos Display"/>
                <a:cs typeface="Aptos Display"/>
              </a:defRPr>
            </a:pPr>
            <a:r>
              <a:rPr sz="2325" b="1">
                <a:solidFill>
                  <a:srgbClr val="18202A"/>
                </a:solidFill>
                <a:latin typeface="Aptos Display"/>
                <a:ea typeface="Aptos Display"/>
                <a:cs typeface="Aptos Display"/>
              </a:rPr>
              <a:t>The failed attempts are useful because Lean turns them into concrete feedback.</a:t>
            </a:r>
          </a:p>
        </p:txBody>
      </p:sp>
      <p:sp>
        <p:nvSpPr>
          <p:cNvPr id="5" name="Rectangle 4">
            <a:extLst>
              <a:ext uri="{FF2B5EF4-FFF2-40B4-BE49-F238E27FC236}">
                <a16:creationId xmlns:a16="http://schemas.microsoft.com/office/drawing/2014/main" id="{6EE6182A-9C29-43CF-9789-9EE091A2C71C}"/>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488A7769-7341-4BD7-A2EE-B4B5C3952A38}"/>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BC48C619-82BC-4940-9D3B-856D9A1D5E94}"/>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28</a:t>
            </a:r>
          </a:p>
        </p:txBody>
      </p:sp>
      <p:sp>
        <p:nvSpPr>
          <p:cNvPr id="8" name="Rectangle 7">
            <a:extLst>
              <a:ext uri="{FF2B5EF4-FFF2-40B4-BE49-F238E27FC236}">
                <a16:creationId xmlns:a16="http://schemas.microsoft.com/office/drawing/2014/main" id="{FB7A7CA4-034D-4144-9A6B-E6A60AB4636C}"/>
              </a:ext>
            </a:extLst>
          </p:cNvPr>
          <p:cNvSpPr>
            <a:spLocks noGrp="1"/>
          </p:cNvSpPr>
          <p:nvPr/>
        </p:nvSpPr>
        <p:spPr>
          <a:xfrm>
            <a:off x="781050" y="2247900"/>
            <a:ext cx="2857500" cy="2095500"/>
          </a:xfrm>
          <a:prstGeom prst="rect">
            <a:avLst/>
          </a:prstGeom>
          <a:solidFill>
            <a:srgbClr val="EAF4F8"/>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22C285C0-935A-4522-B575-9CEB4DC453C1}"/>
              </a:ext>
            </a:extLst>
          </p:cNvPr>
          <p:cNvSpPr>
            <a:spLocks noGrp="1"/>
          </p:cNvSpPr>
          <p:nvPr/>
        </p:nvSpPr>
        <p:spPr>
          <a:xfrm>
            <a:off x="9906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Codex failure</a:t>
            </a:r>
          </a:p>
        </p:txBody>
      </p:sp>
      <p:sp>
        <p:nvSpPr>
          <p:cNvPr id="10" name="Rectangle 9">
            <a:extLst>
              <a:ext uri="{FF2B5EF4-FFF2-40B4-BE49-F238E27FC236}">
                <a16:creationId xmlns:a16="http://schemas.microsoft.com/office/drawing/2014/main" id="{E01B1CAB-6FB8-40F7-AEC8-84F0B5CFB8FA}"/>
              </a:ext>
            </a:extLst>
          </p:cNvPr>
          <p:cNvSpPr>
            <a:spLocks noGrp="1"/>
          </p:cNvSpPr>
          <p:nvPr/>
        </p:nvSpPr>
        <p:spPr>
          <a:xfrm>
            <a:off x="9906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Used a conjunction where one inequality was needed.</a:t>
            </a:r>
          </a:p>
        </p:txBody>
      </p:sp>
      <p:sp>
        <p:nvSpPr>
          <p:cNvPr id="11" name="Rectangle 10">
            <a:extLst>
              <a:ext uri="{FF2B5EF4-FFF2-40B4-BE49-F238E27FC236}">
                <a16:creationId xmlns:a16="http://schemas.microsoft.com/office/drawing/2014/main" id="{197D4AE1-CD62-4E09-9C3C-C70AB0C05EFF}"/>
              </a:ext>
            </a:extLst>
          </p:cNvPr>
          <p:cNvSpPr>
            <a:spLocks noGrp="1"/>
          </p:cNvSpPr>
          <p:nvPr/>
        </p:nvSpPr>
        <p:spPr>
          <a:xfrm>
            <a:off x="4114800" y="2247900"/>
            <a:ext cx="2857500" cy="2095500"/>
          </a:xfrm>
          <a:prstGeom prst="rect">
            <a:avLst/>
          </a:prstGeom>
          <a:solidFill>
            <a:srgbClr val="EDF7F0"/>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70971FC2-E5AC-477F-BFDC-A7FDCD6B90E6}"/>
              </a:ext>
            </a:extLst>
          </p:cNvPr>
          <p:cNvSpPr>
            <a:spLocks noGrp="1"/>
          </p:cNvSpPr>
          <p:nvPr/>
        </p:nvSpPr>
        <p:spPr>
          <a:xfrm>
            <a:off x="432435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F7D57"/>
                </a:solidFill>
                <a:latin typeface="Aptos"/>
                <a:ea typeface="Aptos"/>
                <a:cs typeface="Aptos"/>
              </a:defRPr>
            </a:pPr>
            <a:r>
              <a:rPr sz="1275" b="1">
                <a:solidFill>
                  <a:srgbClr val="2F7D57"/>
                </a:solidFill>
                <a:latin typeface="Aptos"/>
                <a:ea typeface="Aptos"/>
                <a:cs typeface="Aptos"/>
              </a:rPr>
              <a:t>Claude failure</a:t>
            </a:r>
          </a:p>
        </p:txBody>
      </p:sp>
      <p:sp>
        <p:nvSpPr>
          <p:cNvPr id="13" name="Rectangle 12">
            <a:extLst>
              <a:ext uri="{FF2B5EF4-FFF2-40B4-BE49-F238E27FC236}">
                <a16:creationId xmlns:a16="http://schemas.microsoft.com/office/drawing/2014/main" id="{39100357-21C2-47E8-A1CD-4584041C8050}"/>
              </a:ext>
            </a:extLst>
          </p:cNvPr>
          <p:cNvSpPr>
            <a:spLocks noGrp="1"/>
          </p:cNvSpPr>
          <p:nvPr/>
        </p:nvSpPr>
        <p:spPr>
          <a:xfrm>
            <a:off x="432435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Relied on omega where no usable constraints were visible.</a:t>
            </a:r>
          </a:p>
        </p:txBody>
      </p:sp>
      <p:sp>
        <p:nvSpPr>
          <p:cNvPr id="14" name="Rectangle 13">
            <a:extLst>
              <a:ext uri="{FF2B5EF4-FFF2-40B4-BE49-F238E27FC236}">
                <a16:creationId xmlns:a16="http://schemas.microsoft.com/office/drawing/2014/main" id="{A8D405BA-73B0-41E8-A5B3-9DD5202239B5}"/>
              </a:ext>
            </a:extLst>
          </p:cNvPr>
          <p:cNvSpPr>
            <a:spLocks noGrp="1"/>
          </p:cNvSpPr>
          <p:nvPr/>
        </p:nvSpPr>
        <p:spPr>
          <a:xfrm>
            <a:off x="7448550" y="2247900"/>
            <a:ext cx="2857500" cy="2095500"/>
          </a:xfrm>
          <a:prstGeom prst="rect">
            <a:avLst/>
          </a:prstGeom>
          <a:solidFill>
            <a:srgbClr val="FFF6DF"/>
          </a:solidFill>
          <a:ln w="9525">
            <a:solidFill>
              <a:srgbClr val="D8D2C8"/>
            </a:solidFill>
            <a:prstDash val="solid"/>
          </a:ln>
        </p:spPr>
        <p:txBody>
          <a:bodyPr/>
          <a:lstStyle/>
          <a:p>
            <a:endParaRPr lang="en-US"/>
          </a:p>
        </p:txBody>
      </p:sp>
      <p:sp>
        <p:nvSpPr>
          <p:cNvPr id="15" name="Rectangle 14">
            <a:extLst>
              <a:ext uri="{FF2B5EF4-FFF2-40B4-BE49-F238E27FC236}">
                <a16:creationId xmlns:a16="http://schemas.microsoft.com/office/drawing/2014/main" id="{65C41779-F14B-4481-A52F-C6887729DEFB}"/>
              </a:ext>
            </a:extLst>
          </p:cNvPr>
          <p:cNvSpPr>
            <a:spLocks noGrp="1"/>
          </p:cNvSpPr>
          <p:nvPr/>
        </p:nvSpPr>
        <p:spPr>
          <a:xfrm>
            <a:off x="76581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C0923A"/>
                </a:solidFill>
                <a:latin typeface="Aptos"/>
                <a:ea typeface="Aptos"/>
                <a:cs typeface="Aptos"/>
              </a:defRPr>
            </a:pPr>
            <a:r>
              <a:rPr sz="1275" b="1">
                <a:solidFill>
                  <a:srgbClr val="C0923A"/>
                </a:solidFill>
                <a:latin typeface="Aptos"/>
                <a:ea typeface="Aptos"/>
                <a:cs typeface="Aptos"/>
              </a:rPr>
              <a:t>Repair pattern</a:t>
            </a:r>
          </a:p>
        </p:txBody>
      </p:sp>
      <p:sp>
        <p:nvSpPr>
          <p:cNvPr id="16" name="Rectangle 15">
            <a:extLst>
              <a:ext uri="{FF2B5EF4-FFF2-40B4-BE49-F238E27FC236}">
                <a16:creationId xmlns:a16="http://schemas.microsoft.com/office/drawing/2014/main" id="{8602ABDC-3316-4DF1-8802-9201CFF808B0}"/>
              </a:ext>
            </a:extLst>
          </p:cNvPr>
          <p:cNvSpPr>
            <a:spLocks noGrp="1"/>
          </p:cNvSpPr>
          <p:nvPr/>
        </p:nvSpPr>
        <p:spPr>
          <a:xfrm>
            <a:off x="76581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Extract directions, add monotonicity, make arithmetic explicit.</a:t>
            </a:r>
          </a:p>
        </p:txBody>
      </p:sp>
    </p:spTree>
    <p:extLst>
      <p:ext uri="{BB962C8B-B14F-4D97-AF65-F5344CB8AC3E}">
        <p14:creationId xmlns:p14="http://schemas.microsoft.com/office/powerpoint/2010/main" val="955395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478E6D1-C7E9-40C6-94E8-C3A226049A22}"/>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83BBE88C-AA5E-4C94-8AEB-F9045DE0C009}"/>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A757C145-EF18-4C9B-B0FE-6DCCCD3A0959}"/>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PART 4</a:t>
            </a:r>
          </a:p>
        </p:txBody>
      </p:sp>
      <p:sp>
        <p:nvSpPr>
          <p:cNvPr id="4" name="Rectangle 3">
            <a:extLst>
              <a:ext uri="{FF2B5EF4-FFF2-40B4-BE49-F238E27FC236}">
                <a16:creationId xmlns:a16="http://schemas.microsoft.com/office/drawing/2014/main" id="{16D91BBF-FE7B-4E95-855C-80EF517DA6B3}"/>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Workflow, definitions, and assumptions</a:t>
            </a:r>
          </a:p>
        </p:txBody>
      </p:sp>
      <p:sp>
        <p:nvSpPr>
          <p:cNvPr id="5" name="Rectangle 4">
            <a:extLst>
              <a:ext uri="{FF2B5EF4-FFF2-40B4-BE49-F238E27FC236}">
                <a16:creationId xmlns:a16="http://schemas.microsoft.com/office/drawing/2014/main" id="{E30AF82B-E348-4045-A54B-31FF6F13E624}"/>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EC2B8A4B-9257-4698-A49F-4C8E650D23CD}"/>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3C642BBA-98F8-4E7E-BAD2-2C02AA7FF63A}"/>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29</a:t>
            </a:r>
          </a:p>
        </p:txBody>
      </p:sp>
      <p:sp>
        <p:nvSpPr>
          <p:cNvPr id="8" name="Rectangle 7">
            <a:extLst>
              <a:ext uri="{FF2B5EF4-FFF2-40B4-BE49-F238E27FC236}">
                <a16:creationId xmlns:a16="http://schemas.microsoft.com/office/drawing/2014/main" id="{1CD5C1CE-0A00-4F5A-89BB-6BB2E2ABE0AC}"/>
              </a:ext>
            </a:extLst>
          </p:cNvPr>
          <p:cNvSpPr>
            <a:spLocks noGrp="1"/>
          </p:cNvSpPr>
          <p:nvPr/>
        </p:nvSpPr>
        <p:spPr>
          <a:xfrm>
            <a:off x="0" y="0"/>
            <a:ext cx="12192000" cy="6858000"/>
          </a:xfrm>
          <a:prstGeom prst="rect">
            <a:avLst/>
          </a:prstGeom>
          <a:solidFill>
            <a:srgbClr val="111827"/>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B3A3EBA2-D865-428C-AE27-A0D36083F921}"/>
              </a:ext>
            </a:extLst>
          </p:cNvPr>
          <p:cNvSpPr>
            <a:spLocks noGrp="1"/>
          </p:cNvSpPr>
          <p:nvPr/>
        </p:nvSpPr>
        <p:spPr>
          <a:xfrm>
            <a:off x="0" y="0"/>
            <a:ext cx="171450" cy="6858000"/>
          </a:xfrm>
          <a:prstGeom prst="rect">
            <a:avLst/>
          </a:prstGeom>
          <a:solidFill>
            <a:srgbClr val="C0923A"/>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9A7DB314-EF61-4AE4-95CD-E8EF00EB8DBF}"/>
              </a:ext>
            </a:extLst>
          </p:cNvPr>
          <p:cNvSpPr>
            <a:spLocks noGrp="1"/>
          </p:cNvSpPr>
          <p:nvPr/>
        </p:nvSpPr>
        <p:spPr>
          <a:xfrm>
            <a:off x="838200" y="10668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C0923A"/>
                </a:solidFill>
                <a:latin typeface="Aptos"/>
                <a:ea typeface="Aptos"/>
                <a:cs typeface="Aptos"/>
              </a:defRPr>
            </a:pPr>
            <a:r>
              <a:rPr sz="1350" b="1">
                <a:solidFill>
                  <a:srgbClr val="C0923A"/>
                </a:solidFill>
                <a:latin typeface="Aptos"/>
                <a:ea typeface="Aptos"/>
                <a:cs typeface="Aptos"/>
              </a:rPr>
              <a:t>Part 4</a:t>
            </a:r>
          </a:p>
        </p:txBody>
      </p:sp>
      <p:sp>
        <p:nvSpPr>
          <p:cNvPr id="11" name="Rectangle 10">
            <a:extLst>
              <a:ext uri="{FF2B5EF4-FFF2-40B4-BE49-F238E27FC236}">
                <a16:creationId xmlns:a16="http://schemas.microsoft.com/office/drawing/2014/main" id="{C1850E5A-36D8-4FB0-B30F-AB446CAF1A19}"/>
              </a:ext>
            </a:extLst>
          </p:cNvPr>
          <p:cNvSpPr>
            <a:spLocks noGrp="1"/>
          </p:cNvSpPr>
          <p:nvPr/>
        </p:nvSpPr>
        <p:spPr>
          <a:xfrm>
            <a:off x="838200" y="2000250"/>
            <a:ext cx="895350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525" b="1">
                <a:solidFill>
                  <a:srgbClr val="FFFFFF"/>
                </a:solidFill>
                <a:latin typeface="Aptos Display"/>
                <a:ea typeface="Aptos Display"/>
                <a:cs typeface="Aptos Display"/>
              </a:defRPr>
            </a:pPr>
            <a:r>
              <a:rPr sz="3525" b="1">
                <a:solidFill>
                  <a:srgbClr val="FFFFFF"/>
                </a:solidFill>
                <a:latin typeface="Aptos Display"/>
                <a:ea typeface="Aptos Display"/>
                <a:cs typeface="Aptos Display"/>
              </a:rPr>
              <a:t>Workflow, definitions, and assumptions</a:t>
            </a:r>
          </a:p>
        </p:txBody>
      </p:sp>
      <p:sp>
        <p:nvSpPr>
          <p:cNvPr id="12" name="Rectangle 11">
            <a:extLst>
              <a:ext uri="{FF2B5EF4-FFF2-40B4-BE49-F238E27FC236}">
                <a16:creationId xmlns:a16="http://schemas.microsoft.com/office/drawing/2014/main" id="{6C0B39E8-9657-4723-A0E4-45CF97C092D5}"/>
              </a:ext>
            </a:extLst>
          </p:cNvPr>
          <p:cNvSpPr>
            <a:spLocks noGrp="1"/>
          </p:cNvSpPr>
          <p:nvPr/>
        </p:nvSpPr>
        <p:spPr>
          <a:xfrm>
            <a:off x="876300" y="3638550"/>
            <a:ext cx="8096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D8DDE7"/>
                </a:solidFill>
                <a:latin typeface="Aptos"/>
                <a:ea typeface="Aptos"/>
                <a:cs typeface="Aptos"/>
              </a:defRPr>
            </a:pPr>
            <a:r>
              <a:rPr sz="1800" b="0">
                <a:solidFill>
                  <a:srgbClr val="D8DDE7"/>
                </a:solidFill>
                <a:latin typeface="Aptos"/>
                <a:ea typeface="Aptos"/>
                <a:cs typeface="Aptos"/>
              </a:rPr>
              <a:t>What is in the repo, what is proved, and what is scoped out.</a:t>
            </a:r>
          </a:p>
        </p:txBody>
      </p:sp>
      <p:sp>
        <p:nvSpPr>
          <p:cNvPr id="13" name="Rectangle 12">
            <a:extLst>
              <a:ext uri="{FF2B5EF4-FFF2-40B4-BE49-F238E27FC236}">
                <a16:creationId xmlns:a16="http://schemas.microsoft.com/office/drawing/2014/main" id="{FDAF0713-5688-4CA6-BBD7-4E4BD399F578}"/>
              </a:ext>
            </a:extLst>
          </p:cNvPr>
          <p:cNvSpPr>
            <a:spLocks noGrp="1"/>
          </p:cNvSpPr>
          <p:nvPr/>
        </p:nvSpPr>
        <p:spPr>
          <a:xfrm>
            <a:off x="10477500" y="6000750"/>
            <a:ext cx="571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D8DDE7"/>
                </a:solidFill>
                <a:latin typeface="Aptos"/>
                <a:ea typeface="Aptos"/>
                <a:cs typeface="Aptos"/>
              </a:defRPr>
            </a:pPr>
            <a:r>
              <a:rPr sz="1275" b="1">
                <a:solidFill>
                  <a:srgbClr val="D8DDE7"/>
                </a:solidFill>
                <a:latin typeface="Aptos"/>
                <a:ea typeface="Aptos"/>
                <a:cs typeface="Aptos"/>
              </a:rPr>
              <a:t>29</a:t>
            </a:r>
          </a:p>
        </p:txBody>
      </p:sp>
    </p:spTree>
    <p:extLst>
      <p:ext uri="{BB962C8B-B14F-4D97-AF65-F5344CB8AC3E}">
        <p14:creationId xmlns:p14="http://schemas.microsoft.com/office/powerpoint/2010/main" val="1101528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6E5FDD8D-905B-425A-95B4-55021786255D}"/>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818DFDC-270F-4F22-8395-DEA4F260BBD7}"/>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33588784-41E3-4864-AEE4-2EF8CF1C444F}"/>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LEAN FILES</a:t>
            </a:r>
          </a:p>
        </p:txBody>
      </p:sp>
      <p:sp>
        <p:nvSpPr>
          <p:cNvPr id="4" name="Rectangle 3">
            <a:extLst>
              <a:ext uri="{FF2B5EF4-FFF2-40B4-BE49-F238E27FC236}">
                <a16:creationId xmlns:a16="http://schemas.microsoft.com/office/drawing/2014/main" id="{756F195A-D992-4159-8119-C32B3842802E}"/>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8202A"/>
                </a:solidFill>
                <a:latin typeface="Aptos Display"/>
                <a:ea typeface="Aptos Display"/>
                <a:cs typeface="Aptos Display"/>
              </a:defRPr>
            </a:pPr>
            <a:r>
              <a:rPr sz="2325" b="1">
                <a:solidFill>
                  <a:srgbClr val="18202A"/>
                </a:solidFill>
                <a:latin typeface="Aptos Display"/>
                <a:ea typeface="Aptos Display"/>
                <a:cs typeface="Aptos Display"/>
              </a:rPr>
              <a:t>The Lean project separates definitions, assumptions, realizable results, and agnostic results.</a:t>
            </a:r>
          </a:p>
        </p:txBody>
      </p:sp>
      <p:sp>
        <p:nvSpPr>
          <p:cNvPr id="5" name="Rectangle 4">
            <a:extLst>
              <a:ext uri="{FF2B5EF4-FFF2-40B4-BE49-F238E27FC236}">
                <a16:creationId xmlns:a16="http://schemas.microsoft.com/office/drawing/2014/main" id="{93379D87-2541-4318-9DE0-98297723FAC4}"/>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8501B48-B36D-46E6-B9F9-ACD3A2B59642}"/>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0C9E7FEA-020A-435C-AAB0-24C513C13FCA}"/>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30</a:t>
            </a:r>
          </a:p>
        </p:txBody>
      </p:sp>
      <p:sp>
        <p:nvSpPr>
          <p:cNvPr id="8" name="Rectangle 7">
            <a:extLst>
              <a:ext uri="{FF2B5EF4-FFF2-40B4-BE49-F238E27FC236}">
                <a16:creationId xmlns:a16="http://schemas.microsoft.com/office/drawing/2014/main" id="{C8F8FB56-7C5E-4881-9B7F-C72D9D1879F1}"/>
              </a:ext>
            </a:extLst>
          </p:cNvPr>
          <p:cNvSpPr>
            <a:spLocks noGrp="1"/>
          </p:cNvSpPr>
          <p:nvPr/>
        </p:nvSpPr>
        <p:spPr>
          <a:xfrm>
            <a:off x="723900" y="2095500"/>
            <a:ext cx="3175000" cy="609600"/>
          </a:xfrm>
          <a:prstGeom prst="rect">
            <a:avLst/>
          </a:prstGeom>
          <a:solidFill>
            <a:srgbClr val="111827"/>
          </a:solidFill>
          <a:ln w="19050">
            <a:solidFill>
              <a:srgbClr val="FFFFFF"/>
            </a:solidFill>
            <a:prstDash val="solid"/>
          </a:ln>
        </p:spPr>
        <p:txBody>
          <a:bodyPr/>
          <a:lstStyle/>
          <a:p>
            <a:endParaRPr lang="en-US"/>
          </a:p>
        </p:txBody>
      </p:sp>
      <p:sp>
        <p:nvSpPr>
          <p:cNvPr id="9" name="Rectangle 8">
            <a:extLst>
              <a:ext uri="{FF2B5EF4-FFF2-40B4-BE49-F238E27FC236}">
                <a16:creationId xmlns:a16="http://schemas.microsoft.com/office/drawing/2014/main" id="{26FFCE1F-5409-432E-A0EC-E4639BF13E58}"/>
              </a:ext>
            </a:extLst>
          </p:cNvPr>
          <p:cNvSpPr>
            <a:spLocks noGrp="1"/>
          </p:cNvSpPr>
          <p:nvPr/>
        </p:nvSpPr>
        <p:spPr>
          <a:xfrm>
            <a:off x="838200" y="22574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FFFF"/>
                </a:solidFill>
                <a:latin typeface="Aptos"/>
                <a:ea typeface="Aptos"/>
                <a:cs typeface="Aptos"/>
              </a:defRPr>
            </a:pPr>
            <a:r>
              <a:rPr sz="975" b="1">
                <a:solidFill>
                  <a:srgbClr val="FFFFFF"/>
                </a:solidFill>
                <a:latin typeface="Aptos"/>
                <a:ea typeface="Aptos"/>
                <a:cs typeface="Aptos"/>
              </a:rPr>
              <a:t>File</a:t>
            </a:r>
          </a:p>
        </p:txBody>
      </p:sp>
      <p:sp>
        <p:nvSpPr>
          <p:cNvPr id="10" name="Rectangle 9">
            <a:extLst>
              <a:ext uri="{FF2B5EF4-FFF2-40B4-BE49-F238E27FC236}">
                <a16:creationId xmlns:a16="http://schemas.microsoft.com/office/drawing/2014/main" id="{498F884D-0730-4845-9404-4B6FB919BBBC}"/>
              </a:ext>
            </a:extLst>
          </p:cNvPr>
          <p:cNvSpPr>
            <a:spLocks noGrp="1"/>
          </p:cNvSpPr>
          <p:nvPr/>
        </p:nvSpPr>
        <p:spPr>
          <a:xfrm>
            <a:off x="3898900" y="2095500"/>
            <a:ext cx="3175000" cy="609600"/>
          </a:xfrm>
          <a:prstGeom prst="rect">
            <a:avLst/>
          </a:prstGeom>
          <a:solidFill>
            <a:srgbClr val="111827"/>
          </a:solidFill>
          <a:ln w="19050">
            <a:solidFill>
              <a:srgbClr val="FFFFFF"/>
            </a:solidFill>
            <a:prstDash val="solid"/>
          </a:ln>
        </p:spPr>
        <p:txBody>
          <a:bodyPr/>
          <a:lstStyle/>
          <a:p>
            <a:endParaRPr lang="en-US"/>
          </a:p>
        </p:txBody>
      </p:sp>
      <p:sp>
        <p:nvSpPr>
          <p:cNvPr id="11" name="Rectangle 10">
            <a:extLst>
              <a:ext uri="{FF2B5EF4-FFF2-40B4-BE49-F238E27FC236}">
                <a16:creationId xmlns:a16="http://schemas.microsoft.com/office/drawing/2014/main" id="{90C86F7D-AE74-4943-A4EE-376F63DF8704}"/>
              </a:ext>
            </a:extLst>
          </p:cNvPr>
          <p:cNvSpPr>
            <a:spLocks noGrp="1"/>
          </p:cNvSpPr>
          <p:nvPr/>
        </p:nvSpPr>
        <p:spPr>
          <a:xfrm>
            <a:off x="4013200" y="22574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FFFF"/>
                </a:solidFill>
                <a:latin typeface="Aptos"/>
                <a:ea typeface="Aptos"/>
                <a:cs typeface="Aptos"/>
              </a:defRPr>
            </a:pPr>
            <a:r>
              <a:rPr sz="975" b="1">
                <a:solidFill>
                  <a:srgbClr val="FFFFFF"/>
                </a:solidFill>
                <a:latin typeface="Aptos"/>
                <a:ea typeface="Aptos"/>
                <a:cs typeface="Aptos"/>
              </a:rPr>
              <a:t>Role</a:t>
            </a:r>
          </a:p>
        </p:txBody>
      </p:sp>
      <p:sp>
        <p:nvSpPr>
          <p:cNvPr id="12" name="Rectangle 11">
            <a:extLst>
              <a:ext uri="{FF2B5EF4-FFF2-40B4-BE49-F238E27FC236}">
                <a16:creationId xmlns:a16="http://schemas.microsoft.com/office/drawing/2014/main" id="{6C4FC16B-CCD2-47F3-B7A3-E2404C16F25F}"/>
              </a:ext>
            </a:extLst>
          </p:cNvPr>
          <p:cNvSpPr>
            <a:spLocks noGrp="1"/>
          </p:cNvSpPr>
          <p:nvPr/>
        </p:nvSpPr>
        <p:spPr>
          <a:xfrm>
            <a:off x="7073900" y="2095500"/>
            <a:ext cx="3175000" cy="609600"/>
          </a:xfrm>
          <a:prstGeom prst="rect">
            <a:avLst/>
          </a:prstGeom>
          <a:solidFill>
            <a:srgbClr val="111827"/>
          </a:solidFill>
          <a:ln w="19050">
            <a:solidFill>
              <a:srgbClr val="FFFFFF"/>
            </a:solidFill>
            <a:prstDash val="solid"/>
          </a:ln>
        </p:spPr>
        <p:txBody>
          <a:bodyPr/>
          <a:lstStyle/>
          <a:p>
            <a:endParaRPr lang="en-US"/>
          </a:p>
        </p:txBody>
      </p:sp>
      <p:sp>
        <p:nvSpPr>
          <p:cNvPr id="13" name="Rectangle 12">
            <a:extLst>
              <a:ext uri="{FF2B5EF4-FFF2-40B4-BE49-F238E27FC236}">
                <a16:creationId xmlns:a16="http://schemas.microsoft.com/office/drawing/2014/main" id="{64BB8810-A53D-4158-8AB5-6FAD0F01853A}"/>
              </a:ext>
            </a:extLst>
          </p:cNvPr>
          <p:cNvSpPr>
            <a:spLocks noGrp="1"/>
          </p:cNvSpPr>
          <p:nvPr/>
        </p:nvSpPr>
        <p:spPr>
          <a:xfrm>
            <a:off x="7188200" y="22574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FFFF"/>
                </a:solidFill>
                <a:latin typeface="Aptos"/>
                <a:ea typeface="Aptos"/>
                <a:cs typeface="Aptos"/>
              </a:defRPr>
            </a:pPr>
            <a:r>
              <a:rPr sz="975" b="1">
                <a:solidFill>
                  <a:srgbClr val="FFFFFF"/>
                </a:solidFill>
                <a:latin typeface="Aptos"/>
                <a:ea typeface="Aptos"/>
                <a:cs typeface="Aptos"/>
              </a:rPr>
              <a:t>Status</a:t>
            </a:r>
          </a:p>
        </p:txBody>
      </p:sp>
      <p:sp>
        <p:nvSpPr>
          <p:cNvPr id="14" name="Rectangle 13">
            <a:extLst>
              <a:ext uri="{FF2B5EF4-FFF2-40B4-BE49-F238E27FC236}">
                <a16:creationId xmlns:a16="http://schemas.microsoft.com/office/drawing/2014/main" id="{AD49F657-340C-432E-A589-CC347DCE1C68}"/>
              </a:ext>
            </a:extLst>
          </p:cNvPr>
          <p:cNvSpPr>
            <a:spLocks noGrp="1"/>
          </p:cNvSpPr>
          <p:nvPr/>
        </p:nvSpPr>
        <p:spPr>
          <a:xfrm>
            <a:off x="723900" y="2705100"/>
            <a:ext cx="3175000" cy="609600"/>
          </a:xfrm>
          <a:prstGeom prst="rect">
            <a:avLst/>
          </a:prstGeom>
          <a:solidFill>
            <a:srgbClr val="EAF4F8"/>
          </a:solidFill>
          <a:ln w="19050">
            <a:solidFill>
              <a:srgbClr val="FFFFFF"/>
            </a:solidFill>
            <a:prstDash val="solid"/>
          </a:ln>
        </p:spPr>
        <p:txBody>
          <a:bodyPr/>
          <a:lstStyle/>
          <a:p>
            <a:endParaRPr lang="en-US"/>
          </a:p>
        </p:txBody>
      </p:sp>
      <p:sp>
        <p:nvSpPr>
          <p:cNvPr id="15" name="Rectangle 14">
            <a:extLst>
              <a:ext uri="{FF2B5EF4-FFF2-40B4-BE49-F238E27FC236}">
                <a16:creationId xmlns:a16="http://schemas.microsoft.com/office/drawing/2014/main" id="{5E490865-7E56-490C-A025-EFBA2ECFB3D5}"/>
              </a:ext>
            </a:extLst>
          </p:cNvPr>
          <p:cNvSpPr>
            <a:spLocks noGrp="1"/>
          </p:cNvSpPr>
          <p:nvPr/>
        </p:nvSpPr>
        <p:spPr>
          <a:xfrm>
            <a:off x="838200" y="28670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BasicDefinitions.lean</a:t>
            </a:r>
          </a:p>
        </p:txBody>
      </p:sp>
      <p:sp>
        <p:nvSpPr>
          <p:cNvPr id="16" name="Rectangle 15">
            <a:extLst>
              <a:ext uri="{FF2B5EF4-FFF2-40B4-BE49-F238E27FC236}">
                <a16:creationId xmlns:a16="http://schemas.microsoft.com/office/drawing/2014/main" id="{37D39221-B5AD-42B1-8181-77EF61EC37CD}"/>
              </a:ext>
            </a:extLst>
          </p:cNvPr>
          <p:cNvSpPr>
            <a:spLocks noGrp="1"/>
          </p:cNvSpPr>
          <p:nvPr/>
        </p:nvSpPr>
        <p:spPr>
          <a:xfrm>
            <a:off x="3898900" y="2705100"/>
            <a:ext cx="3175000" cy="609600"/>
          </a:xfrm>
          <a:prstGeom prst="rect">
            <a:avLst/>
          </a:prstGeom>
          <a:solidFill>
            <a:srgbClr val="EAF4F8"/>
          </a:solidFill>
          <a:ln w="19050">
            <a:solidFill>
              <a:srgbClr val="FFFFFF"/>
            </a:solidFill>
            <a:prstDash val="solid"/>
          </a:ln>
        </p:spPr>
        <p:txBody>
          <a:bodyPr/>
          <a:lstStyle/>
          <a:p>
            <a:endParaRPr lang="en-US"/>
          </a:p>
        </p:txBody>
      </p:sp>
      <p:sp>
        <p:nvSpPr>
          <p:cNvPr id="17" name="Rectangle 16">
            <a:extLst>
              <a:ext uri="{FF2B5EF4-FFF2-40B4-BE49-F238E27FC236}">
                <a16:creationId xmlns:a16="http://schemas.microsoft.com/office/drawing/2014/main" id="{1B51820E-DC95-437C-A575-2D19CEE4863C}"/>
              </a:ext>
            </a:extLst>
          </p:cNvPr>
          <p:cNvSpPr>
            <a:spLocks noGrp="1"/>
          </p:cNvSpPr>
          <p:nvPr/>
        </p:nvSpPr>
        <p:spPr>
          <a:xfrm>
            <a:off x="4013200" y="28670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learning vocabulary</a:t>
            </a:r>
          </a:p>
        </p:txBody>
      </p:sp>
      <p:sp>
        <p:nvSpPr>
          <p:cNvPr id="18" name="Rectangle 17">
            <a:extLst>
              <a:ext uri="{FF2B5EF4-FFF2-40B4-BE49-F238E27FC236}">
                <a16:creationId xmlns:a16="http://schemas.microsoft.com/office/drawing/2014/main" id="{E3CF69DA-6CE3-4C10-B9D0-5A0AD914B10D}"/>
              </a:ext>
            </a:extLst>
          </p:cNvPr>
          <p:cNvSpPr>
            <a:spLocks noGrp="1"/>
          </p:cNvSpPr>
          <p:nvPr/>
        </p:nvSpPr>
        <p:spPr>
          <a:xfrm>
            <a:off x="7073900" y="2705100"/>
            <a:ext cx="3175000" cy="609600"/>
          </a:xfrm>
          <a:prstGeom prst="rect">
            <a:avLst/>
          </a:prstGeom>
          <a:solidFill>
            <a:srgbClr val="EAF4F8"/>
          </a:solidFill>
          <a:ln w="19050">
            <a:solidFill>
              <a:srgbClr val="FFFFFF"/>
            </a:solidFill>
            <a:prstDash val="solid"/>
          </a:ln>
        </p:spPr>
        <p:txBody>
          <a:bodyPr/>
          <a:lstStyle/>
          <a:p>
            <a:endParaRPr lang="en-US"/>
          </a:p>
        </p:txBody>
      </p:sp>
      <p:sp>
        <p:nvSpPr>
          <p:cNvPr id="19" name="Rectangle 18">
            <a:extLst>
              <a:ext uri="{FF2B5EF4-FFF2-40B4-BE49-F238E27FC236}">
                <a16:creationId xmlns:a16="http://schemas.microsoft.com/office/drawing/2014/main" id="{ACE78890-E9DE-4005-BDBD-B1D93D7DAC1A}"/>
              </a:ext>
            </a:extLst>
          </p:cNvPr>
          <p:cNvSpPr>
            <a:spLocks noGrp="1"/>
          </p:cNvSpPr>
          <p:nvPr/>
        </p:nvSpPr>
        <p:spPr>
          <a:xfrm>
            <a:off x="7188200" y="28670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defined in Lean</a:t>
            </a:r>
          </a:p>
        </p:txBody>
      </p:sp>
      <p:sp>
        <p:nvSpPr>
          <p:cNvPr id="20" name="Rectangle 19">
            <a:extLst>
              <a:ext uri="{FF2B5EF4-FFF2-40B4-BE49-F238E27FC236}">
                <a16:creationId xmlns:a16="http://schemas.microsoft.com/office/drawing/2014/main" id="{253B4E85-8C9B-4E07-B138-165DD73E68C9}"/>
              </a:ext>
            </a:extLst>
          </p:cNvPr>
          <p:cNvSpPr>
            <a:spLocks noGrp="1"/>
          </p:cNvSpPr>
          <p:nvPr/>
        </p:nvSpPr>
        <p:spPr>
          <a:xfrm>
            <a:off x="723900" y="3314700"/>
            <a:ext cx="3175000" cy="609600"/>
          </a:xfrm>
          <a:prstGeom prst="rect">
            <a:avLst/>
          </a:prstGeom>
          <a:solidFill>
            <a:srgbClr val="FFFFFF"/>
          </a:solidFill>
          <a:ln w="19050">
            <a:solidFill>
              <a:srgbClr val="FFFFFF"/>
            </a:solidFill>
            <a:prstDash val="solid"/>
          </a:ln>
        </p:spPr>
        <p:txBody>
          <a:bodyPr/>
          <a:lstStyle/>
          <a:p>
            <a:endParaRPr lang="en-US"/>
          </a:p>
        </p:txBody>
      </p:sp>
      <p:sp>
        <p:nvSpPr>
          <p:cNvPr id="21" name="Rectangle 20">
            <a:extLst>
              <a:ext uri="{FF2B5EF4-FFF2-40B4-BE49-F238E27FC236}">
                <a16:creationId xmlns:a16="http://schemas.microsoft.com/office/drawing/2014/main" id="{4E3D9481-E8B7-4073-A444-FB5E5312C01C}"/>
              </a:ext>
            </a:extLst>
          </p:cNvPr>
          <p:cNvSpPr>
            <a:spLocks noGrp="1"/>
          </p:cNvSpPr>
          <p:nvPr/>
        </p:nvSpPr>
        <p:spPr>
          <a:xfrm>
            <a:off x="838200" y="34766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AssumedResults.lean</a:t>
            </a:r>
          </a:p>
        </p:txBody>
      </p:sp>
      <p:sp>
        <p:nvSpPr>
          <p:cNvPr id="22" name="Rectangle 21">
            <a:extLst>
              <a:ext uri="{FF2B5EF4-FFF2-40B4-BE49-F238E27FC236}">
                <a16:creationId xmlns:a16="http://schemas.microsoft.com/office/drawing/2014/main" id="{D913D42A-D287-4F3F-88EF-9CE1231B068D}"/>
              </a:ext>
            </a:extLst>
          </p:cNvPr>
          <p:cNvSpPr>
            <a:spLocks noGrp="1"/>
          </p:cNvSpPr>
          <p:nvPr/>
        </p:nvSpPr>
        <p:spPr>
          <a:xfrm>
            <a:off x="3898900" y="3314700"/>
            <a:ext cx="3175000" cy="609600"/>
          </a:xfrm>
          <a:prstGeom prst="rect">
            <a:avLst/>
          </a:prstGeom>
          <a:solidFill>
            <a:srgbClr val="FFFFFF"/>
          </a:solidFill>
          <a:ln w="19050">
            <a:solidFill>
              <a:srgbClr val="FFFFFF"/>
            </a:solidFill>
            <a:prstDash val="solid"/>
          </a:ln>
        </p:spPr>
        <p:txBody>
          <a:bodyPr/>
          <a:lstStyle/>
          <a:p>
            <a:endParaRPr lang="en-US"/>
          </a:p>
        </p:txBody>
      </p:sp>
      <p:sp>
        <p:nvSpPr>
          <p:cNvPr id="23" name="Rectangle 22">
            <a:extLst>
              <a:ext uri="{FF2B5EF4-FFF2-40B4-BE49-F238E27FC236}">
                <a16:creationId xmlns:a16="http://schemas.microsoft.com/office/drawing/2014/main" id="{8F2B981B-FEF8-4543-8637-E9CCEC009ADB}"/>
              </a:ext>
            </a:extLst>
          </p:cNvPr>
          <p:cNvSpPr>
            <a:spLocks noGrp="1"/>
          </p:cNvSpPr>
          <p:nvPr/>
        </p:nvSpPr>
        <p:spPr>
          <a:xfrm>
            <a:off x="4013200" y="34766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probability boundary</a:t>
            </a:r>
          </a:p>
        </p:txBody>
      </p:sp>
      <p:sp>
        <p:nvSpPr>
          <p:cNvPr id="24" name="Rectangle 23">
            <a:extLst>
              <a:ext uri="{FF2B5EF4-FFF2-40B4-BE49-F238E27FC236}">
                <a16:creationId xmlns:a16="http://schemas.microsoft.com/office/drawing/2014/main" id="{76C96BBE-8962-4DB8-83C3-B441F365EDC0}"/>
              </a:ext>
            </a:extLst>
          </p:cNvPr>
          <p:cNvSpPr>
            <a:spLocks noGrp="1"/>
          </p:cNvSpPr>
          <p:nvPr/>
        </p:nvSpPr>
        <p:spPr>
          <a:xfrm>
            <a:off x="7073900" y="3314700"/>
            <a:ext cx="3175000" cy="609600"/>
          </a:xfrm>
          <a:prstGeom prst="rect">
            <a:avLst/>
          </a:prstGeom>
          <a:solidFill>
            <a:srgbClr val="FFFFFF"/>
          </a:solidFill>
          <a:ln w="19050">
            <a:solidFill>
              <a:srgbClr val="FFFFFF"/>
            </a:solidFill>
            <a:prstDash val="solid"/>
          </a:ln>
        </p:spPr>
        <p:txBody>
          <a:bodyPr/>
          <a:lstStyle/>
          <a:p>
            <a:endParaRPr lang="en-US"/>
          </a:p>
        </p:txBody>
      </p:sp>
      <p:sp>
        <p:nvSpPr>
          <p:cNvPr id="25" name="Rectangle 24">
            <a:extLst>
              <a:ext uri="{FF2B5EF4-FFF2-40B4-BE49-F238E27FC236}">
                <a16:creationId xmlns:a16="http://schemas.microsoft.com/office/drawing/2014/main" id="{69D51C3F-4ED4-45C3-BA30-48B7C70DF826}"/>
              </a:ext>
            </a:extLst>
          </p:cNvPr>
          <p:cNvSpPr>
            <a:spLocks noGrp="1"/>
          </p:cNvSpPr>
          <p:nvPr/>
        </p:nvSpPr>
        <p:spPr>
          <a:xfrm>
            <a:off x="7188200" y="34766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axioms/assumptions</a:t>
            </a:r>
          </a:p>
        </p:txBody>
      </p:sp>
      <p:sp>
        <p:nvSpPr>
          <p:cNvPr id="26" name="Rectangle 25">
            <a:extLst>
              <a:ext uri="{FF2B5EF4-FFF2-40B4-BE49-F238E27FC236}">
                <a16:creationId xmlns:a16="http://schemas.microsoft.com/office/drawing/2014/main" id="{9691B5CC-C423-4B96-917B-CCF6E598D4E9}"/>
              </a:ext>
            </a:extLst>
          </p:cNvPr>
          <p:cNvSpPr>
            <a:spLocks noGrp="1"/>
          </p:cNvSpPr>
          <p:nvPr/>
        </p:nvSpPr>
        <p:spPr>
          <a:xfrm>
            <a:off x="723900" y="3924300"/>
            <a:ext cx="3175000" cy="609600"/>
          </a:xfrm>
          <a:prstGeom prst="rect">
            <a:avLst/>
          </a:prstGeom>
          <a:solidFill>
            <a:srgbClr val="EAF4F8"/>
          </a:solidFill>
          <a:ln w="19050">
            <a:solidFill>
              <a:srgbClr val="FFFFFF"/>
            </a:solidFill>
            <a:prstDash val="solid"/>
          </a:ln>
        </p:spPr>
        <p:txBody>
          <a:bodyPr/>
          <a:lstStyle/>
          <a:p>
            <a:endParaRPr lang="en-US"/>
          </a:p>
        </p:txBody>
      </p:sp>
      <p:sp>
        <p:nvSpPr>
          <p:cNvPr id="27" name="Rectangle 26">
            <a:extLst>
              <a:ext uri="{FF2B5EF4-FFF2-40B4-BE49-F238E27FC236}">
                <a16:creationId xmlns:a16="http://schemas.microsoft.com/office/drawing/2014/main" id="{D2F8E8E1-1957-4ECB-AA40-9F27AC62D713}"/>
              </a:ext>
            </a:extLst>
          </p:cNvPr>
          <p:cNvSpPr>
            <a:spLocks noGrp="1"/>
          </p:cNvSpPr>
          <p:nvPr/>
        </p:nvSpPr>
        <p:spPr>
          <a:xfrm>
            <a:off x="838200" y="40862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Realizable.lean</a:t>
            </a:r>
          </a:p>
        </p:txBody>
      </p:sp>
      <p:sp>
        <p:nvSpPr>
          <p:cNvPr id="28" name="Rectangle 27">
            <a:extLst>
              <a:ext uri="{FF2B5EF4-FFF2-40B4-BE49-F238E27FC236}">
                <a16:creationId xmlns:a16="http://schemas.microsoft.com/office/drawing/2014/main" id="{9791E264-4E19-4974-8AF2-BD06227670AE}"/>
              </a:ext>
            </a:extLst>
          </p:cNvPr>
          <p:cNvSpPr>
            <a:spLocks noGrp="1"/>
          </p:cNvSpPr>
          <p:nvPr/>
        </p:nvSpPr>
        <p:spPr>
          <a:xfrm>
            <a:off x="3898900" y="3924300"/>
            <a:ext cx="3175000" cy="609600"/>
          </a:xfrm>
          <a:prstGeom prst="rect">
            <a:avLst/>
          </a:prstGeom>
          <a:solidFill>
            <a:srgbClr val="EAF4F8"/>
          </a:solidFill>
          <a:ln w="19050">
            <a:solidFill>
              <a:srgbClr val="FFFFFF"/>
            </a:solidFill>
            <a:prstDash val="solid"/>
          </a:ln>
        </p:spPr>
        <p:txBody>
          <a:bodyPr/>
          <a:lstStyle/>
          <a:p>
            <a:endParaRPr lang="en-US"/>
          </a:p>
        </p:txBody>
      </p:sp>
      <p:sp>
        <p:nvSpPr>
          <p:cNvPr id="29" name="Rectangle 28">
            <a:extLst>
              <a:ext uri="{FF2B5EF4-FFF2-40B4-BE49-F238E27FC236}">
                <a16:creationId xmlns:a16="http://schemas.microsoft.com/office/drawing/2014/main" id="{18209A37-890B-4303-A01E-02EFF763A206}"/>
              </a:ext>
            </a:extLst>
          </p:cNvPr>
          <p:cNvSpPr>
            <a:spLocks noGrp="1"/>
          </p:cNvSpPr>
          <p:nvPr/>
        </p:nvSpPr>
        <p:spPr>
          <a:xfrm>
            <a:off x="4013200" y="40862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realizable wrapper theorem</a:t>
            </a:r>
          </a:p>
        </p:txBody>
      </p:sp>
      <p:sp>
        <p:nvSpPr>
          <p:cNvPr id="30" name="Rectangle 29">
            <a:extLst>
              <a:ext uri="{FF2B5EF4-FFF2-40B4-BE49-F238E27FC236}">
                <a16:creationId xmlns:a16="http://schemas.microsoft.com/office/drawing/2014/main" id="{E5DEA185-1B77-48D5-85A8-631861B97CE8}"/>
              </a:ext>
            </a:extLst>
          </p:cNvPr>
          <p:cNvSpPr>
            <a:spLocks noGrp="1"/>
          </p:cNvSpPr>
          <p:nvPr/>
        </p:nvSpPr>
        <p:spPr>
          <a:xfrm>
            <a:off x="7073900" y="3924300"/>
            <a:ext cx="3175000" cy="609600"/>
          </a:xfrm>
          <a:prstGeom prst="rect">
            <a:avLst/>
          </a:prstGeom>
          <a:solidFill>
            <a:srgbClr val="EAF4F8"/>
          </a:solidFill>
          <a:ln w="19050">
            <a:solidFill>
              <a:srgbClr val="FFFFFF"/>
            </a:solidFill>
            <a:prstDash val="solid"/>
          </a:ln>
        </p:spPr>
        <p:txBody>
          <a:bodyPr/>
          <a:lstStyle/>
          <a:p>
            <a:endParaRPr lang="en-US"/>
          </a:p>
        </p:txBody>
      </p:sp>
      <p:sp>
        <p:nvSpPr>
          <p:cNvPr id="31" name="Rectangle 30">
            <a:extLst>
              <a:ext uri="{FF2B5EF4-FFF2-40B4-BE49-F238E27FC236}">
                <a16:creationId xmlns:a16="http://schemas.microsoft.com/office/drawing/2014/main" id="{84F5F38B-8A09-4C6B-8C1D-9D9C0E811E5D}"/>
              </a:ext>
            </a:extLst>
          </p:cNvPr>
          <p:cNvSpPr>
            <a:spLocks noGrp="1"/>
          </p:cNvSpPr>
          <p:nvPr/>
        </p:nvSpPr>
        <p:spPr>
          <a:xfrm>
            <a:off x="7188200" y="40862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uses assumption</a:t>
            </a:r>
          </a:p>
        </p:txBody>
      </p:sp>
      <p:sp>
        <p:nvSpPr>
          <p:cNvPr id="32" name="Rectangle 31">
            <a:extLst>
              <a:ext uri="{FF2B5EF4-FFF2-40B4-BE49-F238E27FC236}">
                <a16:creationId xmlns:a16="http://schemas.microsoft.com/office/drawing/2014/main" id="{28E4E16B-59F7-4BD0-8E1A-62B80003DC2B}"/>
              </a:ext>
            </a:extLst>
          </p:cNvPr>
          <p:cNvSpPr>
            <a:spLocks noGrp="1"/>
          </p:cNvSpPr>
          <p:nvPr/>
        </p:nvSpPr>
        <p:spPr>
          <a:xfrm>
            <a:off x="723900" y="4533900"/>
            <a:ext cx="3175000" cy="609600"/>
          </a:xfrm>
          <a:prstGeom prst="rect">
            <a:avLst/>
          </a:prstGeom>
          <a:solidFill>
            <a:srgbClr val="FFFFFF"/>
          </a:solidFill>
          <a:ln w="19050">
            <a:solidFill>
              <a:srgbClr val="FFFFFF"/>
            </a:solidFill>
            <a:prstDash val="solid"/>
          </a:ln>
        </p:spPr>
        <p:txBody>
          <a:bodyPr/>
          <a:lstStyle/>
          <a:p>
            <a:endParaRPr lang="en-US"/>
          </a:p>
        </p:txBody>
      </p:sp>
      <p:sp>
        <p:nvSpPr>
          <p:cNvPr id="33" name="Rectangle 32">
            <a:extLst>
              <a:ext uri="{FF2B5EF4-FFF2-40B4-BE49-F238E27FC236}">
                <a16:creationId xmlns:a16="http://schemas.microsoft.com/office/drawing/2014/main" id="{2E17C1C0-CBE5-4AD6-8CA0-41E6948D1B84}"/>
              </a:ext>
            </a:extLst>
          </p:cNvPr>
          <p:cNvSpPr>
            <a:spLocks noGrp="1"/>
          </p:cNvSpPr>
          <p:nvPr/>
        </p:nvSpPr>
        <p:spPr>
          <a:xfrm>
            <a:off x="838200" y="46958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8202A"/>
                </a:solidFill>
                <a:latin typeface="Aptos"/>
                <a:ea typeface="Aptos"/>
                <a:cs typeface="Aptos"/>
              </a:defRPr>
            </a:pPr>
            <a:r>
              <a:rPr sz="1125" b="1">
                <a:solidFill>
                  <a:srgbClr val="18202A"/>
                </a:solidFill>
                <a:latin typeface="Aptos"/>
                <a:ea typeface="Aptos"/>
                <a:cs typeface="Aptos"/>
              </a:rPr>
              <a:t>Agnostic.lean</a:t>
            </a:r>
          </a:p>
        </p:txBody>
      </p:sp>
      <p:sp>
        <p:nvSpPr>
          <p:cNvPr id="34" name="Rectangle 33">
            <a:extLst>
              <a:ext uri="{FF2B5EF4-FFF2-40B4-BE49-F238E27FC236}">
                <a16:creationId xmlns:a16="http://schemas.microsoft.com/office/drawing/2014/main" id="{C94CF313-5D4D-48A4-B333-C351D5421071}"/>
              </a:ext>
            </a:extLst>
          </p:cNvPr>
          <p:cNvSpPr>
            <a:spLocks noGrp="1"/>
          </p:cNvSpPr>
          <p:nvPr/>
        </p:nvSpPr>
        <p:spPr>
          <a:xfrm>
            <a:off x="3898900" y="4533900"/>
            <a:ext cx="3175000" cy="609600"/>
          </a:xfrm>
          <a:prstGeom prst="rect">
            <a:avLst/>
          </a:prstGeom>
          <a:solidFill>
            <a:srgbClr val="FFFFFF"/>
          </a:solidFill>
          <a:ln w="19050">
            <a:solidFill>
              <a:srgbClr val="FFFFFF"/>
            </a:solidFill>
            <a:prstDash val="solid"/>
          </a:ln>
        </p:spPr>
        <p:txBody>
          <a:bodyPr/>
          <a:lstStyle/>
          <a:p>
            <a:endParaRPr lang="en-US"/>
          </a:p>
        </p:txBody>
      </p:sp>
      <p:sp>
        <p:nvSpPr>
          <p:cNvPr id="35" name="Rectangle 34">
            <a:extLst>
              <a:ext uri="{FF2B5EF4-FFF2-40B4-BE49-F238E27FC236}">
                <a16:creationId xmlns:a16="http://schemas.microsoft.com/office/drawing/2014/main" id="{223BDAF3-4EBA-4CCB-839A-819CB667DBD6}"/>
              </a:ext>
            </a:extLst>
          </p:cNvPr>
          <p:cNvSpPr>
            <a:spLocks noGrp="1"/>
          </p:cNvSpPr>
          <p:nvPr/>
        </p:nvSpPr>
        <p:spPr>
          <a:xfrm>
            <a:off x="4013200" y="46958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deterministic ERM theorem</a:t>
            </a:r>
          </a:p>
        </p:txBody>
      </p:sp>
      <p:sp>
        <p:nvSpPr>
          <p:cNvPr id="36" name="Rectangle 35">
            <a:extLst>
              <a:ext uri="{FF2B5EF4-FFF2-40B4-BE49-F238E27FC236}">
                <a16:creationId xmlns:a16="http://schemas.microsoft.com/office/drawing/2014/main" id="{874A717D-962D-401A-9807-CE2E68D8343D}"/>
              </a:ext>
            </a:extLst>
          </p:cNvPr>
          <p:cNvSpPr>
            <a:spLocks noGrp="1"/>
          </p:cNvSpPr>
          <p:nvPr/>
        </p:nvSpPr>
        <p:spPr>
          <a:xfrm>
            <a:off x="7073900" y="4533900"/>
            <a:ext cx="3175000" cy="609600"/>
          </a:xfrm>
          <a:prstGeom prst="rect">
            <a:avLst/>
          </a:prstGeom>
          <a:solidFill>
            <a:srgbClr val="FFFFFF"/>
          </a:solidFill>
          <a:ln w="19050">
            <a:solidFill>
              <a:srgbClr val="FFFFFF"/>
            </a:solidFill>
            <a:prstDash val="solid"/>
          </a:ln>
        </p:spPr>
        <p:txBody>
          <a:bodyPr/>
          <a:lstStyle/>
          <a:p>
            <a:endParaRPr lang="en-US"/>
          </a:p>
        </p:txBody>
      </p:sp>
      <p:sp>
        <p:nvSpPr>
          <p:cNvPr id="37" name="Rectangle 36">
            <a:extLst>
              <a:ext uri="{FF2B5EF4-FFF2-40B4-BE49-F238E27FC236}">
                <a16:creationId xmlns:a16="http://schemas.microsoft.com/office/drawing/2014/main" id="{7E8B5B2C-A35C-4334-BCBB-A9625B9E2360}"/>
              </a:ext>
            </a:extLst>
          </p:cNvPr>
          <p:cNvSpPr>
            <a:spLocks noGrp="1"/>
          </p:cNvSpPr>
          <p:nvPr/>
        </p:nvSpPr>
        <p:spPr>
          <a:xfrm>
            <a:off x="7188200" y="4695825"/>
            <a:ext cx="2946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8202A"/>
                </a:solidFill>
                <a:latin typeface="Aptos"/>
                <a:ea typeface="Aptos"/>
                <a:cs typeface="Aptos"/>
              </a:defRPr>
            </a:pPr>
            <a:r>
              <a:rPr sz="1125" b="0">
                <a:solidFill>
                  <a:srgbClr val="18202A"/>
                </a:solidFill>
                <a:latin typeface="Aptos"/>
                <a:ea typeface="Aptos"/>
                <a:cs typeface="Aptos"/>
              </a:rPr>
              <a:t>fully proved</a:t>
            </a:r>
          </a:p>
        </p:txBody>
      </p:sp>
    </p:spTree>
    <p:extLst>
      <p:ext uri="{BB962C8B-B14F-4D97-AF65-F5344CB8AC3E}">
        <p14:creationId xmlns:p14="http://schemas.microsoft.com/office/powerpoint/2010/main" val="2075674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87FE1D-2A2F-49E5-94FD-1B6DAA581BE4}"/>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85BC61F-44CC-42F8-A478-24DBC94FA248}"/>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0203A48C-77F9-417E-8208-7732192545A2}"/>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DEFINITIONS</a:t>
            </a:r>
          </a:p>
        </p:txBody>
      </p:sp>
      <p:sp>
        <p:nvSpPr>
          <p:cNvPr id="4" name="Rectangle 3">
            <a:extLst>
              <a:ext uri="{FF2B5EF4-FFF2-40B4-BE49-F238E27FC236}">
                <a16:creationId xmlns:a16="http://schemas.microsoft.com/office/drawing/2014/main" id="{901A7B7B-DA17-45D4-9F11-E98B81F26B72}"/>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Lean forces informal objects to become explicit definitions.</a:t>
            </a:r>
          </a:p>
        </p:txBody>
      </p:sp>
      <p:sp>
        <p:nvSpPr>
          <p:cNvPr id="5" name="Rectangle 4">
            <a:extLst>
              <a:ext uri="{FF2B5EF4-FFF2-40B4-BE49-F238E27FC236}">
                <a16:creationId xmlns:a16="http://schemas.microsoft.com/office/drawing/2014/main" id="{908A78FC-97BC-4967-B0A0-B7688F814E6D}"/>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3252842A-1865-47F3-A749-1242108644FD}"/>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8974979C-9009-49C0-BB97-83A4C2915D0E}"/>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31</a:t>
            </a:r>
          </a:p>
        </p:txBody>
      </p:sp>
      <p:sp>
        <p:nvSpPr>
          <p:cNvPr id="8" name="Rectangle 7">
            <a:extLst>
              <a:ext uri="{FF2B5EF4-FFF2-40B4-BE49-F238E27FC236}">
                <a16:creationId xmlns:a16="http://schemas.microsoft.com/office/drawing/2014/main" id="{81262F56-5F19-47ED-B90E-8C554FB58F5E}"/>
              </a:ext>
            </a:extLst>
          </p:cNvPr>
          <p:cNvSpPr>
            <a:spLocks noGrp="1"/>
          </p:cNvSpPr>
          <p:nvPr/>
        </p:nvSpPr>
        <p:spPr>
          <a:xfrm>
            <a:off x="1028700" y="2171700"/>
            <a:ext cx="8191500" cy="1809750"/>
          </a:xfrm>
          <a:prstGeom prst="rect">
            <a:avLst/>
          </a:prstGeom>
          <a:solidFill>
            <a:srgbClr val="17202B"/>
          </a:solidFill>
          <a:ln w="9525">
            <a:solidFill>
              <a:srgbClr val="263241"/>
            </a:solidFill>
            <a:prstDash val="solid"/>
          </a:ln>
        </p:spPr>
        <p:txBody>
          <a:bodyPr/>
          <a:lstStyle/>
          <a:p>
            <a:endParaRPr lang="en-US"/>
          </a:p>
        </p:txBody>
      </p:sp>
      <p:sp>
        <p:nvSpPr>
          <p:cNvPr id="9" name="Rectangle 8">
            <a:extLst>
              <a:ext uri="{FF2B5EF4-FFF2-40B4-BE49-F238E27FC236}">
                <a16:creationId xmlns:a16="http://schemas.microsoft.com/office/drawing/2014/main" id="{C70B5FD0-9E2B-4AAD-91C4-237815BDAAA9}"/>
              </a:ext>
            </a:extLst>
          </p:cNvPr>
          <p:cNvSpPr>
            <a:spLocks noGrp="1"/>
          </p:cNvSpPr>
          <p:nvPr/>
        </p:nvSpPr>
        <p:spPr>
          <a:xfrm>
            <a:off x="1219200" y="2343150"/>
            <a:ext cx="7810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LearningProblem:</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trueRisk : Hypothesis → Risk</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empiricalRisk : Hypothesis → Risk</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classMember : Hypothesis → Prop</a:t>
            </a:r>
          </a:p>
          <a:p>
            <a:endParaRPr sz="1500" b="0">
              <a:solidFill>
                <a:srgbClr val="F6F4EE"/>
              </a:solidFill>
              <a:latin typeface="Aptos Mono"/>
              <a:ea typeface="Aptos Mono"/>
              <a:cs typeface="Aptos Mono"/>
            </a:endParaRP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UniformConvergence P ε:</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 h, two directed inequalities</a:t>
            </a:r>
          </a:p>
        </p:txBody>
      </p:sp>
      <p:sp>
        <p:nvSpPr>
          <p:cNvPr id="10" name="Rectangle 9">
            <a:extLst>
              <a:ext uri="{FF2B5EF4-FFF2-40B4-BE49-F238E27FC236}">
                <a16:creationId xmlns:a16="http://schemas.microsoft.com/office/drawing/2014/main" id="{EB1F0FA2-8120-41D8-B584-4B60BC0B3F0E}"/>
              </a:ext>
            </a:extLst>
          </p:cNvPr>
          <p:cNvSpPr>
            <a:spLocks noGrp="1"/>
          </p:cNvSpPr>
          <p:nvPr/>
        </p:nvSpPr>
        <p:spPr>
          <a:xfrm>
            <a:off x="1104900" y="4362450"/>
            <a:ext cx="857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The proof uses abstract Nat-valued risks to focus on proof structure.</a:t>
            </a:r>
          </a:p>
        </p:txBody>
      </p:sp>
    </p:spTree>
    <p:extLst>
      <p:ext uri="{BB962C8B-B14F-4D97-AF65-F5344CB8AC3E}">
        <p14:creationId xmlns:p14="http://schemas.microsoft.com/office/powerpoint/2010/main" val="890540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5B9F5A1-C8F2-4276-9671-37756C47A146}"/>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461AC7B9-42C7-40BD-BB43-248F12D8D9E2}"/>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B636A3E7-1CF1-4225-816D-06074F04028D}"/>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ASSUMPTIONS</a:t>
            </a:r>
          </a:p>
        </p:txBody>
      </p:sp>
      <p:sp>
        <p:nvSpPr>
          <p:cNvPr id="4" name="Rectangle 3">
            <a:extLst>
              <a:ext uri="{FF2B5EF4-FFF2-40B4-BE49-F238E27FC236}">
                <a16:creationId xmlns:a16="http://schemas.microsoft.com/office/drawing/2014/main" id="{C1232C6D-FEE8-4128-A34B-C23338820D2F}"/>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Probability-heavy results are isolated instead of hidden.</a:t>
            </a:r>
          </a:p>
        </p:txBody>
      </p:sp>
      <p:sp>
        <p:nvSpPr>
          <p:cNvPr id="5" name="Rectangle 4">
            <a:extLst>
              <a:ext uri="{FF2B5EF4-FFF2-40B4-BE49-F238E27FC236}">
                <a16:creationId xmlns:a16="http://schemas.microsoft.com/office/drawing/2014/main" id="{E2882EF5-9D80-4270-AD93-B32C503F0EB0}"/>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6F33289C-005A-4906-8CB1-305229BC9F0F}"/>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ED9E9D2A-D0FC-4191-881D-9789B455E39E}"/>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32</a:t>
            </a:r>
          </a:p>
        </p:txBody>
      </p:sp>
      <p:sp>
        <p:nvSpPr>
          <p:cNvPr id="8" name="Rectangle 7">
            <a:extLst>
              <a:ext uri="{FF2B5EF4-FFF2-40B4-BE49-F238E27FC236}">
                <a16:creationId xmlns:a16="http://schemas.microsoft.com/office/drawing/2014/main" id="{A62DC81A-8EEE-4361-B6A9-DE83B347A60F}"/>
              </a:ext>
            </a:extLst>
          </p:cNvPr>
          <p:cNvSpPr>
            <a:spLocks noGrp="1"/>
          </p:cNvSpPr>
          <p:nvPr/>
        </p:nvSpPr>
        <p:spPr>
          <a:xfrm>
            <a:off x="876300" y="2190750"/>
            <a:ext cx="4191000" cy="2552700"/>
          </a:xfrm>
          <a:prstGeom prst="rect">
            <a:avLst/>
          </a:prstGeom>
          <a:solidFill>
            <a:srgbClr val="EDF7F0"/>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CBE1A9CE-B72C-47FE-8B49-D7710E912A17}"/>
              </a:ext>
            </a:extLst>
          </p:cNvPr>
          <p:cNvSpPr>
            <a:spLocks noGrp="1"/>
          </p:cNvSpPr>
          <p:nvPr/>
        </p:nvSpPr>
        <p:spPr>
          <a:xfrm>
            <a:off x="1085850" y="2362200"/>
            <a:ext cx="3771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F7D57"/>
                </a:solidFill>
                <a:latin typeface="Aptos"/>
                <a:ea typeface="Aptos"/>
                <a:cs typeface="Aptos"/>
              </a:defRPr>
            </a:pPr>
            <a:r>
              <a:rPr sz="1275" b="1">
                <a:solidFill>
                  <a:srgbClr val="2F7D57"/>
                </a:solidFill>
                <a:latin typeface="Aptos"/>
                <a:ea typeface="Aptos"/>
                <a:cs typeface="Aptos"/>
              </a:rPr>
              <a:t>Fully proved</a:t>
            </a:r>
          </a:p>
        </p:txBody>
      </p:sp>
      <p:sp>
        <p:nvSpPr>
          <p:cNvPr id="10" name="Rectangle 9">
            <a:extLst>
              <a:ext uri="{FF2B5EF4-FFF2-40B4-BE49-F238E27FC236}">
                <a16:creationId xmlns:a16="http://schemas.microsoft.com/office/drawing/2014/main" id="{EC735916-E68F-45A3-A8DC-0EB396A6A832}"/>
              </a:ext>
            </a:extLst>
          </p:cNvPr>
          <p:cNvSpPr>
            <a:spLocks noGrp="1"/>
          </p:cNvSpPr>
          <p:nvPr/>
        </p:nvSpPr>
        <p:spPr>
          <a:xfrm>
            <a:off x="1085850" y="2724150"/>
            <a:ext cx="3771900" cy="1828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Aptos"/>
                <a:ea typeface="Aptos"/>
                <a:cs typeface="Aptos"/>
              </a:defRPr>
            </a:pPr>
            <a:r>
              <a:rPr sz="1425" b="0">
                <a:solidFill>
                  <a:srgbClr val="18202A"/>
                </a:solidFill>
                <a:latin typeface="Aptos"/>
                <a:ea typeface="Aptos"/>
                <a:cs typeface="Aptos"/>
              </a:rPr>
              <a:t>Helper lemmas.</a:t>
            </a:r>
          </a:p>
          <a:p>
            <a:pPr algn="l">
              <a:defRPr sz="1425" b="0">
                <a:solidFill>
                  <a:srgbClr val="18202A"/>
                </a:solidFill>
                <a:latin typeface="Aptos"/>
                <a:ea typeface="Aptos"/>
                <a:cs typeface="Aptos"/>
              </a:defRPr>
            </a:pPr>
            <a:r>
              <a:rPr sz="1425" b="0">
                <a:solidFill>
                  <a:srgbClr val="18202A"/>
                </a:solidFill>
                <a:latin typeface="Aptos"/>
                <a:ea typeface="Aptos"/>
                <a:cs typeface="Aptos"/>
              </a:rPr>
              <a:t>Deterministic agnostic ERM theorem.</a:t>
            </a:r>
          </a:p>
          <a:p>
            <a:pPr algn="l">
              <a:defRPr sz="1425" b="0">
                <a:solidFill>
                  <a:srgbClr val="18202A"/>
                </a:solidFill>
                <a:latin typeface="Aptos"/>
                <a:ea typeface="Aptos"/>
                <a:cs typeface="Aptos"/>
              </a:defRPr>
            </a:pPr>
            <a:r>
              <a:rPr sz="1425" b="0">
                <a:solidFill>
                  <a:srgbClr val="18202A"/>
                </a:solidFill>
                <a:latin typeface="Aptos"/>
                <a:ea typeface="Aptos"/>
                <a:cs typeface="Aptos"/>
              </a:rPr>
              <a:t>Wrappers from assumptions to conclusions.</a:t>
            </a:r>
          </a:p>
        </p:txBody>
      </p:sp>
      <p:sp>
        <p:nvSpPr>
          <p:cNvPr id="11" name="Rectangle 10">
            <a:extLst>
              <a:ext uri="{FF2B5EF4-FFF2-40B4-BE49-F238E27FC236}">
                <a16:creationId xmlns:a16="http://schemas.microsoft.com/office/drawing/2014/main" id="{903A496A-2271-4CC1-86DC-EEEBD79DB6D8}"/>
              </a:ext>
            </a:extLst>
          </p:cNvPr>
          <p:cNvSpPr>
            <a:spLocks noGrp="1"/>
          </p:cNvSpPr>
          <p:nvPr/>
        </p:nvSpPr>
        <p:spPr>
          <a:xfrm>
            <a:off x="5829300" y="2190750"/>
            <a:ext cx="4191000" cy="2552700"/>
          </a:xfrm>
          <a:prstGeom prst="rect">
            <a:avLst/>
          </a:prstGeom>
          <a:solidFill>
            <a:srgbClr val="EAF4F8"/>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E93CF4DF-A07C-4312-9DA4-E217F0F75207}"/>
              </a:ext>
            </a:extLst>
          </p:cNvPr>
          <p:cNvSpPr>
            <a:spLocks noGrp="1"/>
          </p:cNvSpPr>
          <p:nvPr/>
        </p:nvSpPr>
        <p:spPr>
          <a:xfrm>
            <a:off x="6038850" y="2362200"/>
            <a:ext cx="3771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Assumed/scoped out</a:t>
            </a:r>
          </a:p>
        </p:txBody>
      </p:sp>
      <p:sp>
        <p:nvSpPr>
          <p:cNvPr id="13" name="Rectangle 12">
            <a:extLst>
              <a:ext uri="{FF2B5EF4-FFF2-40B4-BE49-F238E27FC236}">
                <a16:creationId xmlns:a16="http://schemas.microsoft.com/office/drawing/2014/main" id="{C8427E3B-25AE-4F09-A7CA-3A8DFF7A2EC7}"/>
              </a:ext>
            </a:extLst>
          </p:cNvPr>
          <p:cNvSpPr>
            <a:spLocks noGrp="1"/>
          </p:cNvSpPr>
          <p:nvPr/>
        </p:nvSpPr>
        <p:spPr>
          <a:xfrm>
            <a:off x="6038850" y="2724150"/>
            <a:ext cx="3771900" cy="1828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8202A"/>
                </a:solidFill>
                <a:latin typeface="Aptos"/>
                <a:ea typeface="Aptos"/>
                <a:cs typeface="Aptos"/>
              </a:defRPr>
            </a:pPr>
            <a:r>
              <a:rPr sz="1425" b="0">
                <a:solidFill>
                  <a:srgbClr val="18202A"/>
                </a:solidFill>
                <a:latin typeface="Aptos"/>
                <a:ea typeface="Aptos"/>
                <a:cs typeface="Aptos"/>
              </a:rPr>
              <a:t>Hoeffding-style concentration.</a:t>
            </a:r>
          </a:p>
          <a:p>
            <a:pPr algn="l">
              <a:defRPr sz="1425" b="0">
                <a:solidFill>
                  <a:srgbClr val="18202A"/>
                </a:solidFill>
                <a:latin typeface="Aptos"/>
                <a:ea typeface="Aptos"/>
                <a:cs typeface="Aptos"/>
              </a:defRPr>
            </a:pPr>
            <a:r>
              <a:rPr sz="1425" b="0">
                <a:solidFill>
                  <a:srgbClr val="18202A"/>
                </a:solidFill>
                <a:latin typeface="Aptos"/>
                <a:ea typeface="Aptos"/>
                <a:cs typeface="Aptos"/>
              </a:rPr>
              <a:t>Measure-theoretic probability.</a:t>
            </a:r>
          </a:p>
          <a:p>
            <a:pPr algn="l">
              <a:defRPr sz="1425" b="0">
                <a:solidFill>
                  <a:srgbClr val="18202A"/>
                </a:solidFill>
                <a:latin typeface="Aptos"/>
                <a:ea typeface="Aptos"/>
                <a:cs typeface="Aptos"/>
              </a:defRPr>
            </a:pPr>
            <a:r>
              <a:rPr sz="1425" b="0">
                <a:solidFill>
                  <a:srgbClr val="18202A"/>
                </a:solidFill>
                <a:latin typeface="Aptos"/>
                <a:ea typeface="Aptos"/>
                <a:cs typeface="Aptos"/>
              </a:rPr>
              <a:t>Exact real-valued sample complexity proof.</a:t>
            </a:r>
          </a:p>
        </p:txBody>
      </p:sp>
    </p:spTree>
    <p:extLst>
      <p:ext uri="{BB962C8B-B14F-4D97-AF65-F5344CB8AC3E}">
        <p14:creationId xmlns:p14="http://schemas.microsoft.com/office/powerpoint/2010/main" val="1068057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D36B2F9-1318-498A-A729-2CB6D35FD56A}"/>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D022FBC-5653-4C51-9736-EA6A69B28DF7}"/>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390DC08E-11F6-40C3-A7C4-1D3204272E0B}"/>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UNDERSTANDING LAYER</a:t>
            </a:r>
          </a:p>
        </p:txBody>
      </p:sp>
      <p:sp>
        <p:nvSpPr>
          <p:cNvPr id="4" name="Rectangle 3">
            <a:extLst>
              <a:ext uri="{FF2B5EF4-FFF2-40B4-BE49-F238E27FC236}">
                <a16:creationId xmlns:a16="http://schemas.microsoft.com/office/drawing/2014/main" id="{45686DAF-1F02-47DA-8994-867EA8F1C7FC}"/>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The presentation artifacts explain what Lean verifies.</a:t>
            </a:r>
          </a:p>
        </p:txBody>
      </p:sp>
      <p:sp>
        <p:nvSpPr>
          <p:cNvPr id="5" name="Rectangle 4">
            <a:extLst>
              <a:ext uri="{FF2B5EF4-FFF2-40B4-BE49-F238E27FC236}">
                <a16:creationId xmlns:a16="http://schemas.microsoft.com/office/drawing/2014/main" id="{055D8AFD-F129-42D9-BAAC-2ABEC91AEB5F}"/>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BF4316F7-CB02-44CB-8FAC-05D3471D44B8}"/>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20F36AE7-128C-41A0-BBF3-497340B32C05}"/>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33</a:t>
            </a:r>
          </a:p>
        </p:txBody>
      </p:sp>
      <p:sp>
        <p:nvSpPr>
          <p:cNvPr id="8" name="Rectangle 7">
            <a:extLst>
              <a:ext uri="{FF2B5EF4-FFF2-40B4-BE49-F238E27FC236}">
                <a16:creationId xmlns:a16="http://schemas.microsoft.com/office/drawing/2014/main" id="{7E4DE617-71C6-487D-9B5B-0B6D8ABA304C}"/>
              </a:ext>
            </a:extLst>
          </p:cNvPr>
          <p:cNvSpPr>
            <a:spLocks noGrp="1"/>
          </p:cNvSpPr>
          <p:nvPr/>
        </p:nvSpPr>
        <p:spPr>
          <a:xfrm>
            <a:off x="781050" y="2247900"/>
            <a:ext cx="2857500" cy="2095500"/>
          </a:xfrm>
          <a:prstGeom prst="rect">
            <a:avLst/>
          </a:prstGeom>
          <a:solidFill>
            <a:srgbClr val="EAF4F8"/>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A48C90D4-A2C4-44B8-8DD4-81E63521AE78}"/>
              </a:ext>
            </a:extLst>
          </p:cNvPr>
          <p:cNvSpPr>
            <a:spLocks noGrp="1"/>
          </p:cNvSpPr>
          <p:nvPr/>
        </p:nvSpPr>
        <p:spPr>
          <a:xfrm>
            <a:off x="9906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Annotated proof walkthrough</a:t>
            </a:r>
          </a:p>
        </p:txBody>
      </p:sp>
      <p:sp>
        <p:nvSpPr>
          <p:cNvPr id="10" name="Rectangle 9">
            <a:extLst>
              <a:ext uri="{FF2B5EF4-FFF2-40B4-BE49-F238E27FC236}">
                <a16:creationId xmlns:a16="http://schemas.microsoft.com/office/drawing/2014/main" id="{C14052FF-34B2-40E7-93C8-AA7748ABDEAF}"/>
              </a:ext>
            </a:extLst>
          </p:cNvPr>
          <p:cNvSpPr>
            <a:spLocks noGrp="1"/>
          </p:cNvSpPr>
          <p:nvPr/>
        </p:nvSpPr>
        <p:spPr>
          <a:xfrm>
            <a:off x="9906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Lean line next to human explanation.</a:t>
            </a:r>
          </a:p>
        </p:txBody>
      </p:sp>
      <p:sp>
        <p:nvSpPr>
          <p:cNvPr id="11" name="Rectangle 10">
            <a:extLst>
              <a:ext uri="{FF2B5EF4-FFF2-40B4-BE49-F238E27FC236}">
                <a16:creationId xmlns:a16="http://schemas.microsoft.com/office/drawing/2014/main" id="{42806FF8-4367-4FEE-AC80-F7A3E3581391}"/>
              </a:ext>
            </a:extLst>
          </p:cNvPr>
          <p:cNvSpPr>
            <a:spLocks noGrp="1"/>
          </p:cNvSpPr>
          <p:nvPr/>
        </p:nvSpPr>
        <p:spPr>
          <a:xfrm>
            <a:off x="4114800" y="2247900"/>
            <a:ext cx="2857500" cy="2095500"/>
          </a:xfrm>
          <a:prstGeom prst="rect">
            <a:avLst/>
          </a:prstGeom>
          <a:solidFill>
            <a:srgbClr val="EDF7F0"/>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FC004DDC-46B8-4E64-9326-1A3D9A1637FE}"/>
              </a:ext>
            </a:extLst>
          </p:cNvPr>
          <p:cNvSpPr>
            <a:spLocks noGrp="1"/>
          </p:cNvSpPr>
          <p:nvPr/>
        </p:nvSpPr>
        <p:spPr>
          <a:xfrm>
            <a:off x="432435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F7D57"/>
                </a:solidFill>
                <a:latin typeface="Aptos"/>
                <a:ea typeface="Aptos"/>
                <a:cs typeface="Aptos"/>
              </a:defRPr>
            </a:pPr>
            <a:r>
              <a:rPr sz="1275" b="1">
                <a:solidFill>
                  <a:srgbClr val="2F7D57"/>
                </a:solidFill>
                <a:latin typeface="Aptos"/>
                <a:ea typeface="Aptos"/>
                <a:cs typeface="Aptos"/>
              </a:rPr>
              <a:t>Paper vs Lean table</a:t>
            </a:r>
          </a:p>
        </p:txBody>
      </p:sp>
      <p:sp>
        <p:nvSpPr>
          <p:cNvPr id="13" name="Rectangle 12">
            <a:extLst>
              <a:ext uri="{FF2B5EF4-FFF2-40B4-BE49-F238E27FC236}">
                <a16:creationId xmlns:a16="http://schemas.microsoft.com/office/drawing/2014/main" id="{02D656B6-070B-4FAC-AC3B-FCE267104650}"/>
              </a:ext>
            </a:extLst>
          </p:cNvPr>
          <p:cNvSpPr>
            <a:spLocks noGrp="1"/>
          </p:cNvSpPr>
          <p:nvPr/>
        </p:nvSpPr>
        <p:spPr>
          <a:xfrm>
            <a:off x="432435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Hidden assumptions become explicit.</a:t>
            </a:r>
          </a:p>
        </p:txBody>
      </p:sp>
      <p:sp>
        <p:nvSpPr>
          <p:cNvPr id="14" name="Rectangle 13">
            <a:extLst>
              <a:ext uri="{FF2B5EF4-FFF2-40B4-BE49-F238E27FC236}">
                <a16:creationId xmlns:a16="http://schemas.microsoft.com/office/drawing/2014/main" id="{27A68542-6FED-42B7-AE9E-DB5CF6B366B0}"/>
              </a:ext>
            </a:extLst>
          </p:cNvPr>
          <p:cNvSpPr>
            <a:spLocks noGrp="1"/>
          </p:cNvSpPr>
          <p:nvPr/>
        </p:nvSpPr>
        <p:spPr>
          <a:xfrm>
            <a:off x="7448550" y="2247900"/>
            <a:ext cx="2857500" cy="2095500"/>
          </a:xfrm>
          <a:prstGeom prst="rect">
            <a:avLst/>
          </a:prstGeom>
          <a:solidFill>
            <a:srgbClr val="FFF6DF"/>
          </a:solidFill>
          <a:ln w="9525">
            <a:solidFill>
              <a:srgbClr val="D8D2C8"/>
            </a:solidFill>
            <a:prstDash val="solid"/>
          </a:ln>
        </p:spPr>
        <p:txBody>
          <a:bodyPr/>
          <a:lstStyle/>
          <a:p>
            <a:endParaRPr lang="en-US"/>
          </a:p>
        </p:txBody>
      </p:sp>
      <p:sp>
        <p:nvSpPr>
          <p:cNvPr id="15" name="Rectangle 14">
            <a:extLst>
              <a:ext uri="{FF2B5EF4-FFF2-40B4-BE49-F238E27FC236}">
                <a16:creationId xmlns:a16="http://schemas.microsoft.com/office/drawing/2014/main" id="{2BAE5F71-3FC0-4659-B89B-203F6391AD87}"/>
              </a:ext>
            </a:extLst>
          </p:cNvPr>
          <p:cNvSpPr>
            <a:spLocks noGrp="1"/>
          </p:cNvSpPr>
          <p:nvPr/>
        </p:nvSpPr>
        <p:spPr>
          <a:xfrm>
            <a:off x="76581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C0923A"/>
                </a:solidFill>
                <a:latin typeface="Aptos"/>
                <a:ea typeface="Aptos"/>
                <a:cs typeface="Aptos"/>
              </a:defRPr>
            </a:pPr>
            <a:r>
              <a:rPr sz="1275" b="1">
                <a:solidFill>
                  <a:srgbClr val="C0923A"/>
                </a:solidFill>
                <a:latin typeface="Aptos"/>
                <a:ea typeface="Aptos"/>
                <a:cs typeface="Aptos"/>
              </a:rPr>
              <a:t>Dependency graph</a:t>
            </a:r>
          </a:p>
        </p:txBody>
      </p:sp>
      <p:sp>
        <p:nvSpPr>
          <p:cNvPr id="16" name="Rectangle 15">
            <a:extLst>
              <a:ext uri="{FF2B5EF4-FFF2-40B4-BE49-F238E27FC236}">
                <a16:creationId xmlns:a16="http://schemas.microsoft.com/office/drawing/2014/main" id="{31ED4E5F-E1EF-49D6-B039-DC403D367769}"/>
              </a:ext>
            </a:extLst>
          </p:cNvPr>
          <p:cNvSpPr>
            <a:spLocks noGrp="1"/>
          </p:cNvSpPr>
          <p:nvPr/>
        </p:nvSpPr>
        <p:spPr>
          <a:xfrm>
            <a:off x="76581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Shows theorem dependencies and assumed probability facts.</a:t>
            </a:r>
          </a:p>
        </p:txBody>
      </p:sp>
    </p:spTree>
    <p:extLst>
      <p:ext uri="{BB962C8B-B14F-4D97-AF65-F5344CB8AC3E}">
        <p14:creationId xmlns:p14="http://schemas.microsoft.com/office/powerpoint/2010/main" val="566800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A6CA62-3D4E-44F6-BA1E-56E178C4E6F6}"/>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A553D24-670A-4784-A955-31F8EA979BDE}"/>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309386A-3AB4-4143-B114-8CC7AC14435B}"/>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PART 5</a:t>
            </a:r>
          </a:p>
        </p:txBody>
      </p:sp>
      <p:sp>
        <p:nvSpPr>
          <p:cNvPr id="4" name="Rectangle 3">
            <a:extLst>
              <a:ext uri="{FF2B5EF4-FFF2-40B4-BE49-F238E27FC236}">
                <a16:creationId xmlns:a16="http://schemas.microsoft.com/office/drawing/2014/main" id="{5AB450B6-0E41-4CDE-A9B3-AE2CEED3480E}"/>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Showing the project in Visual Studio Code</a:t>
            </a:r>
          </a:p>
        </p:txBody>
      </p:sp>
      <p:sp>
        <p:nvSpPr>
          <p:cNvPr id="5" name="Rectangle 4">
            <a:extLst>
              <a:ext uri="{FF2B5EF4-FFF2-40B4-BE49-F238E27FC236}">
                <a16:creationId xmlns:a16="http://schemas.microsoft.com/office/drawing/2014/main" id="{76606103-8D7B-44ED-B0F6-2F3682BEBDD9}"/>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D3256FF3-4BDE-43A6-BD47-07C30541B306}"/>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C3D30AD3-EE43-40F3-BA20-944D97CC35D5}"/>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34</a:t>
            </a:r>
          </a:p>
        </p:txBody>
      </p:sp>
      <p:sp>
        <p:nvSpPr>
          <p:cNvPr id="8" name="Rectangle 7">
            <a:extLst>
              <a:ext uri="{FF2B5EF4-FFF2-40B4-BE49-F238E27FC236}">
                <a16:creationId xmlns:a16="http://schemas.microsoft.com/office/drawing/2014/main" id="{16F7F803-15B0-43AA-B9CB-521BB64CDEB7}"/>
              </a:ext>
            </a:extLst>
          </p:cNvPr>
          <p:cNvSpPr>
            <a:spLocks noGrp="1"/>
          </p:cNvSpPr>
          <p:nvPr/>
        </p:nvSpPr>
        <p:spPr>
          <a:xfrm>
            <a:off x="0" y="0"/>
            <a:ext cx="12192000" cy="6858000"/>
          </a:xfrm>
          <a:prstGeom prst="rect">
            <a:avLst/>
          </a:prstGeom>
          <a:solidFill>
            <a:srgbClr val="111827"/>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060B946C-EA04-4DAF-B848-027CECBA0760}"/>
              </a:ext>
            </a:extLst>
          </p:cNvPr>
          <p:cNvSpPr>
            <a:spLocks noGrp="1"/>
          </p:cNvSpPr>
          <p:nvPr/>
        </p:nvSpPr>
        <p:spPr>
          <a:xfrm>
            <a:off x="0" y="0"/>
            <a:ext cx="171450" cy="6858000"/>
          </a:xfrm>
          <a:prstGeom prst="rect">
            <a:avLst/>
          </a:prstGeom>
          <a:solidFill>
            <a:srgbClr val="C0923A"/>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B9BD5D2B-9FD6-4587-A9C3-210BD7AB8D39}"/>
              </a:ext>
            </a:extLst>
          </p:cNvPr>
          <p:cNvSpPr>
            <a:spLocks noGrp="1"/>
          </p:cNvSpPr>
          <p:nvPr/>
        </p:nvSpPr>
        <p:spPr>
          <a:xfrm>
            <a:off x="838200" y="10668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C0923A"/>
                </a:solidFill>
                <a:latin typeface="Aptos"/>
                <a:ea typeface="Aptos"/>
                <a:cs typeface="Aptos"/>
              </a:defRPr>
            </a:pPr>
            <a:r>
              <a:rPr sz="1350" b="1">
                <a:solidFill>
                  <a:srgbClr val="C0923A"/>
                </a:solidFill>
                <a:latin typeface="Aptos"/>
                <a:ea typeface="Aptos"/>
                <a:cs typeface="Aptos"/>
              </a:rPr>
              <a:t>Part 5</a:t>
            </a:r>
          </a:p>
        </p:txBody>
      </p:sp>
      <p:sp>
        <p:nvSpPr>
          <p:cNvPr id="11" name="Rectangle 10">
            <a:extLst>
              <a:ext uri="{FF2B5EF4-FFF2-40B4-BE49-F238E27FC236}">
                <a16:creationId xmlns:a16="http://schemas.microsoft.com/office/drawing/2014/main" id="{C3B207EE-7081-455D-AAF5-9E396B960711}"/>
              </a:ext>
            </a:extLst>
          </p:cNvPr>
          <p:cNvSpPr>
            <a:spLocks noGrp="1"/>
          </p:cNvSpPr>
          <p:nvPr/>
        </p:nvSpPr>
        <p:spPr>
          <a:xfrm>
            <a:off x="838200" y="2000250"/>
            <a:ext cx="895350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525" b="1">
                <a:solidFill>
                  <a:srgbClr val="FFFFFF"/>
                </a:solidFill>
                <a:latin typeface="Aptos Display"/>
                <a:ea typeface="Aptos Display"/>
                <a:cs typeface="Aptos Display"/>
              </a:defRPr>
            </a:pPr>
            <a:r>
              <a:rPr sz="3525" b="1">
                <a:solidFill>
                  <a:srgbClr val="FFFFFF"/>
                </a:solidFill>
                <a:latin typeface="Aptos Display"/>
                <a:ea typeface="Aptos Display"/>
                <a:cs typeface="Aptos Display"/>
              </a:rPr>
              <a:t>Showing the project in Visual Studio Code</a:t>
            </a:r>
          </a:p>
        </p:txBody>
      </p:sp>
      <p:sp>
        <p:nvSpPr>
          <p:cNvPr id="12" name="Rectangle 11">
            <a:extLst>
              <a:ext uri="{FF2B5EF4-FFF2-40B4-BE49-F238E27FC236}">
                <a16:creationId xmlns:a16="http://schemas.microsoft.com/office/drawing/2014/main" id="{4F07F86D-B95A-48CE-875B-B92A5B7E2FCA}"/>
              </a:ext>
            </a:extLst>
          </p:cNvPr>
          <p:cNvSpPr>
            <a:spLocks noGrp="1"/>
          </p:cNvSpPr>
          <p:nvPr/>
        </p:nvSpPr>
        <p:spPr>
          <a:xfrm>
            <a:off x="876300" y="3638550"/>
            <a:ext cx="8096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D8DDE7"/>
                </a:solidFill>
                <a:latin typeface="Aptos"/>
                <a:ea typeface="Aptos"/>
                <a:cs typeface="Aptos"/>
              </a:defRPr>
            </a:pPr>
            <a:r>
              <a:rPr sz="1800" b="0">
                <a:solidFill>
                  <a:srgbClr val="D8DDE7"/>
                </a:solidFill>
                <a:latin typeface="Aptos"/>
                <a:ea typeface="Aptos"/>
                <a:cs typeface="Aptos"/>
              </a:rPr>
              <a:t>Live demo of the theorem, the build, the comparison report, and the model-facing repair handoff.</a:t>
            </a:r>
          </a:p>
        </p:txBody>
      </p:sp>
      <p:sp>
        <p:nvSpPr>
          <p:cNvPr id="13" name="Rectangle 12">
            <a:extLst>
              <a:ext uri="{FF2B5EF4-FFF2-40B4-BE49-F238E27FC236}">
                <a16:creationId xmlns:a16="http://schemas.microsoft.com/office/drawing/2014/main" id="{3C3DC29A-60A1-4849-9F48-A749935FD9EF}"/>
              </a:ext>
            </a:extLst>
          </p:cNvPr>
          <p:cNvSpPr>
            <a:spLocks noGrp="1"/>
          </p:cNvSpPr>
          <p:nvPr/>
        </p:nvSpPr>
        <p:spPr>
          <a:xfrm>
            <a:off x="10477500" y="6000750"/>
            <a:ext cx="571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D8DDE7"/>
                </a:solidFill>
                <a:latin typeface="Aptos"/>
                <a:ea typeface="Aptos"/>
                <a:cs typeface="Aptos"/>
              </a:defRPr>
            </a:pPr>
            <a:r>
              <a:rPr sz="1275" b="1">
                <a:solidFill>
                  <a:srgbClr val="D8DDE7"/>
                </a:solidFill>
                <a:latin typeface="Aptos"/>
                <a:ea typeface="Aptos"/>
                <a:cs typeface="Aptos"/>
              </a:rPr>
              <a:t>34</a:t>
            </a:r>
          </a:p>
        </p:txBody>
      </p:sp>
    </p:spTree>
    <p:extLst>
      <p:ext uri="{BB962C8B-B14F-4D97-AF65-F5344CB8AC3E}">
        <p14:creationId xmlns:p14="http://schemas.microsoft.com/office/powerpoint/2010/main" val="2081911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F6AABB3-C5EE-4CCC-9BC3-730CE9270541}"/>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6C5389E4-34D7-421B-9123-8DDE11F38EB1}"/>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697A19A6-4D6E-4A1F-B832-F4B3FE3711B4}"/>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DEMO STEP 1</a:t>
            </a:r>
          </a:p>
        </p:txBody>
      </p:sp>
      <p:sp>
        <p:nvSpPr>
          <p:cNvPr id="4" name="Rectangle 3">
            <a:extLst>
              <a:ext uri="{FF2B5EF4-FFF2-40B4-BE49-F238E27FC236}">
                <a16:creationId xmlns:a16="http://schemas.microsoft.com/office/drawing/2014/main" id="{C5543028-ADC8-4883-ACB8-6509325638ED}"/>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Open Agnostic.lean and show the verified deterministic theorem.</a:t>
            </a:r>
          </a:p>
        </p:txBody>
      </p:sp>
      <p:sp>
        <p:nvSpPr>
          <p:cNvPr id="5" name="Rectangle 4">
            <a:extLst>
              <a:ext uri="{FF2B5EF4-FFF2-40B4-BE49-F238E27FC236}">
                <a16:creationId xmlns:a16="http://schemas.microsoft.com/office/drawing/2014/main" id="{501DB69E-7CF9-4A69-9AA9-0EF3298B691A}"/>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4C3BFC68-6656-446D-8744-F6DC7947A258}"/>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5D8D8385-6F3B-492F-B65A-162772076481}"/>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35</a:t>
            </a:r>
          </a:p>
        </p:txBody>
      </p:sp>
      <p:sp>
        <p:nvSpPr>
          <p:cNvPr id="8" name="Rectangle 7">
            <a:extLst>
              <a:ext uri="{FF2B5EF4-FFF2-40B4-BE49-F238E27FC236}">
                <a16:creationId xmlns:a16="http://schemas.microsoft.com/office/drawing/2014/main" id="{B3DF7783-671A-4084-B6BF-FF390812F20D}"/>
              </a:ext>
            </a:extLst>
          </p:cNvPr>
          <p:cNvSpPr>
            <a:spLocks noGrp="1"/>
          </p:cNvSpPr>
          <p:nvPr/>
        </p:nvSpPr>
        <p:spPr>
          <a:xfrm>
            <a:off x="1028700" y="2171700"/>
            <a:ext cx="8191500" cy="1809750"/>
          </a:xfrm>
          <a:prstGeom prst="rect">
            <a:avLst/>
          </a:prstGeom>
          <a:solidFill>
            <a:srgbClr val="17202B"/>
          </a:solidFill>
          <a:ln w="9525">
            <a:solidFill>
              <a:srgbClr val="263241"/>
            </a:solidFill>
            <a:prstDash val="solid"/>
          </a:ln>
        </p:spPr>
        <p:txBody>
          <a:bodyPr/>
          <a:lstStyle/>
          <a:p>
            <a:endParaRPr lang="en-US"/>
          </a:p>
        </p:txBody>
      </p:sp>
      <p:sp>
        <p:nvSpPr>
          <p:cNvPr id="9" name="Rectangle 8">
            <a:extLst>
              <a:ext uri="{FF2B5EF4-FFF2-40B4-BE49-F238E27FC236}">
                <a16:creationId xmlns:a16="http://schemas.microsoft.com/office/drawing/2014/main" id="{AE1CC811-766D-4644-AAC5-D44ACEDFAAB7}"/>
              </a:ext>
            </a:extLst>
          </p:cNvPr>
          <p:cNvSpPr>
            <a:spLocks noGrp="1"/>
          </p:cNvSpPr>
          <p:nvPr/>
        </p:nvSpPr>
        <p:spPr>
          <a:xfrm>
            <a:off x="1219200" y="2343150"/>
            <a:ext cx="7810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LearningTheoryProject/Agnostic.lean</a:t>
            </a:r>
          </a:p>
          <a:p>
            <a:endParaRPr sz="1500" b="0">
              <a:solidFill>
                <a:srgbClr val="F6F4EE"/>
              </a:solidFill>
              <a:latin typeface="Aptos Mono"/>
              <a:ea typeface="Aptos Mono"/>
              <a:cs typeface="Aptos Mono"/>
            </a:endParaRP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theorem agnostic_erm_deterministic</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P.trueRisk hHat &lt;= P.trueRisk hStar + (eps + eps)</a:t>
            </a:r>
          </a:p>
        </p:txBody>
      </p:sp>
      <p:sp>
        <p:nvSpPr>
          <p:cNvPr id="10" name="Rectangle 9">
            <a:extLst>
              <a:ext uri="{FF2B5EF4-FFF2-40B4-BE49-F238E27FC236}">
                <a16:creationId xmlns:a16="http://schemas.microsoft.com/office/drawing/2014/main" id="{F8547123-F248-402F-9CD4-347771D65B0D}"/>
              </a:ext>
            </a:extLst>
          </p:cNvPr>
          <p:cNvSpPr>
            <a:spLocks noGrp="1"/>
          </p:cNvSpPr>
          <p:nvPr/>
        </p:nvSpPr>
        <p:spPr>
          <a:xfrm>
            <a:off x="1104900" y="4362450"/>
            <a:ext cx="857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Click inside the proof and point to Lean InfoView showing hypotheses and goals.</a:t>
            </a:r>
          </a:p>
        </p:txBody>
      </p:sp>
    </p:spTree>
    <p:extLst>
      <p:ext uri="{BB962C8B-B14F-4D97-AF65-F5344CB8AC3E}">
        <p14:creationId xmlns:p14="http://schemas.microsoft.com/office/powerpoint/2010/main" val="1205318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3A2306-4358-4CE8-979B-A57CFF0ACE22}"/>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BAD0C67-54AA-4BA1-B498-3A9234219C65}"/>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D3F1F592-30D4-4BA5-878A-BF267575B775}"/>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DEMO STEP 2</a:t>
            </a:r>
          </a:p>
        </p:txBody>
      </p:sp>
      <p:sp>
        <p:nvSpPr>
          <p:cNvPr id="4" name="Rectangle 3">
            <a:extLst>
              <a:ext uri="{FF2B5EF4-FFF2-40B4-BE49-F238E27FC236}">
                <a16:creationId xmlns:a16="http://schemas.microsoft.com/office/drawing/2014/main" id="{68BE4E26-40EC-4EA2-B218-0C1D425EF370}"/>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Run the full Lean build.</a:t>
            </a:r>
          </a:p>
        </p:txBody>
      </p:sp>
      <p:sp>
        <p:nvSpPr>
          <p:cNvPr id="5" name="Rectangle 4">
            <a:extLst>
              <a:ext uri="{FF2B5EF4-FFF2-40B4-BE49-F238E27FC236}">
                <a16:creationId xmlns:a16="http://schemas.microsoft.com/office/drawing/2014/main" id="{7668BAED-EA42-4BEA-8B95-9D4C93CCF14C}"/>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6C44C04D-EBB2-47A0-A84E-FD26C644E7E4}"/>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3300BFA7-8F07-4018-BDBE-FD64DB769B5E}"/>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36</a:t>
            </a:r>
          </a:p>
        </p:txBody>
      </p:sp>
      <p:sp>
        <p:nvSpPr>
          <p:cNvPr id="8" name="Rectangle 7">
            <a:extLst>
              <a:ext uri="{FF2B5EF4-FFF2-40B4-BE49-F238E27FC236}">
                <a16:creationId xmlns:a16="http://schemas.microsoft.com/office/drawing/2014/main" id="{7276BBD5-C81B-4191-9EA5-90F9BBE95D88}"/>
              </a:ext>
            </a:extLst>
          </p:cNvPr>
          <p:cNvSpPr>
            <a:spLocks noGrp="1"/>
          </p:cNvSpPr>
          <p:nvPr/>
        </p:nvSpPr>
        <p:spPr>
          <a:xfrm>
            <a:off x="1028700" y="2171700"/>
            <a:ext cx="8191500" cy="1809750"/>
          </a:xfrm>
          <a:prstGeom prst="rect">
            <a:avLst/>
          </a:prstGeom>
          <a:solidFill>
            <a:srgbClr val="17202B"/>
          </a:solidFill>
          <a:ln w="9525">
            <a:solidFill>
              <a:srgbClr val="263241"/>
            </a:solidFill>
            <a:prstDash val="solid"/>
          </a:ln>
        </p:spPr>
        <p:txBody>
          <a:bodyPr/>
          <a:lstStyle/>
          <a:p>
            <a:endParaRPr lang="en-US"/>
          </a:p>
        </p:txBody>
      </p:sp>
      <p:sp>
        <p:nvSpPr>
          <p:cNvPr id="9" name="Rectangle 8">
            <a:extLst>
              <a:ext uri="{FF2B5EF4-FFF2-40B4-BE49-F238E27FC236}">
                <a16:creationId xmlns:a16="http://schemas.microsoft.com/office/drawing/2014/main" id="{4D93E74F-AB49-40D1-A991-05D64C5C7494}"/>
              </a:ext>
            </a:extLst>
          </p:cNvPr>
          <p:cNvSpPr>
            <a:spLocks noGrp="1"/>
          </p:cNvSpPr>
          <p:nvPr/>
        </p:nvSpPr>
        <p:spPr>
          <a:xfrm>
            <a:off x="1219200" y="2343150"/>
            <a:ext cx="7810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lake build</a:t>
            </a:r>
          </a:p>
          <a:p>
            <a:endParaRPr sz="1500" b="0">
              <a:solidFill>
                <a:srgbClr val="F6F4EE"/>
              </a:solidFill>
              <a:latin typeface="Aptos Mono"/>
              <a:ea typeface="Aptos Mono"/>
              <a:cs typeface="Aptos Mono"/>
            </a:endParaRP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Expected:</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Build completed successfully (16 jobs).</a:t>
            </a:r>
          </a:p>
        </p:txBody>
      </p:sp>
      <p:sp>
        <p:nvSpPr>
          <p:cNvPr id="10" name="Rectangle 9">
            <a:extLst>
              <a:ext uri="{FF2B5EF4-FFF2-40B4-BE49-F238E27FC236}">
                <a16:creationId xmlns:a16="http://schemas.microsoft.com/office/drawing/2014/main" id="{3483E1F1-25F9-413F-BF85-A531FCE019C4}"/>
              </a:ext>
            </a:extLst>
          </p:cNvPr>
          <p:cNvSpPr>
            <a:spLocks noGrp="1"/>
          </p:cNvSpPr>
          <p:nvPr/>
        </p:nvSpPr>
        <p:spPr>
          <a:xfrm>
            <a:off x="1104900" y="4362450"/>
            <a:ext cx="857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This verifies the whole Lean formalization, not just one file.</a:t>
            </a:r>
          </a:p>
        </p:txBody>
      </p:sp>
    </p:spTree>
    <p:extLst>
      <p:ext uri="{BB962C8B-B14F-4D97-AF65-F5344CB8AC3E}">
        <p14:creationId xmlns:p14="http://schemas.microsoft.com/office/powerpoint/2010/main" val="734599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1C3010-DA12-4B6C-B1DC-F8AB28A327E4}"/>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BCD33D4-938D-4108-8C52-3F280B5967E3}"/>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809A8144-5B4D-439A-AB73-9620CF9215C9}"/>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DEMO STEP 3</a:t>
            </a:r>
          </a:p>
        </p:txBody>
      </p:sp>
      <p:sp>
        <p:nvSpPr>
          <p:cNvPr id="4" name="Rectangle 3">
            <a:extLst>
              <a:ext uri="{FF2B5EF4-FFF2-40B4-BE49-F238E27FC236}">
                <a16:creationId xmlns:a16="http://schemas.microsoft.com/office/drawing/2014/main" id="{F185C290-9378-44D5-8040-AC06B7FB54FE}"/>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Run the comparison script to show the proof-repair study is reproducible.</a:t>
            </a:r>
          </a:p>
        </p:txBody>
      </p:sp>
      <p:sp>
        <p:nvSpPr>
          <p:cNvPr id="5" name="Rectangle 4">
            <a:extLst>
              <a:ext uri="{FF2B5EF4-FFF2-40B4-BE49-F238E27FC236}">
                <a16:creationId xmlns:a16="http://schemas.microsoft.com/office/drawing/2014/main" id="{65987E72-86BC-4521-B169-64C65505F5E2}"/>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BC7C324-541D-4133-B063-4094126037BE}"/>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AA37CB6D-199A-47CF-8E5E-9551493888E8}"/>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37</a:t>
            </a:r>
          </a:p>
        </p:txBody>
      </p:sp>
      <p:sp>
        <p:nvSpPr>
          <p:cNvPr id="8" name="Rectangle 7">
            <a:extLst>
              <a:ext uri="{FF2B5EF4-FFF2-40B4-BE49-F238E27FC236}">
                <a16:creationId xmlns:a16="http://schemas.microsoft.com/office/drawing/2014/main" id="{CF7A41EB-5DD4-4D75-B4B8-A355090B8C5A}"/>
              </a:ext>
            </a:extLst>
          </p:cNvPr>
          <p:cNvSpPr>
            <a:spLocks noGrp="1"/>
          </p:cNvSpPr>
          <p:nvPr/>
        </p:nvSpPr>
        <p:spPr>
          <a:xfrm>
            <a:off x="1028700" y="2171700"/>
            <a:ext cx="8191500" cy="1809750"/>
          </a:xfrm>
          <a:prstGeom prst="rect">
            <a:avLst/>
          </a:prstGeom>
          <a:solidFill>
            <a:srgbClr val="17202B"/>
          </a:solidFill>
          <a:ln w="9525">
            <a:solidFill>
              <a:srgbClr val="263241"/>
            </a:solidFill>
            <a:prstDash val="solid"/>
          </a:ln>
        </p:spPr>
        <p:txBody>
          <a:bodyPr/>
          <a:lstStyle/>
          <a:p>
            <a:endParaRPr lang="en-US"/>
          </a:p>
        </p:txBody>
      </p:sp>
      <p:sp>
        <p:nvSpPr>
          <p:cNvPr id="9" name="Rectangle 8">
            <a:extLst>
              <a:ext uri="{FF2B5EF4-FFF2-40B4-BE49-F238E27FC236}">
                <a16:creationId xmlns:a16="http://schemas.microsoft.com/office/drawing/2014/main" id="{28D61C51-35BE-418D-BAAC-DE57119889B4}"/>
              </a:ext>
            </a:extLst>
          </p:cNvPr>
          <p:cNvSpPr>
            <a:spLocks noGrp="1"/>
          </p:cNvSpPr>
          <p:nvPr/>
        </p:nvSpPr>
        <p:spPr>
          <a:xfrm>
            <a:off x="1219200" y="2343150"/>
            <a:ext cx="7810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python multi_model_workflow/run_comparison.py</a:t>
            </a:r>
          </a:p>
          <a:p>
            <a:endParaRPr sz="1500" b="0">
              <a:solidFill>
                <a:srgbClr val="F6F4EE"/>
              </a:solidFill>
              <a:latin typeface="Aptos Mono"/>
              <a:ea typeface="Aptos Mono"/>
              <a:cs typeface="Aptos Mono"/>
            </a:endParaRP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Output:</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Wrote multi_model_workflow\comparison_report.md</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Wrote multi_model_workflow\repair_recommendations_for_models.md</a:t>
            </a:r>
          </a:p>
        </p:txBody>
      </p:sp>
      <p:sp>
        <p:nvSpPr>
          <p:cNvPr id="10" name="Rectangle 9">
            <a:extLst>
              <a:ext uri="{FF2B5EF4-FFF2-40B4-BE49-F238E27FC236}">
                <a16:creationId xmlns:a16="http://schemas.microsoft.com/office/drawing/2014/main" id="{D06EA5FB-9D64-416F-B39C-9745AA43DA78}"/>
              </a:ext>
            </a:extLst>
          </p:cNvPr>
          <p:cNvSpPr>
            <a:spLocks noGrp="1"/>
          </p:cNvSpPr>
          <p:nvPr/>
        </p:nvSpPr>
        <p:spPr>
          <a:xfrm>
            <a:off x="1104900" y="4362450"/>
            <a:ext cx="857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The script verifies attempts, ranks candidates, and writes both human-facing and model-facing artifacts.</a:t>
            </a:r>
          </a:p>
        </p:txBody>
      </p:sp>
    </p:spTree>
    <p:extLst>
      <p:ext uri="{BB962C8B-B14F-4D97-AF65-F5344CB8AC3E}">
        <p14:creationId xmlns:p14="http://schemas.microsoft.com/office/powerpoint/2010/main" val="1255661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DE69A54-4ACB-4533-A402-9D67BC837155}"/>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F8A10C7C-610A-423F-98DE-ACF6832962C5}"/>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3CCAA828-5DD4-428B-94B4-252E2364ABFB}"/>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DEMO STEP 4</a:t>
            </a:r>
          </a:p>
        </p:txBody>
      </p:sp>
      <p:sp>
        <p:nvSpPr>
          <p:cNvPr id="4" name="Rectangle 3">
            <a:extLst>
              <a:ext uri="{FF2B5EF4-FFF2-40B4-BE49-F238E27FC236}">
                <a16:creationId xmlns:a16="http://schemas.microsoft.com/office/drawing/2014/main" id="{A04764A4-458D-4F92-B6AE-7F271C4C129B}"/>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Open the comparison report and explain the reconciliation layer.</a:t>
            </a:r>
          </a:p>
        </p:txBody>
      </p:sp>
      <p:sp>
        <p:nvSpPr>
          <p:cNvPr id="5" name="Rectangle 4">
            <a:extLst>
              <a:ext uri="{FF2B5EF4-FFF2-40B4-BE49-F238E27FC236}">
                <a16:creationId xmlns:a16="http://schemas.microsoft.com/office/drawing/2014/main" id="{50E1B233-8976-4016-B8DD-68FD4428C8B9}"/>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7A1F335F-DC95-4817-BC63-7EC29562B988}"/>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307B4D57-172A-4CDB-AE05-5548EEAC85D9}"/>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38</a:t>
            </a:r>
          </a:p>
        </p:txBody>
      </p:sp>
      <p:sp>
        <p:nvSpPr>
          <p:cNvPr id="8" name="Rectangle 7">
            <a:extLst>
              <a:ext uri="{FF2B5EF4-FFF2-40B4-BE49-F238E27FC236}">
                <a16:creationId xmlns:a16="http://schemas.microsoft.com/office/drawing/2014/main" id="{AC388BF7-FDBA-4255-A08D-DE144D97D4F8}"/>
              </a:ext>
            </a:extLst>
          </p:cNvPr>
          <p:cNvSpPr>
            <a:spLocks noGrp="1"/>
          </p:cNvSpPr>
          <p:nvPr/>
        </p:nvSpPr>
        <p:spPr>
          <a:xfrm>
            <a:off x="1028700" y="2171700"/>
            <a:ext cx="8191500" cy="1809750"/>
          </a:xfrm>
          <a:prstGeom prst="rect">
            <a:avLst/>
          </a:prstGeom>
          <a:solidFill>
            <a:srgbClr val="17202B"/>
          </a:solidFill>
          <a:ln w="9525">
            <a:solidFill>
              <a:srgbClr val="263241"/>
            </a:solidFill>
            <a:prstDash val="solid"/>
          </a:ln>
        </p:spPr>
        <p:txBody>
          <a:bodyPr/>
          <a:lstStyle/>
          <a:p>
            <a:endParaRPr lang="en-US"/>
          </a:p>
        </p:txBody>
      </p:sp>
      <p:sp>
        <p:nvSpPr>
          <p:cNvPr id="9" name="Rectangle 8">
            <a:extLst>
              <a:ext uri="{FF2B5EF4-FFF2-40B4-BE49-F238E27FC236}">
                <a16:creationId xmlns:a16="http://schemas.microsoft.com/office/drawing/2014/main" id="{DA50D143-05D7-4185-99A6-01283FCB6551}"/>
              </a:ext>
            </a:extLst>
          </p:cNvPr>
          <p:cNvSpPr>
            <a:spLocks noGrp="1"/>
          </p:cNvSpPr>
          <p:nvPr/>
        </p:nvSpPr>
        <p:spPr>
          <a:xfrm>
            <a:off x="1219200" y="2343150"/>
            <a:ext cx="7810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multi_model_workflow/comparison_report.md</a:t>
            </a:r>
          </a:p>
          <a:p>
            <a:endParaRPr sz="1500" b="0">
              <a:solidFill>
                <a:srgbClr val="F6F4EE"/>
              </a:solidFill>
              <a:latin typeface="Aptos Mono"/>
              <a:ea typeface="Aptos Mono"/>
              <a:cs typeface="Aptos Mono"/>
            </a:endParaRP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Sections to show:</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Reconciliation Ranking</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Consensus Recommendation</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Cross-Model Repair Suggestions</a:t>
            </a:r>
          </a:p>
        </p:txBody>
      </p:sp>
      <p:sp>
        <p:nvSpPr>
          <p:cNvPr id="10" name="Rectangle 9">
            <a:extLst>
              <a:ext uri="{FF2B5EF4-FFF2-40B4-BE49-F238E27FC236}">
                <a16:creationId xmlns:a16="http://schemas.microsoft.com/office/drawing/2014/main" id="{0BBA26A0-1C82-4883-B50D-F69D5760B591}"/>
              </a:ext>
            </a:extLst>
          </p:cNvPr>
          <p:cNvSpPr>
            <a:spLocks noGrp="1"/>
          </p:cNvSpPr>
          <p:nvPr/>
        </p:nvSpPr>
        <p:spPr>
          <a:xfrm>
            <a:off x="1104900" y="4362450"/>
            <a:ext cx="857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This is where the project compares generated Lean attempts instead of trusting one model blindly.</a:t>
            </a:r>
          </a:p>
        </p:txBody>
      </p:sp>
    </p:spTree>
    <p:extLst>
      <p:ext uri="{BB962C8B-B14F-4D97-AF65-F5344CB8AC3E}">
        <p14:creationId xmlns:p14="http://schemas.microsoft.com/office/powerpoint/2010/main" val="9634907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3A728F-4C01-46CA-8EF4-65D758647187}"/>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0BC9FFE4-F0F2-46B7-957C-3D5D8FF4D7F0}"/>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6083768B-859A-47F7-B71A-3394012B98BB}"/>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DEMO STEP 5</a:t>
            </a:r>
          </a:p>
        </p:txBody>
      </p:sp>
      <p:sp>
        <p:nvSpPr>
          <p:cNvPr id="4" name="Rectangle 3">
            <a:extLst>
              <a:ext uri="{FF2B5EF4-FFF2-40B4-BE49-F238E27FC236}">
                <a16:creationId xmlns:a16="http://schemas.microsoft.com/office/drawing/2014/main" id="{080E1324-2B08-4A6D-9F80-544ECE93C371}"/>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8202A"/>
                </a:solidFill>
                <a:latin typeface="Aptos Display"/>
                <a:ea typeface="Aptos Display"/>
                <a:cs typeface="Aptos Display"/>
              </a:defRPr>
            </a:pPr>
            <a:r>
              <a:rPr sz="2700" b="1">
                <a:solidFill>
                  <a:srgbClr val="18202A"/>
                </a:solidFill>
                <a:latin typeface="Aptos Display"/>
                <a:ea typeface="Aptos Display"/>
                <a:cs typeface="Aptos Display"/>
              </a:rPr>
              <a:t>Open the model-facing repair handoff.</a:t>
            </a:r>
          </a:p>
        </p:txBody>
      </p:sp>
      <p:sp>
        <p:nvSpPr>
          <p:cNvPr id="5" name="Rectangle 4">
            <a:extLst>
              <a:ext uri="{FF2B5EF4-FFF2-40B4-BE49-F238E27FC236}">
                <a16:creationId xmlns:a16="http://schemas.microsoft.com/office/drawing/2014/main" id="{FB2D309F-B39B-4988-9A8A-41E17A8306C5}"/>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F1836187-4931-489E-99DB-035D138E2E21}"/>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16907B58-759E-46B5-AB90-9FDBF609A14B}"/>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39</a:t>
            </a:r>
          </a:p>
        </p:txBody>
      </p:sp>
      <p:sp>
        <p:nvSpPr>
          <p:cNvPr id="8" name="Rectangle 7">
            <a:extLst>
              <a:ext uri="{FF2B5EF4-FFF2-40B4-BE49-F238E27FC236}">
                <a16:creationId xmlns:a16="http://schemas.microsoft.com/office/drawing/2014/main" id="{C5485645-BB5F-42B9-9AEC-764C7DFE166D}"/>
              </a:ext>
            </a:extLst>
          </p:cNvPr>
          <p:cNvSpPr>
            <a:spLocks noGrp="1"/>
          </p:cNvSpPr>
          <p:nvPr/>
        </p:nvSpPr>
        <p:spPr>
          <a:xfrm>
            <a:off x="1028700" y="2171700"/>
            <a:ext cx="8191500" cy="1809750"/>
          </a:xfrm>
          <a:prstGeom prst="rect">
            <a:avLst/>
          </a:prstGeom>
          <a:solidFill>
            <a:srgbClr val="17202B"/>
          </a:solidFill>
          <a:ln w="9525">
            <a:solidFill>
              <a:srgbClr val="263241"/>
            </a:solidFill>
            <a:prstDash val="solid"/>
          </a:ln>
        </p:spPr>
        <p:txBody>
          <a:bodyPr/>
          <a:lstStyle/>
          <a:p>
            <a:endParaRPr lang="en-US"/>
          </a:p>
        </p:txBody>
      </p:sp>
      <p:sp>
        <p:nvSpPr>
          <p:cNvPr id="9" name="Rectangle 8">
            <a:extLst>
              <a:ext uri="{FF2B5EF4-FFF2-40B4-BE49-F238E27FC236}">
                <a16:creationId xmlns:a16="http://schemas.microsoft.com/office/drawing/2014/main" id="{2C4AB306-040D-487E-999A-DD7AB8EF6421}"/>
              </a:ext>
            </a:extLst>
          </p:cNvPr>
          <p:cNvSpPr>
            <a:spLocks noGrp="1"/>
          </p:cNvSpPr>
          <p:nvPr/>
        </p:nvSpPr>
        <p:spPr>
          <a:xfrm>
            <a:off x="1219200" y="2343150"/>
            <a:ext cx="7810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multi_model_workflow/repair_recommendations_for_models.md</a:t>
            </a:r>
          </a:p>
          <a:p>
            <a:endParaRPr sz="1500" b="0">
              <a:solidFill>
                <a:srgbClr val="F6F4EE"/>
              </a:solidFill>
              <a:latin typeface="Aptos Mono"/>
              <a:ea typeface="Aptos Mono"/>
              <a:cs typeface="Aptos Mono"/>
            </a:endParaRP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Use this file as the instruction sheet for:</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Codex repair</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Claude repair</a:t>
            </a:r>
          </a:p>
          <a:p>
            <a:pPr algn="l">
              <a:defRPr sz="1500" b="0">
                <a:solidFill>
                  <a:srgbClr val="F6F4EE"/>
                </a:solidFill>
                <a:latin typeface="Aptos Mono"/>
                <a:ea typeface="Aptos Mono"/>
                <a:cs typeface="Aptos Mono"/>
              </a:defRPr>
            </a:pPr>
            <a:r>
              <a:rPr sz="1500" b="0">
                <a:solidFill>
                  <a:srgbClr val="F6F4EE"/>
                </a:solidFill>
                <a:latin typeface="Aptos Mono"/>
                <a:ea typeface="Aptos Mono"/>
                <a:cs typeface="Aptos Mono"/>
              </a:rPr>
              <a:t>- final simplification</a:t>
            </a:r>
          </a:p>
        </p:txBody>
      </p:sp>
      <p:sp>
        <p:nvSpPr>
          <p:cNvPr id="10" name="Rectangle 9">
            <a:extLst>
              <a:ext uri="{FF2B5EF4-FFF2-40B4-BE49-F238E27FC236}">
                <a16:creationId xmlns:a16="http://schemas.microsoft.com/office/drawing/2014/main" id="{8336570B-A6ED-42E2-9FA1-2143CB9CDDE0}"/>
              </a:ext>
            </a:extLst>
          </p:cNvPr>
          <p:cNvSpPr>
            <a:spLocks noGrp="1"/>
          </p:cNvSpPr>
          <p:nvPr/>
        </p:nvSpPr>
        <p:spPr>
          <a:xfrm>
            <a:off x="1104900" y="4362450"/>
            <a:ext cx="857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8202A"/>
                </a:solidFill>
                <a:latin typeface="Aptos"/>
                <a:ea typeface="Aptos"/>
                <a:cs typeface="Aptos"/>
              </a:defRPr>
            </a:pPr>
            <a:r>
              <a:rPr sz="1800" b="1">
                <a:solidFill>
                  <a:srgbClr val="18202A"/>
                </a:solidFill>
                <a:latin typeface="Aptos"/>
                <a:ea typeface="Aptos"/>
                <a:cs typeface="Aptos"/>
              </a:rPr>
              <a:t>This makes the professor's idea concrete: compare attempts, extract useful differences, and feed targeted repair instructions back to the models.</a:t>
            </a:r>
          </a:p>
        </p:txBody>
      </p:sp>
    </p:spTree>
    <p:extLst>
      <p:ext uri="{BB962C8B-B14F-4D97-AF65-F5344CB8AC3E}">
        <p14:creationId xmlns:p14="http://schemas.microsoft.com/office/powerpoint/2010/main" val="3131516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E6F797C-EBCF-4B63-9504-34E879325870}"/>
              </a:ext>
            </a:extLst>
          </p:cNvPr>
          <p:cNvSpPr>
            <a:spLocks noGrp="1"/>
          </p:cNvSpPr>
          <p:nvPr/>
        </p:nvSpPr>
        <p:spPr>
          <a:xfrm>
            <a:off x="0" y="0"/>
            <a:ext cx="12192000" cy="6858000"/>
          </a:xfrm>
          <a:prstGeom prst="rect">
            <a:avLst/>
          </a:prstGeom>
          <a:solidFill>
            <a:srgbClr val="FBFAF7"/>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CB4DBBA-B232-4AB4-8E61-E640A66FC7A6}"/>
              </a:ext>
            </a:extLst>
          </p:cNvPr>
          <p:cNvSpPr>
            <a:spLocks noGrp="1"/>
          </p:cNvSpPr>
          <p:nvPr/>
        </p:nvSpPr>
        <p:spPr>
          <a:xfrm>
            <a:off x="0" y="0"/>
            <a:ext cx="133350" cy="6858000"/>
          </a:xfrm>
          <a:prstGeom prst="rect">
            <a:avLst/>
          </a:prstGeom>
          <a:solidFill>
            <a:srgbClr val="246B8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8F61461-EDFE-4CA7-BD2A-753F8E9B84B9}"/>
              </a:ext>
            </a:extLst>
          </p:cNvPr>
          <p:cNvSpPr>
            <a:spLocks noGrp="1"/>
          </p:cNvSpPr>
          <p:nvPr/>
        </p:nvSpPr>
        <p:spPr>
          <a:xfrm>
            <a:off x="590550" y="3619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46B8F"/>
                </a:solidFill>
                <a:latin typeface="Aptos"/>
                <a:ea typeface="Aptos"/>
                <a:cs typeface="Aptos"/>
              </a:defRPr>
            </a:pPr>
            <a:r>
              <a:rPr sz="900" b="1">
                <a:solidFill>
                  <a:srgbClr val="246B8F"/>
                </a:solidFill>
                <a:latin typeface="Aptos"/>
                <a:ea typeface="Aptos"/>
                <a:cs typeface="Aptos"/>
              </a:rPr>
              <a:t>FINAL TAKEAWAY</a:t>
            </a:r>
          </a:p>
        </p:txBody>
      </p:sp>
      <p:sp>
        <p:nvSpPr>
          <p:cNvPr id="4" name="Rectangle 3">
            <a:extLst>
              <a:ext uri="{FF2B5EF4-FFF2-40B4-BE49-F238E27FC236}">
                <a16:creationId xmlns:a16="http://schemas.microsoft.com/office/drawing/2014/main" id="{8F6C347D-706F-4B10-91FA-FC0AB74D9354}"/>
              </a:ext>
            </a:extLst>
          </p:cNvPr>
          <p:cNvSpPr>
            <a:spLocks noGrp="1"/>
          </p:cNvSpPr>
          <p:nvPr/>
        </p:nvSpPr>
        <p:spPr>
          <a:xfrm>
            <a:off x="590550" y="723900"/>
            <a:ext cx="10096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325" b="1">
                <a:solidFill>
                  <a:srgbClr val="18202A"/>
                </a:solidFill>
                <a:latin typeface="Aptos Display"/>
                <a:ea typeface="Aptos Display"/>
                <a:cs typeface="Aptos Display"/>
              </a:defRPr>
            </a:pPr>
            <a:r>
              <a:rPr sz="2325" b="1">
                <a:solidFill>
                  <a:srgbClr val="18202A"/>
                </a:solidFill>
                <a:latin typeface="Aptos Display"/>
                <a:ea typeface="Aptos Display"/>
                <a:cs typeface="Aptos Display"/>
              </a:rPr>
              <a:t>The project is complete when Lean verifies the core and the explanation makes the proof understandable.</a:t>
            </a:r>
          </a:p>
        </p:txBody>
      </p:sp>
      <p:sp>
        <p:nvSpPr>
          <p:cNvPr id="5" name="Rectangle 4">
            <a:extLst>
              <a:ext uri="{FF2B5EF4-FFF2-40B4-BE49-F238E27FC236}">
                <a16:creationId xmlns:a16="http://schemas.microsoft.com/office/drawing/2014/main" id="{3C65100D-B618-4962-9DA7-5F5165631CB3}"/>
              </a:ext>
            </a:extLst>
          </p:cNvPr>
          <p:cNvSpPr>
            <a:spLocks noGrp="1"/>
          </p:cNvSpPr>
          <p:nvPr/>
        </p:nvSpPr>
        <p:spPr>
          <a:xfrm>
            <a:off x="590550" y="6324600"/>
            <a:ext cx="10382250" cy="9525"/>
          </a:xfrm>
          <a:prstGeom prst="rect">
            <a:avLst/>
          </a:prstGeom>
          <a:solidFill>
            <a:srgbClr val="D8D2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4EF5EC07-E673-4103-8421-152C1E56BF86}"/>
              </a:ext>
            </a:extLst>
          </p:cNvPr>
          <p:cNvSpPr>
            <a:spLocks noGrp="1"/>
          </p:cNvSpPr>
          <p:nvPr/>
        </p:nvSpPr>
        <p:spPr>
          <a:xfrm>
            <a:off x="609600" y="641985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190"/>
                </a:solidFill>
                <a:latin typeface="Aptos"/>
                <a:ea typeface="Aptos"/>
                <a:cs typeface="Aptos"/>
              </a:defRPr>
            </a:pPr>
            <a:r>
              <a:rPr sz="750" b="0">
                <a:solidFill>
                  <a:srgbClr val="7A8190"/>
                </a:solidFill>
                <a:latin typeface="Aptos"/>
                <a:ea typeface="Aptos"/>
                <a:cs typeface="Aptos"/>
              </a:rPr>
              <a:t>Finite-class learning in Lean 4 | MA-LoT-inspired proof repair</a:t>
            </a:r>
          </a:p>
        </p:txBody>
      </p:sp>
      <p:sp>
        <p:nvSpPr>
          <p:cNvPr id="7" name="Rectangle 6">
            <a:extLst>
              <a:ext uri="{FF2B5EF4-FFF2-40B4-BE49-F238E27FC236}">
                <a16:creationId xmlns:a16="http://schemas.microsoft.com/office/drawing/2014/main" id="{2C69ECEC-2078-4DE0-BD59-9377B69F2373}"/>
              </a:ext>
            </a:extLst>
          </p:cNvPr>
          <p:cNvSpPr>
            <a:spLocks noGrp="1"/>
          </p:cNvSpPr>
          <p:nvPr/>
        </p:nvSpPr>
        <p:spPr>
          <a:xfrm>
            <a:off x="10668000" y="640080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7A8190"/>
                </a:solidFill>
                <a:latin typeface="Aptos"/>
                <a:ea typeface="Aptos"/>
                <a:cs typeface="Aptos"/>
              </a:defRPr>
            </a:pPr>
            <a:r>
              <a:rPr sz="825" b="1">
                <a:solidFill>
                  <a:srgbClr val="7A8190"/>
                </a:solidFill>
                <a:latin typeface="Aptos"/>
                <a:ea typeface="Aptos"/>
                <a:cs typeface="Aptos"/>
              </a:rPr>
              <a:t>40</a:t>
            </a:r>
          </a:p>
        </p:txBody>
      </p:sp>
      <p:sp>
        <p:nvSpPr>
          <p:cNvPr id="8" name="Rectangle 7">
            <a:extLst>
              <a:ext uri="{FF2B5EF4-FFF2-40B4-BE49-F238E27FC236}">
                <a16:creationId xmlns:a16="http://schemas.microsoft.com/office/drawing/2014/main" id="{5C651E2F-7778-4B75-B728-1731FE56CB0E}"/>
              </a:ext>
            </a:extLst>
          </p:cNvPr>
          <p:cNvSpPr>
            <a:spLocks noGrp="1"/>
          </p:cNvSpPr>
          <p:nvPr/>
        </p:nvSpPr>
        <p:spPr>
          <a:xfrm>
            <a:off x="781050" y="2247900"/>
            <a:ext cx="2857500" cy="2095500"/>
          </a:xfrm>
          <a:prstGeom prst="rect">
            <a:avLst/>
          </a:prstGeom>
          <a:solidFill>
            <a:srgbClr val="EAF4F8"/>
          </a:solidFill>
          <a:ln w="9525">
            <a:solidFill>
              <a:srgbClr val="D8D2C8"/>
            </a:solidFill>
            <a:prstDash val="solid"/>
          </a:ln>
        </p:spPr>
        <p:txBody>
          <a:bodyPr/>
          <a:lstStyle/>
          <a:p>
            <a:endParaRPr lang="en-US"/>
          </a:p>
        </p:txBody>
      </p:sp>
      <p:sp>
        <p:nvSpPr>
          <p:cNvPr id="9" name="Rectangle 8">
            <a:extLst>
              <a:ext uri="{FF2B5EF4-FFF2-40B4-BE49-F238E27FC236}">
                <a16:creationId xmlns:a16="http://schemas.microsoft.com/office/drawing/2014/main" id="{536A67B6-67F4-4E98-B320-49C70541791E}"/>
              </a:ext>
            </a:extLst>
          </p:cNvPr>
          <p:cNvSpPr>
            <a:spLocks noGrp="1"/>
          </p:cNvSpPr>
          <p:nvPr/>
        </p:nvSpPr>
        <p:spPr>
          <a:xfrm>
            <a:off x="9906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46B8F"/>
                </a:solidFill>
                <a:latin typeface="Aptos"/>
                <a:ea typeface="Aptos"/>
                <a:cs typeface="Aptos"/>
              </a:defRPr>
            </a:pPr>
            <a:r>
              <a:rPr sz="1275" b="1">
                <a:solidFill>
                  <a:srgbClr val="246B8F"/>
                </a:solidFill>
                <a:latin typeface="Aptos"/>
                <a:ea typeface="Aptos"/>
                <a:cs typeface="Aptos"/>
              </a:rPr>
              <a:t>Formal result</a:t>
            </a:r>
          </a:p>
        </p:txBody>
      </p:sp>
      <p:sp>
        <p:nvSpPr>
          <p:cNvPr id="10" name="Rectangle 9">
            <a:extLst>
              <a:ext uri="{FF2B5EF4-FFF2-40B4-BE49-F238E27FC236}">
                <a16:creationId xmlns:a16="http://schemas.microsoft.com/office/drawing/2014/main" id="{776FDE53-F24F-4F83-BA58-04EF4F93BAD2}"/>
              </a:ext>
            </a:extLst>
          </p:cNvPr>
          <p:cNvSpPr>
            <a:spLocks noGrp="1"/>
          </p:cNvSpPr>
          <p:nvPr/>
        </p:nvSpPr>
        <p:spPr>
          <a:xfrm>
            <a:off x="9906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A compiling Lean project with a fully proved agnostic deterministic theorem.</a:t>
            </a:r>
          </a:p>
        </p:txBody>
      </p:sp>
      <p:sp>
        <p:nvSpPr>
          <p:cNvPr id="11" name="Rectangle 10">
            <a:extLst>
              <a:ext uri="{FF2B5EF4-FFF2-40B4-BE49-F238E27FC236}">
                <a16:creationId xmlns:a16="http://schemas.microsoft.com/office/drawing/2014/main" id="{7096F9A6-6CF0-4BB2-A884-FFFDA8C1D4FB}"/>
              </a:ext>
            </a:extLst>
          </p:cNvPr>
          <p:cNvSpPr>
            <a:spLocks noGrp="1"/>
          </p:cNvSpPr>
          <p:nvPr/>
        </p:nvSpPr>
        <p:spPr>
          <a:xfrm>
            <a:off x="4114800" y="2247900"/>
            <a:ext cx="2857500" cy="2095500"/>
          </a:xfrm>
          <a:prstGeom prst="rect">
            <a:avLst/>
          </a:prstGeom>
          <a:solidFill>
            <a:srgbClr val="EDF7F0"/>
          </a:solidFill>
          <a:ln w="9525">
            <a:solidFill>
              <a:srgbClr val="D8D2C8"/>
            </a:solidFill>
            <a:prstDash val="solid"/>
          </a:ln>
        </p:spPr>
        <p:txBody>
          <a:bodyPr/>
          <a:lstStyle/>
          <a:p>
            <a:endParaRPr lang="en-US"/>
          </a:p>
        </p:txBody>
      </p:sp>
      <p:sp>
        <p:nvSpPr>
          <p:cNvPr id="12" name="Rectangle 11">
            <a:extLst>
              <a:ext uri="{FF2B5EF4-FFF2-40B4-BE49-F238E27FC236}">
                <a16:creationId xmlns:a16="http://schemas.microsoft.com/office/drawing/2014/main" id="{BD78D404-2728-4917-8EEE-D8385ED4D56A}"/>
              </a:ext>
            </a:extLst>
          </p:cNvPr>
          <p:cNvSpPr>
            <a:spLocks noGrp="1"/>
          </p:cNvSpPr>
          <p:nvPr/>
        </p:nvSpPr>
        <p:spPr>
          <a:xfrm>
            <a:off x="432435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F7D57"/>
                </a:solidFill>
                <a:latin typeface="Aptos"/>
                <a:ea typeface="Aptos"/>
                <a:cs typeface="Aptos"/>
              </a:defRPr>
            </a:pPr>
            <a:r>
              <a:rPr sz="1275" b="1">
                <a:solidFill>
                  <a:srgbClr val="2F7D57"/>
                </a:solidFill>
                <a:latin typeface="Aptos"/>
                <a:ea typeface="Aptos"/>
                <a:cs typeface="Aptos"/>
              </a:rPr>
              <a:t>Honest boundary</a:t>
            </a:r>
          </a:p>
        </p:txBody>
      </p:sp>
      <p:sp>
        <p:nvSpPr>
          <p:cNvPr id="13" name="Rectangle 12">
            <a:extLst>
              <a:ext uri="{FF2B5EF4-FFF2-40B4-BE49-F238E27FC236}">
                <a16:creationId xmlns:a16="http://schemas.microsoft.com/office/drawing/2014/main" id="{91B4966E-7494-4A73-9AE0-D9E0F84D3CCF}"/>
              </a:ext>
            </a:extLst>
          </p:cNvPr>
          <p:cNvSpPr>
            <a:spLocks noGrp="1"/>
          </p:cNvSpPr>
          <p:nvPr/>
        </p:nvSpPr>
        <p:spPr>
          <a:xfrm>
            <a:off x="432435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Probability concentration is explicit in AssumedResults.lean.</a:t>
            </a:r>
          </a:p>
        </p:txBody>
      </p:sp>
      <p:sp>
        <p:nvSpPr>
          <p:cNvPr id="14" name="Rectangle 13">
            <a:extLst>
              <a:ext uri="{FF2B5EF4-FFF2-40B4-BE49-F238E27FC236}">
                <a16:creationId xmlns:a16="http://schemas.microsoft.com/office/drawing/2014/main" id="{60511368-8F4B-4C46-A7CE-8E2E2D6FEBAF}"/>
              </a:ext>
            </a:extLst>
          </p:cNvPr>
          <p:cNvSpPr>
            <a:spLocks noGrp="1"/>
          </p:cNvSpPr>
          <p:nvPr/>
        </p:nvSpPr>
        <p:spPr>
          <a:xfrm>
            <a:off x="7448550" y="2247900"/>
            <a:ext cx="2857500" cy="2095500"/>
          </a:xfrm>
          <a:prstGeom prst="rect">
            <a:avLst/>
          </a:prstGeom>
          <a:solidFill>
            <a:srgbClr val="FFF6DF"/>
          </a:solidFill>
          <a:ln w="9525">
            <a:solidFill>
              <a:srgbClr val="D8D2C8"/>
            </a:solidFill>
            <a:prstDash val="solid"/>
          </a:ln>
        </p:spPr>
        <p:txBody>
          <a:bodyPr/>
          <a:lstStyle/>
          <a:p>
            <a:endParaRPr lang="en-US"/>
          </a:p>
        </p:txBody>
      </p:sp>
      <p:sp>
        <p:nvSpPr>
          <p:cNvPr id="15" name="Rectangle 14">
            <a:extLst>
              <a:ext uri="{FF2B5EF4-FFF2-40B4-BE49-F238E27FC236}">
                <a16:creationId xmlns:a16="http://schemas.microsoft.com/office/drawing/2014/main" id="{242FC1A7-0681-42D2-80D5-522B27FDB995}"/>
              </a:ext>
            </a:extLst>
          </p:cNvPr>
          <p:cNvSpPr>
            <a:spLocks noGrp="1"/>
          </p:cNvSpPr>
          <p:nvPr/>
        </p:nvSpPr>
        <p:spPr>
          <a:xfrm>
            <a:off x="7658100" y="2419350"/>
            <a:ext cx="2438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C0923A"/>
                </a:solidFill>
                <a:latin typeface="Aptos"/>
                <a:ea typeface="Aptos"/>
                <a:cs typeface="Aptos"/>
              </a:defRPr>
            </a:pPr>
            <a:r>
              <a:rPr sz="1275" b="1">
                <a:solidFill>
                  <a:srgbClr val="C0923A"/>
                </a:solidFill>
                <a:latin typeface="Aptos"/>
                <a:ea typeface="Aptos"/>
                <a:cs typeface="Aptos"/>
              </a:rPr>
              <a:t>Research layer</a:t>
            </a:r>
          </a:p>
        </p:txBody>
      </p:sp>
      <p:sp>
        <p:nvSpPr>
          <p:cNvPr id="16" name="Rectangle 15">
            <a:extLst>
              <a:ext uri="{FF2B5EF4-FFF2-40B4-BE49-F238E27FC236}">
                <a16:creationId xmlns:a16="http://schemas.microsoft.com/office/drawing/2014/main" id="{E0084EC7-278D-48B3-84A2-EBFEF9ECE30C}"/>
              </a:ext>
            </a:extLst>
          </p:cNvPr>
          <p:cNvSpPr>
            <a:spLocks noGrp="1"/>
          </p:cNvSpPr>
          <p:nvPr/>
        </p:nvSpPr>
        <p:spPr>
          <a:xfrm>
            <a:off x="7658100" y="2781300"/>
            <a:ext cx="243840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8202A"/>
                </a:solidFill>
                <a:latin typeface="Aptos"/>
                <a:ea typeface="Aptos"/>
                <a:cs typeface="Aptos"/>
              </a:defRPr>
            </a:pPr>
            <a:r>
              <a:rPr sz="1350" b="0">
                <a:solidFill>
                  <a:srgbClr val="18202A"/>
                </a:solidFill>
                <a:latin typeface="Aptos"/>
                <a:ea typeface="Aptos"/>
                <a:cs typeface="Aptos"/>
              </a:rPr>
              <a:t>MA-LoT-inspired proof repair shows where AI failed and how humans repaired it.</a:t>
            </a:r>
          </a:p>
        </p:txBody>
      </p:sp>
    </p:spTree>
    <p:extLst>
      <p:ext uri="{BB962C8B-B14F-4D97-AF65-F5344CB8AC3E}">
        <p14:creationId xmlns:p14="http://schemas.microsoft.com/office/powerpoint/2010/main" val="15964422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6762</Words>
  <Application>Microsoft Office PowerPoint</Application>
  <DocSecurity>0</DocSecurity>
  <PresentationFormat>Widescreen</PresentationFormat>
  <Paragraphs>754</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Aptos Display</vt:lpstr>
      <vt:lpstr>Aptos Mono</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Dhruv Patel</cp:lastModifiedBy>
  <cp:revision>5</cp:revision>
  <dcterms:created xsi:type="dcterms:W3CDTF">2026-06-03T15:37:46Z</dcterms:created>
  <dcterms:modified xsi:type="dcterms:W3CDTF">2026-06-04T05:33:39Z</dcterms:modified>
</cp:coreProperties>
</file>